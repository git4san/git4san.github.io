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92" r:id="rId2"/>
    <p:sldId id="258" r:id="rId3"/>
    <p:sldId id="257" r:id="rId4"/>
    <p:sldId id="402" r:id="rId5"/>
    <p:sldId id="403" r:id="rId6"/>
    <p:sldId id="371" r:id="rId7"/>
    <p:sldId id="398" r:id="rId8"/>
    <p:sldId id="373" r:id="rId9"/>
    <p:sldId id="374" r:id="rId10"/>
    <p:sldId id="384" r:id="rId11"/>
    <p:sldId id="377" r:id="rId12"/>
    <p:sldId id="273" r:id="rId13"/>
    <p:sldId id="278" r:id="rId14"/>
    <p:sldId id="400" r:id="rId15"/>
    <p:sldId id="401" r:id="rId16"/>
    <p:sldId id="386" r:id="rId17"/>
    <p:sldId id="385" r:id="rId18"/>
    <p:sldId id="291" r:id="rId19"/>
    <p:sldId id="380" r:id="rId20"/>
    <p:sldId id="293" r:id="rId21"/>
    <p:sldId id="381" r:id="rId22"/>
    <p:sldId id="382" r:id="rId23"/>
    <p:sldId id="313" r:id="rId24"/>
    <p:sldId id="308" r:id="rId25"/>
    <p:sldId id="311" r:id="rId26"/>
    <p:sldId id="405" r:id="rId27"/>
    <p:sldId id="316" r:id="rId28"/>
    <p:sldId id="322" r:id="rId29"/>
    <p:sldId id="387" r:id="rId30"/>
    <p:sldId id="404" r:id="rId31"/>
    <p:sldId id="328" r:id="rId32"/>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93"/>
    <p:restoredTop sz="78870" autoAdjust="0"/>
  </p:normalViewPr>
  <p:slideViewPr>
    <p:cSldViewPr>
      <p:cViewPr varScale="1">
        <p:scale>
          <a:sx n="63" d="100"/>
          <a:sy n="63" d="100"/>
        </p:scale>
        <p:origin x="1108" y="48"/>
      </p:cViewPr>
      <p:guideLst>
        <p:guide orient="horz" pos="2880"/>
        <p:guide pos="216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A5E89B9-8EFB-F042-81DE-963010BA76C1}" type="datetimeFigureOut">
              <a:rPr lang="en-US" smtClean="0"/>
              <a:t>1/20/2021</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E7B7C01-7AD7-474B-8FDF-43D35E9BBBBE}" type="slidenum">
              <a:rPr lang="en-US" smtClean="0"/>
              <a:t>‹#›</a:t>
            </a:fld>
            <a:endParaRPr lang="en-US"/>
          </a:p>
        </p:txBody>
      </p:sp>
    </p:spTree>
    <p:extLst>
      <p:ext uri="{BB962C8B-B14F-4D97-AF65-F5344CB8AC3E}">
        <p14:creationId xmlns:p14="http://schemas.microsoft.com/office/powerpoint/2010/main" val="1170778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7B7C01-7AD7-474B-8FDF-43D35E9BBBBE}" type="slidenum">
              <a:rPr lang="en-US" smtClean="0"/>
              <a:t>1</a:t>
            </a:fld>
            <a:endParaRPr lang="en-US"/>
          </a:p>
        </p:txBody>
      </p:sp>
    </p:spTree>
    <p:extLst>
      <p:ext uri="{BB962C8B-B14F-4D97-AF65-F5344CB8AC3E}">
        <p14:creationId xmlns:p14="http://schemas.microsoft.com/office/powerpoint/2010/main" val="4009847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know that sophisticated computer applications are to be secured tightly with sensitive information. </a:t>
            </a:r>
            <a:r>
              <a:rPr lang="en-US" sz="1800" b="1" i="0" dirty="0">
                <a:solidFill>
                  <a:srgbClr val="000000"/>
                </a:solidFill>
                <a:effectLst/>
                <a:latin typeface="NimbusRomNo9L-Medi"/>
              </a:rPr>
              <a:t>As security</a:t>
            </a:r>
            <a:br>
              <a:rPr lang="en-US" sz="1800" b="1" i="0" dirty="0">
                <a:solidFill>
                  <a:srgbClr val="000000"/>
                </a:solidFill>
                <a:effectLst/>
                <a:latin typeface="NimbusRomNo9L-Medi"/>
              </a:rPr>
            </a:br>
            <a:r>
              <a:rPr lang="en-US" sz="1800" b="1" i="0" dirty="0">
                <a:solidFill>
                  <a:srgbClr val="000000"/>
                </a:solidFill>
                <a:effectLst/>
                <a:latin typeface="NimbusRomNo9L-Medi"/>
              </a:rPr>
              <a:t>attacks become more sophisticated, there is a rising need for static and Dynamic analysis in production environment.</a:t>
            </a:r>
            <a:r>
              <a:rPr lang="en-US" dirty="0"/>
              <a:t> </a:t>
            </a:r>
            <a:br>
              <a:rPr lang="en-US" dirty="0"/>
            </a:br>
            <a:r>
              <a:rPr lang="en-US" dirty="0"/>
              <a:t>Though many researches has been carried out in this area, we are proposing  Information Flow Tracking in online production environment at byte granularity level.</a:t>
            </a:r>
            <a:endParaRPr lang="en-IN" dirty="0"/>
          </a:p>
        </p:txBody>
      </p:sp>
      <p:sp>
        <p:nvSpPr>
          <p:cNvPr id="4" name="Slide Number Placeholder 3"/>
          <p:cNvSpPr>
            <a:spLocks noGrp="1"/>
          </p:cNvSpPr>
          <p:nvPr>
            <p:ph type="sldNum" sz="quarter" idx="5"/>
          </p:nvPr>
        </p:nvSpPr>
        <p:spPr/>
        <p:txBody>
          <a:bodyPr/>
          <a:lstStyle/>
          <a:p>
            <a:fld id="{FE7B7C01-7AD7-474B-8FDF-43D35E9BBBBE}" type="slidenum">
              <a:rPr lang="en-US" smtClean="0"/>
              <a:t>2</a:t>
            </a:fld>
            <a:endParaRPr lang="en-US"/>
          </a:p>
        </p:txBody>
      </p:sp>
    </p:spTree>
    <p:extLst>
      <p:ext uri="{BB962C8B-B14F-4D97-AF65-F5344CB8AC3E}">
        <p14:creationId xmlns:p14="http://schemas.microsoft.com/office/powerpoint/2010/main" val="1956875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NimbusRomNo9L-Regu"/>
              </a:rPr>
              <a:t>Information Flow tracking basically deals with Static information flow analysis (IFA) and Dynamic information flow tracking (DIFT).</a:t>
            </a:r>
            <a:br>
              <a:rPr lang="en-US" sz="1800" b="0" i="0" dirty="0">
                <a:solidFill>
                  <a:srgbClr val="000000"/>
                </a:solidFill>
                <a:effectLst/>
                <a:latin typeface="NimbusRomNo9L-Regu"/>
              </a:rPr>
            </a:br>
            <a:r>
              <a:rPr lang="en-US" sz="1800" b="0" i="0" dirty="0">
                <a:solidFill>
                  <a:srgbClr val="000000"/>
                </a:solidFill>
                <a:effectLst/>
                <a:latin typeface="NimbusRomNo9L-Regu"/>
              </a:rPr>
              <a:t> IFA help us understand the likely flow paths of information in a program so that we can verify their consistency with the security policies. But  the problem here is, inherent</a:t>
            </a:r>
            <a:br>
              <a:rPr lang="en-US" sz="1800" b="0" i="0" dirty="0">
                <a:solidFill>
                  <a:srgbClr val="000000"/>
                </a:solidFill>
                <a:effectLst/>
                <a:latin typeface="NimbusRomNo9L-Regu"/>
              </a:rPr>
            </a:br>
            <a:r>
              <a:rPr lang="en-US" sz="1800" b="0" i="0" dirty="0">
                <a:solidFill>
                  <a:srgbClr val="000000"/>
                </a:solidFill>
                <a:effectLst/>
                <a:latin typeface="NimbusRomNo9L-Regu"/>
              </a:rPr>
              <a:t>dynamisms in application workload like conditional statements, control flow, make it difficult to determine the security attributes of the flow paths beforehand. </a:t>
            </a:r>
          </a:p>
          <a:p>
            <a:r>
              <a:rPr lang="en-US" sz="1800" b="0" i="0" dirty="0">
                <a:solidFill>
                  <a:srgbClr val="000000"/>
                </a:solidFill>
                <a:effectLst/>
                <a:latin typeface="NimbusRomNo9L-Regu"/>
              </a:rPr>
              <a:t>DIFT overcomes the issue by monitoring the actual flows of information at runtime. but, the monitoring can incur significant performance overhead, and their uses are limited to offline program analysis</a:t>
            </a:r>
            <a:r>
              <a:rPr lang="en-US" dirty="0"/>
              <a:t> </a:t>
            </a:r>
            <a:br>
              <a:rPr lang="en-US" dirty="0"/>
            </a:br>
            <a:endParaRPr lang="en-US" dirty="0"/>
          </a:p>
          <a:p>
            <a:r>
              <a:rPr lang="en-US" dirty="0"/>
              <a:t>Thus we introduce Mixed mode Information Flow Tracking which is a mix of both IFA and DIFT. It has decoupling process that consist of compile time extraction of Taint semantics and offline replay of TSIR.</a:t>
            </a:r>
            <a:endParaRPr lang="en-IN" dirty="0"/>
          </a:p>
        </p:txBody>
      </p:sp>
      <p:sp>
        <p:nvSpPr>
          <p:cNvPr id="4" name="Slide Number Placeholder 3"/>
          <p:cNvSpPr>
            <a:spLocks noGrp="1"/>
          </p:cNvSpPr>
          <p:nvPr>
            <p:ph type="sldNum" sz="quarter" idx="5"/>
          </p:nvPr>
        </p:nvSpPr>
        <p:spPr/>
        <p:txBody>
          <a:bodyPr/>
          <a:lstStyle/>
          <a:p>
            <a:fld id="{FE7B7C01-7AD7-474B-8FDF-43D35E9BBBBE}" type="slidenum">
              <a:rPr lang="en-US" smtClean="0"/>
              <a:t>3</a:t>
            </a:fld>
            <a:endParaRPr lang="en-US"/>
          </a:p>
        </p:txBody>
      </p:sp>
    </p:spTree>
    <p:extLst>
      <p:ext uri="{BB962C8B-B14F-4D97-AF65-F5344CB8AC3E}">
        <p14:creationId xmlns:p14="http://schemas.microsoft.com/office/powerpoint/2010/main" val="3430855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proposed architecture of MIT. It has three major </a:t>
            </a:r>
            <a:r>
              <a:rPr lang="en-US" dirty="0" err="1"/>
              <a:t>processs</a:t>
            </a:r>
            <a:r>
              <a:rPr lang="en-US" dirty="0"/>
              <a:t>. Taint Semantics extraction , program execution and Taint semantics Replay.  The features of MIT is it extracts taint semantics during compile time and </a:t>
            </a:r>
            <a:r>
              <a:rPr lang="en-US" sz="1800" b="0" i="0" dirty="0">
                <a:solidFill>
                  <a:srgbClr val="000000"/>
                </a:solidFill>
                <a:effectLst/>
                <a:latin typeface="NimbusRomNo9L-Regu"/>
              </a:rPr>
              <a:t>minimizes the runtime overhead of dynamic information flow tracking by decoupling the tracking logic from program execution.</a:t>
            </a:r>
            <a:r>
              <a:rPr lang="en-US" dirty="0"/>
              <a:t> </a:t>
            </a:r>
            <a:br>
              <a:rPr lang="en-US" dirty="0"/>
            </a:br>
            <a:endParaRPr lang="en-US" dirty="0"/>
          </a:p>
          <a:p>
            <a:endParaRPr lang="en-IN" dirty="0"/>
          </a:p>
        </p:txBody>
      </p:sp>
      <p:sp>
        <p:nvSpPr>
          <p:cNvPr id="4" name="Slide Number Placeholder 3"/>
          <p:cNvSpPr>
            <a:spLocks noGrp="1"/>
          </p:cNvSpPr>
          <p:nvPr>
            <p:ph type="sldNum" sz="quarter" idx="5"/>
          </p:nvPr>
        </p:nvSpPr>
        <p:spPr/>
        <p:txBody>
          <a:bodyPr/>
          <a:lstStyle/>
          <a:p>
            <a:fld id="{FE7B7C01-7AD7-474B-8FDF-43D35E9BBBBE}" type="slidenum">
              <a:rPr lang="en-US" smtClean="0"/>
              <a:t>4</a:t>
            </a:fld>
            <a:endParaRPr lang="en-US"/>
          </a:p>
        </p:txBody>
      </p:sp>
    </p:spTree>
    <p:extLst>
      <p:ext uri="{BB962C8B-B14F-4D97-AF65-F5344CB8AC3E}">
        <p14:creationId xmlns:p14="http://schemas.microsoft.com/office/powerpoint/2010/main" val="288340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Taint semantics extraction Initially converts LLVM IR to </a:t>
            </a:r>
            <a:r>
              <a:rPr lang="en-US" sz="1800" b="0" i="0" dirty="0">
                <a:solidFill>
                  <a:srgbClr val="000000"/>
                </a:solidFill>
                <a:effectLst/>
                <a:latin typeface="NimbusRomNo9L-Regu"/>
              </a:rPr>
              <a:t>an intermediate representation for information flow tracking (</a:t>
            </a:r>
            <a:r>
              <a:rPr lang="en-US" sz="1800" b="0" i="1" dirty="0">
                <a:solidFill>
                  <a:srgbClr val="000000"/>
                </a:solidFill>
                <a:effectLst/>
                <a:latin typeface="NimbusRomNo9L-ReguItal"/>
              </a:rPr>
              <a:t>i.e. </a:t>
            </a:r>
            <a:r>
              <a:rPr lang="en-US" sz="1800" b="0" i="0" dirty="0">
                <a:solidFill>
                  <a:srgbClr val="000000"/>
                </a:solidFill>
                <a:effectLst/>
                <a:latin typeface="NimbusRomNo9L-Regu"/>
              </a:rPr>
              <a:t>the TSIR)</a:t>
            </a:r>
            <a:r>
              <a:rPr lang="en-US" dirty="0"/>
              <a:t> . </a:t>
            </a:r>
            <a:r>
              <a:rPr lang="en-US" sz="1800" b="0" i="0" dirty="0">
                <a:solidFill>
                  <a:srgbClr val="000000"/>
                </a:solidFill>
                <a:effectLst/>
                <a:latin typeface="NimbusRomNo9L-Regu"/>
              </a:rPr>
              <a:t>The instrumented LLVM IR will be compiled and then get linked with the IFT runtime library to produce the instrumented target program ready for dynamic information flow tracking</a:t>
            </a:r>
            <a:r>
              <a:rPr lang="en-US" dirty="0"/>
              <a:t> </a:t>
            </a:r>
          </a:p>
          <a:p>
            <a:r>
              <a:rPr lang="en-US" dirty="0"/>
              <a:t>Program Execution/record Phase</a:t>
            </a:r>
            <a:r>
              <a:rPr lang="en-US" sz="1200" b="0" i="0" dirty="0">
                <a:solidFill>
                  <a:schemeClr val="tx1"/>
                </a:solidFill>
                <a:effectLst/>
                <a:latin typeface="+mn-lt"/>
              </a:rPr>
              <a:t> :</a:t>
            </a:r>
            <a:r>
              <a:rPr lang="en-US" sz="1800" b="0" i="0" dirty="0">
                <a:solidFill>
                  <a:srgbClr val="000000"/>
                </a:solidFill>
                <a:effectLst/>
                <a:latin typeface="NimbusRomNo9L-Regu"/>
              </a:rPr>
              <a:t>The instrumented target program is deployed in the production environment and gets executed as usual. The instrumented runtime logging code will log the IDs of the executed basic blocks and the accompanying runtime values.</a:t>
            </a:r>
            <a:r>
              <a:rPr lang="en-US" dirty="0"/>
              <a:t> </a:t>
            </a:r>
            <a:br>
              <a:rPr lang="en-US" dirty="0"/>
            </a:br>
            <a:r>
              <a:rPr lang="en-US" dirty="0"/>
              <a:t>DIFT occurs In replay phase. Here, it </a:t>
            </a:r>
            <a:r>
              <a:rPr lang="en-US" sz="1800" b="0" i="0" dirty="0">
                <a:solidFill>
                  <a:srgbClr val="000000"/>
                </a:solidFill>
                <a:effectLst/>
                <a:latin typeface="NimbusRomNo9L-Regu"/>
              </a:rPr>
              <a:t>reconstructs the control flows and the data flows of the target program, which is achieved by replaying the TSIR with respect to the basic block ID log and the runtime value log on the TSIR virtual machine</a:t>
            </a:r>
            <a:r>
              <a:rPr lang="en-US" dirty="0"/>
              <a:t> . We may examine each phase in detail</a:t>
            </a:r>
            <a:br>
              <a:rPr lang="en-US" dirty="0"/>
            </a:br>
            <a:br>
              <a:rPr lang="en-US" dirty="0"/>
            </a:br>
            <a:br>
              <a:rPr lang="en-US" dirty="0"/>
            </a:br>
            <a:endParaRPr lang="en-IN" dirty="0"/>
          </a:p>
        </p:txBody>
      </p:sp>
      <p:sp>
        <p:nvSpPr>
          <p:cNvPr id="4" name="Slide Number Placeholder 3"/>
          <p:cNvSpPr>
            <a:spLocks noGrp="1"/>
          </p:cNvSpPr>
          <p:nvPr>
            <p:ph type="sldNum" sz="quarter" idx="5"/>
          </p:nvPr>
        </p:nvSpPr>
        <p:spPr/>
        <p:txBody>
          <a:bodyPr/>
          <a:lstStyle/>
          <a:p>
            <a:fld id="{FE7B7C01-7AD7-474B-8FDF-43D35E9BBBBE}" type="slidenum">
              <a:rPr lang="en-US" smtClean="0"/>
              <a:t>5</a:t>
            </a:fld>
            <a:endParaRPr lang="en-US"/>
          </a:p>
        </p:txBody>
      </p:sp>
    </p:spTree>
    <p:extLst>
      <p:ext uri="{BB962C8B-B14F-4D97-AF65-F5344CB8AC3E}">
        <p14:creationId xmlns:p14="http://schemas.microsoft.com/office/powerpoint/2010/main" val="3681509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break down of phases. Lets start with Extraction Phase</a:t>
            </a:r>
            <a:endParaRPr lang="en-IN" dirty="0"/>
          </a:p>
        </p:txBody>
      </p:sp>
      <p:sp>
        <p:nvSpPr>
          <p:cNvPr id="4" name="Slide Number Placeholder 3"/>
          <p:cNvSpPr>
            <a:spLocks noGrp="1"/>
          </p:cNvSpPr>
          <p:nvPr>
            <p:ph type="sldNum" sz="quarter" idx="5"/>
          </p:nvPr>
        </p:nvSpPr>
        <p:spPr/>
        <p:txBody>
          <a:bodyPr/>
          <a:lstStyle/>
          <a:p>
            <a:fld id="{FE7B7C01-7AD7-474B-8FDF-43D35E9BBBBE}" type="slidenum">
              <a:rPr lang="en-US" smtClean="0"/>
              <a:t>6</a:t>
            </a:fld>
            <a:endParaRPr lang="en-US"/>
          </a:p>
        </p:txBody>
      </p:sp>
    </p:spTree>
    <p:extLst>
      <p:ext uri="{BB962C8B-B14F-4D97-AF65-F5344CB8AC3E}">
        <p14:creationId xmlns:p14="http://schemas.microsoft.com/office/powerpoint/2010/main" val="4089999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 c program to be compiled with clang.  </a:t>
            </a:r>
            <a:endParaRPr lang="en-IN" dirty="0"/>
          </a:p>
        </p:txBody>
      </p:sp>
      <p:sp>
        <p:nvSpPr>
          <p:cNvPr id="4" name="Slide Number Placeholder 3"/>
          <p:cNvSpPr>
            <a:spLocks noGrp="1"/>
          </p:cNvSpPr>
          <p:nvPr>
            <p:ph type="sldNum" sz="quarter" idx="5"/>
          </p:nvPr>
        </p:nvSpPr>
        <p:spPr/>
        <p:txBody>
          <a:bodyPr/>
          <a:lstStyle/>
          <a:p>
            <a:fld id="{0A5141A9-D75B-44AE-8031-D107FF41031A}" type="slidenum">
              <a:rPr lang="en-IN" smtClean="0"/>
              <a:t>7</a:t>
            </a:fld>
            <a:endParaRPr lang="en-IN"/>
          </a:p>
        </p:txBody>
      </p:sp>
    </p:spTree>
    <p:extLst>
      <p:ext uri="{BB962C8B-B14F-4D97-AF65-F5344CB8AC3E}">
        <p14:creationId xmlns:p14="http://schemas.microsoft.com/office/powerpoint/2010/main" val="1426548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compiled with </a:t>
            </a:r>
            <a:r>
              <a:rPr lang="en-US" dirty="0" err="1"/>
              <a:t>llvm</a:t>
            </a:r>
            <a:r>
              <a:rPr lang="en-US" dirty="0"/>
              <a:t> tool chain and hence the IR(Intermediate Representation) is obtained.</a:t>
            </a:r>
            <a:endParaRPr lang="en-IN" dirty="0"/>
          </a:p>
        </p:txBody>
      </p:sp>
      <p:sp>
        <p:nvSpPr>
          <p:cNvPr id="4" name="Slide Number Placeholder 3"/>
          <p:cNvSpPr>
            <a:spLocks noGrp="1"/>
          </p:cNvSpPr>
          <p:nvPr>
            <p:ph type="sldNum" sz="quarter" idx="5"/>
          </p:nvPr>
        </p:nvSpPr>
        <p:spPr/>
        <p:txBody>
          <a:bodyPr/>
          <a:lstStyle/>
          <a:p>
            <a:fld id="{FE7B7C01-7AD7-474B-8FDF-43D35E9BBBBE}" type="slidenum">
              <a:rPr lang="en-US" smtClean="0"/>
              <a:t>8</a:t>
            </a:fld>
            <a:endParaRPr lang="en-US"/>
          </a:p>
        </p:txBody>
      </p:sp>
    </p:spTree>
    <p:extLst>
      <p:ext uri="{BB962C8B-B14F-4D97-AF65-F5344CB8AC3E}">
        <p14:creationId xmlns:p14="http://schemas.microsoft.com/office/powerpoint/2010/main" val="4012946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IR, taint semantics is extracted from </a:t>
            </a:r>
            <a:r>
              <a:rPr lang="en-US" dirty="0" err="1"/>
              <a:t>tsir</a:t>
            </a:r>
            <a:r>
              <a:rPr lang="en-US" dirty="0"/>
              <a:t> translator. It has intermediate </a:t>
            </a:r>
            <a:r>
              <a:rPr lang="en-US" dirty="0" err="1"/>
              <a:t>tsir</a:t>
            </a:r>
            <a:r>
              <a:rPr lang="en-US" dirty="0"/>
              <a:t> language design.</a:t>
            </a:r>
            <a:endParaRPr lang="en-IN" dirty="0"/>
          </a:p>
        </p:txBody>
      </p:sp>
      <p:sp>
        <p:nvSpPr>
          <p:cNvPr id="4" name="Slide Number Placeholder 3"/>
          <p:cNvSpPr>
            <a:spLocks noGrp="1"/>
          </p:cNvSpPr>
          <p:nvPr>
            <p:ph type="sldNum" sz="quarter" idx="5"/>
          </p:nvPr>
        </p:nvSpPr>
        <p:spPr/>
        <p:txBody>
          <a:bodyPr/>
          <a:lstStyle/>
          <a:p>
            <a:fld id="{FE7B7C01-7AD7-474B-8FDF-43D35E9BBBBE}" type="slidenum">
              <a:rPr lang="en-US" smtClean="0"/>
              <a:t>9</a:t>
            </a:fld>
            <a:endParaRPr lang="en-US"/>
          </a:p>
        </p:txBody>
      </p:sp>
    </p:spTree>
    <p:extLst>
      <p:ext uri="{BB962C8B-B14F-4D97-AF65-F5344CB8AC3E}">
        <p14:creationId xmlns:p14="http://schemas.microsoft.com/office/powerpoint/2010/main" val="2235515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binary operation, vector and aggregate operations, Memory access operation, there is corresponding TSIR language.</a:t>
            </a:r>
          </a:p>
          <a:p>
            <a:r>
              <a:rPr lang="en-US" dirty="0"/>
              <a:t>The </a:t>
            </a:r>
            <a:r>
              <a:rPr lang="en-US" dirty="0" err="1"/>
              <a:t>alloca</a:t>
            </a:r>
            <a:r>
              <a:rPr lang="en-US" dirty="0"/>
              <a:t>, load, store Instructions </a:t>
            </a:r>
            <a:r>
              <a:rPr lang="en-US" dirty="0" err="1"/>
              <a:t>etc</a:t>
            </a:r>
            <a:r>
              <a:rPr lang="en-US" dirty="0"/>
              <a:t> are formulated in the table. It is to note that when there is vector operation in </a:t>
            </a:r>
            <a:r>
              <a:rPr lang="en-US" dirty="0" err="1"/>
              <a:t>llvm</a:t>
            </a:r>
            <a:r>
              <a:rPr lang="en-US" dirty="0"/>
              <a:t>, it is </a:t>
            </a:r>
            <a:r>
              <a:rPr lang="en-US" dirty="0" err="1"/>
              <a:t>devectorised</a:t>
            </a:r>
            <a:r>
              <a:rPr lang="en-US" dirty="0"/>
              <a:t> . It is explained in subsequent slides.</a:t>
            </a:r>
            <a:endParaRPr lang="en-IN" dirty="0"/>
          </a:p>
        </p:txBody>
      </p:sp>
      <p:sp>
        <p:nvSpPr>
          <p:cNvPr id="4" name="Slide Number Placeholder 3"/>
          <p:cNvSpPr>
            <a:spLocks noGrp="1"/>
          </p:cNvSpPr>
          <p:nvPr>
            <p:ph type="sldNum" sz="quarter" idx="5"/>
          </p:nvPr>
        </p:nvSpPr>
        <p:spPr/>
        <p:txBody>
          <a:bodyPr/>
          <a:lstStyle/>
          <a:p>
            <a:fld id="{FE7B7C01-7AD7-474B-8FDF-43D35E9BBBBE}" type="slidenum">
              <a:rPr lang="en-US" smtClean="0"/>
              <a:t>10</a:t>
            </a:fld>
            <a:endParaRPr lang="en-US"/>
          </a:p>
        </p:txBody>
      </p:sp>
    </p:spTree>
    <p:extLst>
      <p:ext uri="{BB962C8B-B14F-4D97-AF65-F5344CB8AC3E}">
        <p14:creationId xmlns:p14="http://schemas.microsoft.com/office/powerpoint/2010/main" val="11953956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NimbusRomNo9L-Regu"/>
              </a:rPr>
              <a:t>Local identifier(%n)s are used to denote virtual registers with local scope while global identifiers(@n) are used to denote virtual registers with global scope. Runtime identifiers ($n) are used in the logging of runtime values.</a:t>
            </a:r>
            <a:r>
              <a:rPr lang="en-US" dirty="0"/>
              <a:t> </a:t>
            </a:r>
          </a:p>
          <a:p>
            <a:endParaRPr lang="en-US" sz="1800" b="0" i="0" dirty="0">
              <a:solidFill>
                <a:srgbClr val="000000"/>
              </a:solidFill>
              <a:effectLst/>
              <a:latin typeface="NimbusRomNo9L-Regu"/>
            </a:endParaRPr>
          </a:p>
          <a:p>
            <a:r>
              <a:rPr lang="en-US" sz="1800" b="0" i="1" dirty="0">
                <a:solidFill>
                  <a:srgbClr val="000000"/>
                </a:solidFill>
                <a:effectLst/>
                <a:latin typeface="NimbusRomNo9L-ReguItal"/>
              </a:rPr>
              <a:t>Then, register region </a:t>
            </a:r>
            <a:r>
              <a:rPr lang="en-US" sz="1800" b="0" i="0" dirty="0">
                <a:solidFill>
                  <a:srgbClr val="000000"/>
                </a:solidFill>
                <a:effectLst/>
                <a:latin typeface="NimbusRomNo9L-Regu"/>
              </a:rPr>
              <a:t>syntax </a:t>
            </a:r>
            <a:r>
              <a:rPr lang="en-US" sz="1800" b="0" i="0" dirty="0">
                <a:solidFill>
                  <a:srgbClr val="000000"/>
                </a:solidFill>
                <a:effectLst/>
                <a:latin typeface="NimbusMonL-Regu"/>
              </a:rPr>
              <a:t>(%n, </a:t>
            </a:r>
            <a:r>
              <a:rPr lang="en-US" sz="1800" b="0" i="0" dirty="0" err="1">
                <a:solidFill>
                  <a:srgbClr val="000000"/>
                </a:solidFill>
                <a:effectLst/>
                <a:latin typeface="NimbusMonL-Regu"/>
              </a:rPr>
              <a:t>i</a:t>
            </a:r>
            <a:r>
              <a:rPr lang="en-US" sz="1800" b="0" i="0" dirty="0">
                <a:solidFill>
                  <a:srgbClr val="000000"/>
                </a:solidFill>
                <a:effectLst/>
                <a:latin typeface="NimbusMonL-Regu"/>
              </a:rPr>
              <a:t>) </a:t>
            </a:r>
            <a:r>
              <a:rPr lang="en-US" sz="1800" b="0" i="0" dirty="0">
                <a:solidFill>
                  <a:srgbClr val="000000"/>
                </a:solidFill>
                <a:effectLst/>
                <a:latin typeface="NimbusRomNo9L-Regu"/>
              </a:rPr>
              <a:t>to denote the </a:t>
            </a:r>
            <a:r>
              <a:rPr lang="en-US" sz="1800" b="0" i="0" dirty="0" err="1">
                <a:solidFill>
                  <a:srgbClr val="000000"/>
                </a:solidFill>
                <a:effectLst/>
                <a:latin typeface="NimbusMonL-Regu"/>
              </a:rPr>
              <a:t>i</a:t>
            </a:r>
            <a:r>
              <a:rPr lang="en-US" sz="1800" b="0" i="0" dirty="0" err="1">
                <a:solidFill>
                  <a:srgbClr val="000000"/>
                </a:solidFill>
                <a:effectLst/>
                <a:latin typeface="NimbusRomNo9L-Regu"/>
              </a:rPr>
              <a:t>-th</a:t>
            </a:r>
            <a:r>
              <a:rPr lang="en-US" sz="1800" b="0" i="0" dirty="0">
                <a:solidFill>
                  <a:srgbClr val="000000"/>
                </a:solidFill>
                <a:effectLst/>
                <a:latin typeface="NimbusRomNo9L-Regu"/>
              </a:rPr>
              <a:t> field of register </a:t>
            </a:r>
            <a:r>
              <a:rPr lang="en-US" sz="1800" b="0" i="0" dirty="0">
                <a:solidFill>
                  <a:srgbClr val="000000"/>
                </a:solidFill>
                <a:effectLst/>
                <a:latin typeface="NimbusMonL-Regu"/>
              </a:rPr>
              <a:t>%n</a:t>
            </a:r>
            <a:r>
              <a:rPr lang="en-US" sz="1800" b="0" i="0" dirty="0">
                <a:solidFill>
                  <a:srgbClr val="000000"/>
                </a:solidFill>
                <a:effectLst/>
                <a:latin typeface="NimbusRomNo9L-Regu"/>
              </a:rPr>
              <a:t>. </a:t>
            </a:r>
          </a:p>
          <a:p>
            <a:r>
              <a:rPr lang="en-US" sz="1800" b="0" i="0" dirty="0">
                <a:solidFill>
                  <a:srgbClr val="000000"/>
                </a:solidFill>
                <a:effectLst/>
                <a:latin typeface="NimbusRomNo9L-Regu"/>
              </a:rPr>
              <a:t>Next is the notation for </a:t>
            </a:r>
            <a:r>
              <a:rPr lang="en-US" sz="1800" b="0" i="1" dirty="0">
                <a:solidFill>
                  <a:srgbClr val="000000"/>
                </a:solidFill>
                <a:effectLst/>
                <a:latin typeface="NimbusRomNo9L-ReguItal"/>
              </a:rPr>
              <a:t>memory region </a:t>
            </a:r>
            <a:r>
              <a:rPr lang="en-US" sz="1800" b="0" i="0" dirty="0">
                <a:solidFill>
                  <a:srgbClr val="000000"/>
                </a:solidFill>
                <a:effectLst/>
                <a:latin typeface="NimbusRomNo9L-Regu"/>
              </a:rPr>
              <a:t>syntax </a:t>
            </a:r>
            <a:r>
              <a:rPr lang="en-US" sz="1800" b="0" i="0" dirty="0">
                <a:solidFill>
                  <a:srgbClr val="000000"/>
                </a:solidFill>
                <a:effectLst/>
                <a:latin typeface="NimbusMonL-Regu"/>
              </a:rPr>
              <a:t>*%p </a:t>
            </a:r>
            <a:r>
              <a:rPr lang="en-US" sz="1800" b="0" i="0" dirty="0">
                <a:solidFill>
                  <a:srgbClr val="000000"/>
                </a:solidFill>
                <a:effectLst/>
                <a:latin typeface="NimbusRomNo9L-Regu"/>
              </a:rPr>
              <a:t>to denote the entire memory block pointed by the pointer-type register </a:t>
            </a:r>
            <a:r>
              <a:rPr lang="en-US" sz="1800" b="0" i="0" dirty="0">
                <a:solidFill>
                  <a:srgbClr val="000000"/>
                </a:solidFill>
                <a:effectLst/>
                <a:latin typeface="NimbusMonL-Regu"/>
              </a:rPr>
              <a:t>%p </a:t>
            </a:r>
            <a:r>
              <a:rPr lang="en-US" sz="1800" b="0" i="0" dirty="0">
                <a:solidFill>
                  <a:srgbClr val="000000"/>
                </a:solidFill>
                <a:effectLst/>
                <a:latin typeface="NimbusRomNo9L-Regu"/>
              </a:rPr>
              <a:t>and the syntax </a:t>
            </a:r>
            <a:r>
              <a:rPr lang="en-US" sz="1800" b="0" i="0" dirty="0">
                <a:solidFill>
                  <a:srgbClr val="000000"/>
                </a:solidFill>
                <a:effectLst/>
                <a:latin typeface="NimbusMonL-Regu"/>
              </a:rPr>
              <a:t>(*%p, </a:t>
            </a:r>
            <a:r>
              <a:rPr lang="en-US" sz="1800" b="0" i="0" dirty="0" err="1">
                <a:solidFill>
                  <a:srgbClr val="000000"/>
                </a:solidFill>
                <a:effectLst/>
                <a:latin typeface="NimbusMonL-Regu"/>
              </a:rPr>
              <a:t>len</a:t>
            </a:r>
            <a:r>
              <a:rPr lang="en-US" sz="1800" b="0" i="0" dirty="0">
                <a:solidFill>
                  <a:srgbClr val="000000"/>
                </a:solidFill>
                <a:effectLst/>
                <a:latin typeface="NimbusMonL-Regu"/>
              </a:rPr>
              <a:t>, off) </a:t>
            </a:r>
            <a:r>
              <a:rPr lang="en-US" sz="1800" b="0" i="0" dirty="0">
                <a:solidFill>
                  <a:srgbClr val="000000"/>
                </a:solidFill>
                <a:effectLst/>
                <a:latin typeface="NimbusRomNo9L-Regu"/>
              </a:rPr>
              <a:t>to denote the </a:t>
            </a:r>
            <a:r>
              <a:rPr lang="en-US" sz="1800" b="0" i="0" dirty="0">
                <a:solidFill>
                  <a:srgbClr val="000000"/>
                </a:solidFill>
                <a:effectLst/>
                <a:latin typeface="NimbusMonL-Regu"/>
              </a:rPr>
              <a:t>length </a:t>
            </a:r>
            <a:r>
              <a:rPr lang="en-US" sz="1800" b="0" i="0" dirty="0">
                <a:solidFill>
                  <a:srgbClr val="000000"/>
                </a:solidFill>
                <a:effectLst/>
                <a:latin typeface="NimbusRomNo9L-Regu"/>
              </a:rPr>
              <a:t>bytes sized region starting at offset </a:t>
            </a:r>
            <a:r>
              <a:rPr lang="en-US" sz="1800" b="0" i="0" dirty="0">
                <a:solidFill>
                  <a:srgbClr val="000000"/>
                </a:solidFill>
                <a:effectLst/>
                <a:latin typeface="NimbusMonL-Regu"/>
              </a:rPr>
              <a:t>off </a:t>
            </a:r>
            <a:r>
              <a:rPr lang="en-US" sz="1800" b="0" i="0" dirty="0">
                <a:solidFill>
                  <a:srgbClr val="000000"/>
                </a:solidFill>
                <a:effectLst/>
                <a:latin typeface="NimbusRomNo9L-Regu"/>
              </a:rPr>
              <a:t>in the memory block pointed by </a:t>
            </a:r>
            <a:r>
              <a:rPr lang="en-US" sz="1800" b="0" i="0" dirty="0">
                <a:solidFill>
                  <a:srgbClr val="000000"/>
                </a:solidFill>
                <a:effectLst/>
                <a:latin typeface="NimbusMonL-Regu"/>
              </a:rPr>
              <a:t>*%p</a:t>
            </a:r>
            <a:r>
              <a:rPr lang="en-US" dirty="0"/>
              <a:t> . </a:t>
            </a:r>
          </a:p>
          <a:p>
            <a:endParaRPr lang="en-US" sz="1800" b="0" i="0" dirty="0">
              <a:solidFill>
                <a:srgbClr val="000000"/>
              </a:solidFill>
              <a:effectLst/>
              <a:latin typeface="NimbusRomNo9L-Regu"/>
            </a:endParaRPr>
          </a:p>
          <a:p>
            <a:r>
              <a:rPr lang="en-US" sz="1800" b="0" i="0" dirty="0">
                <a:solidFill>
                  <a:srgbClr val="000000"/>
                </a:solidFill>
                <a:effectLst/>
                <a:latin typeface="NimbusRomNo9L-Regu"/>
              </a:rPr>
              <a:t>Also, The </a:t>
            </a:r>
            <a:r>
              <a:rPr lang="en-US" sz="1800" b="0" i="0" dirty="0">
                <a:solidFill>
                  <a:srgbClr val="000000"/>
                </a:solidFill>
                <a:effectLst/>
                <a:latin typeface="NimbusMonL-Regu"/>
              </a:rPr>
              <a:t>TAG</a:t>
            </a:r>
            <a:r>
              <a:rPr lang="en-US" sz="1800" b="0" i="0" dirty="0">
                <a:solidFill>
                  <a:srgbClr val="000000"/>
                </a:solidFill>
                <a:effectLst/>
                <a:latin typeface="NimbusRomNo9L-Regu"/>
              </a:rPr>
              <a:t>-prefix instructions are related to taint tag propagation and manipulation, and the </a:t>
            </a:r>
            <a:r>
              <a:rPr lang="en-US" sz="1800" b="0" i="0" dirty="0">
                <a:solidFill>
                  <a:srgbClr val="000000"/>
                </a:solidFill>
                <a:effectLst/>
                <a:latin typeface="NimbusMonL-Regu"/>
              </a:rPr>
              <a:t>PTR</a:t>
            </a:r>
            <a:r>
              <a:rPr lang="en-US" sz="1800" b="0" i="0" dirty="0">
                <a:solidFill>
                  <a:srgbClr val="000000"/>
                </a:solidFill>
                <a:effectLst/>
                <a:latin typeface="NimbusRomNo9L-Regu"/>
              </a:rPr>
              <a:t>-prefix instructions are for the manipulation of pointers. </a:t>
            </a:r>
          </a:p>
          <a:p>
            <a:r>
              <a:rPr lang="en-US" sz="1800" b="0" i="0" dirty="0">
                <a:solidFill>
                  <a:srgbClr val="000000"/>
                </a:solidFill>
                <a:effectLst/>
                <a:latin typeface="NimbusRomNo9L-Regu"/>
              </a:rPr>
              <a:t>Instructions with </a:t>
            </a:r>
            <a:r>
              <a:rPr lang="en-US" sz="1800" b="0" i="0" dirty="0">
                <a:solidFill>
                  <a:srgbClr val="000000"/>
                </a:solidFill>
                <a:effectLst/>
                <a:latin typeface="NimbusMonL-Regu"/>
              </a:rPr>
              <a:t>COND</a:t>
            </a:r>
            <a:r>
              <a:rPr lang="en-US" sz="1800" b="0" i="0" dirty="0">
                <a:solidFill>
                  <a:srgbClr val="000000"/>
                </a:solidFill>
                <a:effectLst/>
                <a:latin typeface="NimbusRomNo9L-Regu"/>
              </a:rPr>
              <a:t>-suffix are used for conditional propagation; instructions with </a:t>
            </a:r>
            <a:r>
              <a:rPr lang="en-US" sz="1800" b="0" i="0" dirty="0">
                <a:solidFill>
                  <a:srgbClr val="000000"/>
                </a:solidFill>
                <a:effectLst/>
                <a:latin typeface="NimbusMonL-Regu"/>
              </a:rPr>
              <a:t>PHI</a:t>
            </a:r>
            <a:r>
              <a:rPr lang="en-US" sz="1800" b="0" i="0" dirty="0">
                <a:solidFill>
                  <a:srgbClr val="000000"/>
                </a:solidFill>
                <a:effectLst/>
                <a:latin typeface="NimbusRomNo9L-Regu"/>
              </a:rPr>
              <a:t>-suffix are used for control-flow based</a:t>
            </a:r>
            <a:br>
              <a:rPr lang="en-US" sz="1800" b="0" i="0" dirty="0">
                <a:solidFill>
                  <a:srgbClr val="000000"/>
                </a:solidFill>
                <a:effectLst/>
                <a:latin typeface="NimbusRomNo9L-Regu"/>
              </a:rPr>
            </a:br>
            <a:r>
              <a:rPr lang="en-US" sz="1800" b="0" i="0" dirty="0">
                <a:solidFill>
                  <a:srgbClr val="000000"/>
                </a:solidFill>
                <a:effectLst/>
                <a:latin typeface="NimbusRomNo9L-Regu"/>
              </a:rPr>
              <a:t>propagation. </a:t>
            </a:r>
          </a:p>
          <a:p>
            <a:endParaRPr lang="en-US" sz="1800" b="0" i="0" dirty="0">
              <a:solidFill>
                <a:srgbClr val="000000"/>
              </a:solidFill>
              <a:effectLst/>
              <a:latin typeface="NimbusRomNo9L-Regu"/>
            </a:endParaRPr>
          </a:p>
          <a:p>
            <a:r>
              <a:rPr lang="en-US" sz="1800" b="0" i="0" dirty="0">
                <a:solidFill>
                  <a:srgbClr val="000000"/>
                </a:solidFill>
                <a:effectLst/>
                <a:latin typeface="NimbusRomNo9L-Regu"/>
              </a:rPr>
              <a:t>We use the</a:t>
            </a:r>
            <a:br>
              <a:rPr lang="en-US" sz="1800" b="0" i="0" dirty="0">
                <a:solidFill>
                  <a:srgbClr val="000000"/>
                </a:solidFill>
                <a:effectLst/>
                <a:latin typeface="NimbusRomNo9L-Regu"/>
              </a:rPr>
            </a:br>
            <a:r>
              <a:rPr lang="en-US" sz="1800" b="0" i="0" dirty="0">
                <a:solidFill>
                  <a:srgbClr val="000000"/>
                </a:solidFill>
                <a:effectLst/>
                <a:latin typeface="NimbusRomNo9L-Regu"/>
              </a:rPr>
              <a:t>notation </a:t>
            </a:r>
            <a:r>
              <a:rPr lang="en-US" sz="1800" b="0" i="1" dirty="0">
                <a:solidFill>
                  <a:srgbClr val="000000"/>
                </a:solidFill>
                <a:effectLst/>
                <a:latin typeface="CMMI10"/>
              </a:rPr>
              <a:t>T </a:t>
            </a:r>
            <a:r>
              <a:rPr lang="en-US" sz="1800" b="0" i="0" dirty="0">
                <a:solidFill>
                  <a:srgbClr val="000000"/>
                </a:solidFill>
                <a:effectLst/>
                <a:latin typeface="CMR10"/>
              </a:rPr>
              <a:t>(%1) </a:t>
            </a:r>
            <a:r>
              <a:rPr lang="en-US" sz="1800" b="0" i="0" dirty="0">
                <a:solidFill>
                  <a:srgbClr val="000000"/>
                </a:solidFill>
                <a:effectLst/>
                <a:latin typeface="NimbusRomNo9L-Regu"/>
              </a:rPr>
              <a:t>to denote </a:t>
            </a:r>
            <a:r>
              <a:rPr lang="en-US" sz="1800" b="0" i="0" dirty="0">
                <a:solidFill>
                  <a:srgbClr val="000000"/>
                </a:solidFill>
                <a:effectLst/>
                <a:latin typeface="NimbusMonL-Regu"/>
              </a:rPr>
              <a:t>%1 </a:t>
            </a:r>
            <a:r>
              <a:rPr lang="en-US" sz="1800" b="0" i="0" dirty="0">
                <a:solidFill>
                  <a:srgbClr val="000000"/>
                </a:solidFill>
                <a:effectLst/>
                <a:latin typeface="NimbusRomNo9L-Regu"/>
              </a:rPr>
              <a:t>as a </a:t>
            </a:r>
            <a:r>
              <a:rPr lang="en-US" sz="1800" b="0" i="0" dirty="0" err="1">
                <a:solidFill>
                  <a:srgbClr val="000000"/>
                </a:solidFill>
                <a:effectLst/>
                <a:latin typeface="NimbusRomNo9L-Regu"/>
              </a:rPr>
              <a:t>taglist</a:t>
            </a:r>
            <a:r>
              <a:rPr lang="en-US" sz="1800" b="0" i="0" dirty="0">
                <a:solidFill>
                  <a:srgbClr val="000000"/>
                </a:solidFill>
                <a:effectLst/>
                <a:latin typeface="NimbusRomNo9L-Regu"/>
              </a:rPr>
              <a:t> and </a:t>
            </a:r>
            <a:r>
              <a:rPr lang="en-US" sz="1800" b="0" i="1" dirty="0">
                <a:solidFill>
                  <a:srgbClr val="000000"/>
                </a:solidFill>
                <a:effectLst/>
                <a:latin typeface="CMMI10"/>
              </a:rPr>
              <a:t>P </a:t>
            </a:r>
            <a:r>
              <a:rPr lang="en-US" sz="1800" b="0" i="0" dirty="0">
                <a:solidFill>
                  <a:srgbClr val="000000"/>
                </a:solidFill>
                <a:effectLst/>
                <a:latin typeface="CMR10"/>
              </a:rPr>
              <a:t>(%2) </a:t>
            </a:r>
            <a:r>
              <a:rPr lang="en-US" sz="1800" b="0" i="0" dirty="0">
                <a:solidFill>
                  <a:srgbClr val="000000"/>
                </a:solidFill>
                <a:effectLst/>
                <a:latin typeface="NimbusRomNo9L-Regu"/>
              </a:rPr>
              <a:t>to denote </a:t>
            </a:r>
            <a:r>
              <a:rPr lang="en-US" sz="1800" b="0" i="0" dirty="0">
                <a:solidFill>
                  <a:srgbClr val="000000"/>
                </a:solidFill>
                <a:effectLst/>
                <a:latin typeface="NimbusMonL-Regu"/>
              </a:rPr>
              <a:t>%2 </a:t>
            </a:r>
            <a:r>
              <a:rPr lang="en-US" sz="1800" b="0" i="0" dirty="0">
                <a:solidFill>
                  <a:srgbClr val="000000"/>
                </a:solidFill>
                <a:effectLst/>
                <a:latin typeface="NimbusRomNo9L-Regu"/>
              </a:rPr>
              <a:t>as a pointer.</a:t>
            </a:r>
            <a:r>
              <a:rPr lang="en-US" dirty="0"/>
              <a:t>  The table shows </a:t>
            </a:r>
            <a:r>
              <a:rPr lang="en-US" dirty="0" err="1"/>
              <a:t>llvm</a:t>
            </a:r>
            <a:r>
              <a:rPr lang="en-US" dirty="0"/>
              <a:t> IR &amp; corresponding TSIR. </a:t>
            </a:r>
            <a:endParaRPr lang="en-US" sz="1800" b="0" i="0" dirty="0">
              <a:solidFill>
                <a:srgbClr val="000000"/>
              </a:solidFill>
              <a:effectLst/>
              <a:latin typeface="NimbusRomNo9L-Regu"/>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solidFill>
                  <a:srgbClr val="000000"/>
                </a:solidFill>
                <a:effectLst/>
                <a:latin typeface="NimbusRomNo9L-Regu"/>
              </a:rPr>
              <a:t>For the case where both operands are variables as in first row, it is translated as a </a:t>
            </a:r>
            <a:r>
              <a:rPr lang="en-US" sz="1800" b="0" i="0" dirty="0">
                <a:solidFill>
                  <a:srgbClr val="000000"/>
                </a:solidFill>
                <a:effectLst/>
                <a:latin typeface="NimbusMonL-Regu"/>
              </a:rPr>
              <a:t>TAGUNION </a:t>
            </a:r>
            <a:r>
              <a:rPr lang="en-US" sz="1800" b="0" i="0" dirty="0">
                <a:solidFill>
                  <a:srgbClr val="000000"/>
                </a:solidFill>
                <a:effectLst/>
                <a:latin typeface="NimbusRomNo9L-Regu"/>
              </a:rPr>
              <a:t>instruction</a:t>
            </a:r>
            <a:r>
              <a:rPr lang="en-US" dirty="0"/>
              <a:t> . Here tag is given to both variables. If any one among them is constant, the tag associated with variable is copied to destination.{TAGCOPY} </a:t>
            </a:r>
            <a:r>
              <a:rPr lang="en-US" dirty="0" err="1"/>
              <a:t>eg</a:t>
            </a:r>
            <a:r>
              <a:rPr lang="en-US" dirty="0"/>
              <a:t>-</a:t>
            </a:r>
            <a:r>
              <a:rPr lang="nn-NO" sz="1200" b="0" i="0" dirty="0">
                <a:solidFill>
                  <a:srgbClr val="000000"/>
                </a:solidFill>
                <a:effectLst/>
                <a:latin typeface="NimbusMonL-Regu"/>
              </a:rPr>
              <a:t>%2 = add i32 %1, 3 ; 3 is constant, hence copy tag from %1 to %2. Next, if both are constants as in 3rd row, clear TAG by TAGCLEAR. Allocation in stack &amp; heap is MEMALLOC_STACK &amp; MEMALLOC_HEAP.</a:t>
            </a:r>
            <a:endParaRPr lang="nn-NO" sz="1200" dirty="0">
              <a:effectLst/>
            </a:endParaRPr>
          </a:p>
          <a:p>
            <a:br>
              <a:rPr lang="en-US" dirty="0"/>
            </a:br>
            <a:br>
              <a:rPr lang="en-US" dirty="0"/>
            </a:br>
            <a:endParaRPr lang="en-US" dirty="0"/>
          </a:p>
          <a:p>
            <a:endParaRPr lang="en-US" dirty="0"/>
          </a:p>
          <a:p>
            <a:br>
              <a:rPr lang="en-US" dirty="0"/>
            </a:br>
            <a:br>
              <a:rPr lang="en-US" dirty="0"/>
            </a:br>
            <a:endParaRPr lang="en-IN" dirty="0"/>
          </a:p>
        </p:txBody>
      </p:sp>
      <p:sp>
        <p:nvSpPr>
          <p:cNvPr id="4" name="Slide Number Placeholder 3"/>
          <p:cNvSpPr>
            <a:spLocks noGrp="1"/>
          </p:cNvSpPr>
          <p:nvPr>
            <p:ph type="sldNum" sz="quarter" idx="5"/>
          </p:nvPr>
        </p:nvSpPr>
        <p:spPr/>
        <p:txBody>
          <a:bodyPr/>
          <a:lstStyle/>
          <a:p>
            <a:fld id="{0A5141A9-D75B-44AE-8031-D107FF41031A}" type="slidenum">
              <a:rPr lang="en-IN" smtClean="0"/>
              <a:t>11</a:t>
            </a:fld>
            <a:endParaRPr lang="en-IN"/>
          </a:p>
        </p:txBody>
      </p:sp>
    </p:spTree>
    <p:extLst>
      <p:ext uri="{BB962C8B-B14F-4D97-AF65-F5344CB8AC3E}">
        <p14:creationId xmlns:p14="http://schemas.microsoft.com/office/powerpoint/2010/main" val="14714456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as you see, there is vectorization since array is used. The for loop gets converted in </a:t>
            </a:r>
            <a:r>
              <a:rPr lang="en-US" dirty="0" err="1"/>
              <a:t>llvm</a:t>
            </a:r>
            <a:r>
              <a:rPr lang="en-US" dirty="0"/>
              <a:t> IR . The highlighted portions show the calculation off d[</a:t>
            </a:r>
            <a:r>
              <a:rPr lang="en-US" dirty="0" err="1"/>
              <a:t>i</a:t>
            </a:r>
            <a:r>
              <a:rPr lang="en-US" dirty="0"/>
              <a:t>] = c+ a[</a:t>
            </a:r>
            <a:r>
              <a:rPr lang="en-US" dirty="0" err="1"/>
              <a:t>i</a:t>
            </a:r>
            <a:r>
              <a:rPr lang="en-US" dirty="0"/>
              <a:t>] +b[</a:t>
            </a:r>
            <a:r>
              <a:rPr lang="en-US" dirty="0" err="1"/>
              <a:t>i</a:t>
            </a:r>
            <a:r>
              <a:rPr lang="en-US" dirty="0"/>
              <a:t>] + c. These operations are de-</a:t>
            </a:r>
            <a:r>
              <a:rPr lang="en-US" dirty="0" err="1"/>
              <a:t>vectorised</a:t>
            </a:r>
            <a:r>
              <a:rPr lang="en-US" dirty="0"/>
              <a:t> in TSIR </a:t>
            </a:r>
            <a:r>
              <a:rPr lang="en-US" dirty="0" err="1"/>
              <a:t>usingb</a:t>
            </a:r>
            <a:r>
              <a:rPr lang="en-US" dirty="0"/>
              <a:t> TAGUNION, TAGCOPY, etc. The single static assignment model is described in next slide</a:t>
            </a:r>
          </a:p>
          <a:p>
            <a:endParaRPr lang="en-IN" dirty="0"/>
          </a:p>
        </p:txBody>
      </p:sp>
      <p:sp>
        <p:nvSpPr>
          <p:cNvPr id="4" name="Slide Number Placeholder 3"/>
          <p:cNvSpPr>
            <a:spLocks noGrp="1"/>
          </p:cNvSpPr>
          <p:nvPr>
            <p:ph type="sldNum" sz="quarter" idx="5"/>
          </p:nvPr>
        </p:nvSpPr>
        <p:spPr/>
        <p:txBody>
          <a:bodyPr/>
          <a:lstStyle/>
          <a:p>
            <a:fld id="{FE7B7C01-7AD7-474B-8FDF-43D35E9BBBBE}" type="slidenum">
              <a:rPr lang="en-US" smtClean="0"/>
              <a:t>12</a:t>
            </a:fld>
            <a:endParaRPr lang="en-US"/>
          </a:p>
        </p:txBody>
      </p:sp>
    </p:spTree>
    <p:extLst>
      <p:ext uri="{BB962C8B-B14F-4D97-AF65-F5344CB8AC3E}">
        <p14:creationId xmlns:p14="http://schemas.microsoft.com/office/powerpoint/2010/main" val="409542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LLVM IR, vectors are represented as element- </a:t>
            </a:r>
            <a:r>
              <a:rPr lang="en-US" dirty="0" err="1"/>
              <a:t>extractelement</a:t>
            </a:r>
            <a:r>
              <a:rPr lang="en-US" dirty="0"/>
              <a:t> or </a:t>
            </a:r>
            <a:r>
              <a:rPr lang="en-US" dirty="0" err="1"/>
              <a:t>insertelement</a:t>
            </a:r>
            <a:r>
              <a:rPr lang="en-US" dirty="0"/>
              <a:t>. The values in struct/array is represented as value- extract value &amp; insert value. These are converted to </a:t>
            </a:r>
            <a:r>
              <a:rPr lang="en-US" dirty="0" err="1"/>
              <a:t>Tagcopy</a:t>
            </a:r>
            <a:r>
              <a:rPr lang="en-US" dirty="0"/>
              <a:t>. As in LLVM, In TSIR also, we use static single assignment. Each variable has one assignment.</a:t>
            </a:r>
            <a:endParaRPr lang="en-IN" dirty="0"/>
          </a:p>
        </p:txBody>
      </p:sp>
      <p:sp>
        <p:nvSpPr>
          <p:cNvPr id="4" name="Slide Number Placeholder 3"/>
          <p:cNvSpPr>
            <a:spLocks noGrp="1"/>
          </p:cNvSpPr>
          <p:nvPr>
            <p:ph type="sldNum" sz="quarter" idx="5"/>
          </p:nvPr>
        </p:nvSpPr>
        <p:spPr/>
        <p:txBody>
          <a:bodyPr/>
          <a:lstStyle/>
          <a:p>
            <a:fld id="{FE7B7C01-7AD7-474B-8FDF-43D35E9BBBBE}" type="slidenum">
              <a:rPr lang="en-US" smtClean="0"/>
              <a:t>13</a:t>
            </a:fld>
            <a:endParaRPr lang="en-US"/>
          </a:p>
        </p:txBody>
      </p:sp>
    </p:spTree>
    <p:extLst>
      <p:ext uri="{BB962C8B-B14F-4D97-AF65-F5344CB8AC3E}">
        <p14:creationId xmlns:p14="http://schemas.microsoft.com/office/powerpoint/2010/main" val="19023279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NimbusRomNo9L-Regu"/>
              </a:rPr>
              <a:t>Translator instruments the LLVM IR with runtime logging code</a:t>
            </a:r>
            <a:r>
              <a:rPr lang="en-US" dirty="0"/>
              <a:t> .  On start of each block, void @log_bbid is instrumented. LLVM pass is used for instrumentation. These Instrumentations will be reflected in TSIR also. </a:t>
            </a:r>
          </a:p>
          <a:p>
            <a:br>
              <a:rPr lang="en-US" dirty="0"/>
            </a:br>
            <a:endParaRPr lang="en-IN" dirty="0"/>
          </a:p>
        </p:txBody>
      </p:sp>
      <p:sp>
        <p:nvSpPr>
          <p:cNvPr id="4" name="Slide Number Placeholder 3"/>
          <p:cNvSpPr>
            <a:spLocks noGrp="1"/>
          </p:cNvSpPr>
          <p:nvPr>
            <p:ph type="sldNum" sz="quarter" idx="5"/>
          </p:nvPr>
        </p:nvSpPr>
        <p:spPr/>
        <p:txBody>
          <a:bodyPr/>
          <a:lstStyle/>
          <a:p>
            <a:fld id="{0A5141A9-D75B-44AE-8031-D107FF41031A}" type="slidenum">
              <a:rPr lang="en-IN" smtClean="0"/>
              <a:t>14</a:t>
            </a:fld>
            <a:endParaRPr lang="en-IN"/>
          </a:p>
        </p:txBody>
      </p:sp>
    </p:spTree>
    <p:extLst>
      <p:ext uri="{BB962C8B-B14F-4D97-AF65-F5344CB8AC3E}">
        <p14:creationId xmlns:p14="http://schemas.microsoft.com/office/powerpoint/2010/main" val="15844642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NimbusRomNo9L-Regu"/>
              </a:rPr>
              <a:t>Lets keep in mind that DIFT has a online record phase and an offline replay phase.</a:t>
            </a:r>
            <a:r>
              <a:rPr lang="en-US" sz="2800" dirty="0"/>
              <a:t> </a:t>
            </a:r>
            <a:br>
              <a:rPr lang="en-US" sz="2800" dirty="0"/>
            </a:br>
            <a:r>
              <a:rPr lang="en-US" sz="1800" b="0" i="0" dirty="0">
                <a:solidFill>
                  <a:srgbClr val="000000"/>
                </a:solidFill>
                <a:effectLst/>
                <a:latin typeface="NimbusRomNo9L-Regu"/>
              </a:rPr>
              <a:t>The logging of basic block IDs and runtime values is implemented by instrumenting the LLVM IR from the target program. We place a call to the log function at the entry of each basic block using </a:t>
            </a:r>
            <a:r>
              <a:rPr lang="en-US" sz="1800" b="0" i="0" dirty="0" err="1">
                <a:solidFill>
                  <a:srgbClr val="000000"/>
                </a:solidFill>
                <a:effectLst/>
                <a:latin typeface="NimbusRomNo9L-Regu"/>
              </a:rPr>
              <a:t>llvm</a:t>
            </a:r>
            <a:r>
              <a:rPr lang="en-US" sz="1800" b="0" i="0" dirty="0">
                <a:solidFill>
                  <a:srgbClr val="000000"/>
                </a:solidFill>
                <a:effectLst/>
                <a:latin typeface="NimbusRomNo9L-Regu"/>
              </a:rPr>
              <a:t> pass. Basic blocks without explicit data flow are skipped during the instrumentation.</a:t>
            </a:r>
            <a:br>
              <a:rPr lang="en-US" sz="1800" b="0" i="0" dirty="0">
                <a:solidFill>
                  <a:srgbClr val="000000"/>
                </a:solidFill>
                <a:effectLst/>
                <a:latin typeface="NimbusRomNo9L-Regu"/>
              </a:rPr>
            </a:br>
            <a:r>
              <a:rPr lang="en-US" sz="1800" b="0" i="0" dirty="0">
                <a:solidFill>
                  <a:srgbClr val="000000"/>
                </a:solidFill>
                <a:effectLst/>
                <a:latin typeface="NimbusRomNo9L-Regu"/>
              </a:rPr>
              <a:t>But  </a:t>
            </a:r>
            <a:r>
              <a:rPr lang="en-US" sz="1800" b="0" i="0" dirty="0">
                <a:solidFill>
                  <a:srgbClr val="000000"/>
                </a:solidFill>
                <a:effectLst/>
                <a:latin typeface="NimbusMonL-Regu"/>
              </a:rPr>
              <a:t>phi </a:t>
            </a:r>
            <a:r>
              <a:rPr lang="en-US" sz="1800" b="0" i="0" dirty="0">
                <a:solidFill>
                  <a:srgbClr val="000000"/>
                </a:solidFill>
                <a:effectLst/>
                <a:latin typeface="NimbusRomNo9L-Regu"/>
              </a:rPr>
              <a:t>instruction should be logged to correctly propagate the data flow for </a:t>
            </a:r>
            <a:r>
              <a:rPr lang="en-US" sz="1800" b="0" i="0" dirty="0">
                <a:solidFill>
                  <a:srgbClr val="000000"/>
                </a:solidFill>
                <a:effectLst/>
                <a:latin typeface="NimbusMonL-Regu"/>
              </a:rPr>
              <a:t>TAGCOPY_PHI </a:t>
            </a:r>
            <a:r>
              <a:rPr lang="en-US" sz="1800" b="0" i="0" dirty="0">
                <a:solidFill>
                  <a:srgbClr val="000000"/>
                </a:solidFill>
                <a:effectLst/>
                <a:latin typeface="NimbusRomNo9L-Regu"/>
              </a:rPr>
              <a:t>and </a:t>
            </a:r>
            <a:r>
              <a:rPr lang="en-US" sz="1800" b="0" i="0" dirty="0">
                <a:solidFill>
                  <a:srgbClr val="000000"/>
                </a:solidFill>
                <a:effectLst/>
                <a:latin typeface="NimbusMonL-Regu"/>
              </a:rPr>
              <a:t>PTRCOPY_PHI</a:t>
            </a:r>
            <a:r>
              <a:rPr lang="en-US" sz="1800" b="0" i="0" dirty="0">
                <a:solidFill>
                  <a:srgbClr val="000000"/>
                </a:solidFill>
                <a:effectLst/>
                <a:latin typeface="NimbusRomNo9L-Regu"/>
              </a:rPr>
              <a:t>.</a:t>
            </a:r>
            <a:br>
              <a:rPr lang="en-US" sz="1800" b="0" i="0" dirty="0">
                <a:solidFill>
                  <a:srgbClr val="000000"/>
                </a:solidFill>
                <a:effectLst/>
                <a:latin typeface="NimbusRomNo9L-Regu"/>
              </a:rPr>
            </a:br>
            <a:r>
              <a:rPr lang="en-US" sz="1800" b="0" i="0" dirty="0">
                <a:solidFill>
                  <a:srgbClr val="000000"/>
                </a:solidFill>
                <a:effectLst/>
                <a:latin typeface="NimbusRomNo9L-Regu"/>
              </a:rPr>
              <a:t>For runtime value logging as that of conditional flows, for loops </a:t>
            </a:r>
            <a:r>
              <a:rPr lang="en-US" sz="1800" b="0" i="0" dirty="0" err="1">
                <a:solidFill>
                  <a:srgbClr val="000000"/>
                </a:solidFill>
                <a:effectLst/>
                <a:latin typeface="NimbusRomNo9L-Regu"/>
              </a:rPr>
              <a:t>etc</a:t>
            </a:r>
            <a:r>
              <a:rPr lang="en-US" sz="1800" b="0" i="0" dirty="0">
                <a:solidFill>
                  <a:srgbClr val="000000"/>
                </a:solidFill>
                <a:effectLst/>
                <a:latin typeface="NimbusRomNo9L-Regu"/>
              </a:rPr>
              <a:t>, for each reference to a LLVM IR a call to</a:t>
            </a:r>
            <a:br>
              <a:rPr lang="en-US" sz="1800" b="0" i="0" dirty="0">
                <a:solidFill>
                  <a:srgbClr val="000000"/>
                </a:solidFill>
                <a:effectLst/>
                <a:latin typeface="NimbusRomNo9L-Regu"/>
              </a:rPr>
            </a:br>
            <a:r>
              <a:rPr lang="en-US" sz="1800" b="0" i="0" dirty="0" err="1">
                <a:solidFill>
                  <a:srgbClr val="000000"/>
                </a:solidFill>
                <a:effectLst/>
                <a:latin typeface="NimbusMonL-Regu"/>
              </a:rPr>
              <a:t>log_rtvalue</a:t>
            </a:r>
            <a:r>
              <a:rPr lang="en-US" sz="1800" b="0" i="0" dirty="0">
                <a:solidFill>
                  <a:srgbClr val="000000"/>
                </a:solidFill>
                <a:effectLst/>
                <a:latin typeface="NimbusMonL-Regu"/>
              </a:rPr>
              <a:t>() </a:t>
            </a:r>
            <a:r>
              <a:rPr lang="en-US" sz="1800" b="0" i="0" dirty="0">
                <a:solidFill>
                  <a:srgbClr val="000000"/>
                </a:solidFill>
                <a:effectLst/>
                <a:latin typeface="NimbusRomNo9L-Regu"/>
              </a:rPr>
              <a:t>is placed right after it and  TSIR will have a  </a:t>
            </a:r>
            <a:r>
              <a:rPr lang="en-US" sz="1800" b="0" i="0" dirty="0">
                <a:solidFill>
                  <a:srgbClr val="000000"/>
                </a:solidFill>
                <a:effectLst/>
                <a:latin typeface="NimbusMonL-Regu"/>
              </a:rPr>
              <a:t>RECV </a:t>
            </a:r>
            <a:r>
              <a:rPr lang="en-US" sz="1800" b="0" i="0" dirty="0">
                <a:solidFill>
                  <a:srgbClr val="000000"/>
                </a:solidFill>
                <a:effectLst/>
                <a:latin typeface="NimbusRomNo9L-Regu"/>
              </a:rPr>
              <a:t>instruction.  If the value to be logged is a </a:t>
            </a:r>
            <a:r>
              <a:rPr lang="en-US" sz="1800" b="0" i="0" dirty="0">
                <a:solidFill>
                  <a:srgbClr val="000000"/>
                </a:solidFill>
                <a:effectLst/>
                <a:latin typeface="NimbusMonL-Regu"/>
              </a:rPr>
              <a:t>vector</a:t>
            </a:r>
            <a:r>
              <a:rPr lang="en-US" sz="1800" b="0" i="0" dirty="0">
                <a:solidFill>
                  <a:srgbClr val="000000"/>
                </a:solidFill>
                <a:effectLst/>
                <a:latin typeface="NimbusRomNo9L-Regu"/>
              </a:rPr>
              <a:t>, the instrumentation will de-vectorizes</a:t>
            </a:r>
            <a:br>
              <a:rPr lang="en-US" sz="1800" b="0" i="0" dirty="0">
                <a:solidFill>
                  <a:srgbClr val="000000"/>
                </a:solidFill>
                <a:effectLst/>
                <a:latin typeface="NimbusRomNo9L-Regu"/>
              </a:rPr>
            </a:br>
            <a:r>
              <a:rPr lang="en-US" sz="1800" b="0" i="0" dirty="0">
                <a:solidFill>
                  <a:srgbClr val="000000"/>
                </a:solidFill>
                <a:effectLst/>
                <a:latin typeface="NimbusRomNo9L-Regu"/>
              </a:rPr>
              <a:t>it and inserts a separate logging call for each vector field. In general, the number of instrumented </a:t>
            </a:r>
            <a:r>
              <a:rPr lang="en-US" sz="1800" b="0" i="0" dirty="0" err="1">
                <a:solidFill>
                  <a:srgbClr val="000000"/>
                </a:solidFill>
                <a:effectLst/>
                <a:latin typeface="NimbusMonL-Regu"/>
              </a:rPr>
              <a:t>log_rtvalue</a:t>
            </a:r>
            <a:r>
              <a:rPr lang="en-US" sz="1800" b="0" i="0" dirty="0">
                <a:solidFill>
                  <a:srgbClr val="000000"/>
                </a:solidFill>
                <a:effectLst/>
                <a:latin typeface="NimbusMonL-Regu"/>
              </a:rPr>
              <a:t>() </a:t>
            </a:r>
            <a:r>
              <a:rPr lang="en-US" sz="1800" b="0" i="0" dirty="0">
                <a:solidFill>
                  <a:srgbClr val="000000"/>
                </a:solidFill>
                <a:effectLst/>
                <a:latin typeface="NimbusRomNo9L-Regu"/>
              </a:rPr>
              <a:t>calls</a:t>
            </a:r>
            <a:br>
              <a:rPr lang="en-US" sz="1800" b="0" i="0" dirty="0">
                <a:solidFill>
                  <a:srgbClr val="000000"/>
                </a:solidFill>
                <a:effectLst/>
                <a:latin typeface="NimbusRomNo9L-Regu"/>
              </a:rPr>
            </a:br>
            <a:r>
              <a:rPr lang="en-US" sz="1800" b="0" i="0" dirty="0">
                <a:solidFill>
                  <a:srgbClr val="000000"/>
                </a:solidFill>
                <a:effectLst/>
                <a:latin typeface="NimbusRomNo9L-Regu"/>
              </a:rPr>
              <a:t>should match the number of </a:t>
            </a:r>
            <a:r>
              <a:rPr lang="en-US" sz="1800" b="0" i="0" dirty="0">
                <a:solidFill>
                  <a:srgbClr val="000000"/>
                </a:solidFill>
                <a:effectLst/>
                <a:latin typeface="NimbusMonL-Regu"/>
              </a:rPr>
              <a:t>RECV </a:t>
            </a:r>
            <a:r>
              <a:rPr lang="en-US" sz="1800" b="0" i="0" dirty="0">
                <a:solidFill>
                  <a:srgbClr val="000000"/>
                </a:solidFill>
                <a:effectLst/>
                <a:latin typeface="NimbusRomNo9L-Regu"/>
              </a:rPr>
              <a:t>instructions in the TSIR.</a:t>
            </a:r>
            <a:r>
              <a:rPr lang="en-US" dirty="0"/>
              <a:t> </a:t>
            </a:r>
            <a:br>
              <a:rPr lang="en-US" dirty="0"/>
            </a:br>
            <a:endParaRPr lang="en-IN" dirty="0"/>
          </a:p>
        </p:txBody>
      </p:sp>
      <p:sp>
        <p:nvSpPr>
          <p:cNvPr id="4" name="Slide Number Placeholder 3"/>
          <p:cNvSpPr>
            <a:spLocks noGrp="1"/>
          </p:cNvSpPr>
          <p:nvPr>
            <p:ph type="sldNum" sz="quarter" idx="5"/>
          </p:nvPr>
        </p:nvSpPr>
        <p:spPr/>
        <p:txBody>
          <a:bodyPr/>
          <a:lstStyle/>
          <a:p>
            <a:fld id="{0A5141A9-D75B-44AE-8031-D107FF41031A}" type="slidenum">
              <a:rPr lang="en-IN" smtClean="0"/>
              <a:t>15</a:t>
            </a:fld>
            <a:endParaRPr lang="en-IN"/>
          </a:p>
        </p:txBody>
      </p:sp>
    </p:spTree>
    <p:extLst>
      <p:ext uri="{BB962C8B-B14F-4D97-AF65-F5344CB8AC3E}">
        <p14:creationId xmlns:p14="http://schemas.microsoft.com/office/powerpoint/2010/main" val="13933292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Instrumenting </a:t>
            </a:r>
            <a:r>
              <a:rPr lang="en-US" dirty="0" err="1"/>
              <a:t>log_bbid</a:t>
            </a:r>
            <a:r>
              <a:rPr lang="en-US" dirty="0"/>
              <a:t> on each block entry and while run time, the value needs to be logged hence we use @log_rtvalue . This is represented as RECV $0. </a:t>
            </a:r>
            <a:endParaRPr lang="en-IN" dirty="0"/>
          </a:p>
        </p:txBody>
      </p:sp>
      <p:sp>
        <p:nvSpPr>
          <p:cNvPr id="4" name="Slide Number Placeholder 3"/>
          <p:cNvSpPr>
            <a:spLocks noGrp="1"/>
          </p:cNvSpPr>
          <p:nvPr>
            <p:ph type="sldNum" sz="quarter" idx="5"/>
          </p:nvPr>
        </p:nvSpPr>
        <p:spPr/>
        <p:txBody>
          <a:bodyPr/>
          <a:lstStyle/>
          <a:p>
            <a:fld id="{0A5141A9-D75B-44AE-8031-D107FF41031A}" type="slidenum">
              <a:rPr lang="en-IN" smtClean="0"/>
              <a:t>16</a:t>
            </a:fld>
            <a:endParaRPr lang="en-IN"/>
          </a:p>
        </p:txBody>
      </p:sp>
    </p:spTree>
    <p:extLst>
      <p:ext uri="{BB962C8B-B14F-4D97-AF65-F5344CB8AC3E}">
        <p14:creationId xmlns:p14="http://schemas.microsoft.com/office/powerpoint/2010/main" val="19388200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another example Here u may see that, when buffer/array is been used, its RECV in TSIR and  </a:t>
            </a:r>
            <a:r>
              <a:rPr lang="en-US" dirty="0" err="1"/>
              <a:t>log_rtvalue</a:t>
            </a:r>
            <a:r>
              <a:rPr lang="en-US" dirty="0"/>
              <a:t> is instrumented. </a:t>
            </a:r>
            <a:r>
              <a:rPr lang="en-US" sz="1800" b="0" i="0" dirty="0">
                <a:solidFill>
                  <a:srgbClr val="000000"/>
                </a:solidFill>
                <a:effectLst/>
                <a:latin typeface="NimbusRomNo9L-Regu"/>
              </a:rPr>
              <a:t>Here we can see </a:t>
            </a:r>
            <a:r>
              <a:rPr lang="en-US" sz="1800" b="0" i="0" dirty="0" err="1">
                <a:solidFill>
                  <a:srgbClr val="000000"/>
                </a:solidFill>
                <a:effectLst/>
                <a:latin typeface="NimbusRomNo9L-Regu"/>
              </a:rPr>
              <a:t>devectorisation</a:t>
            </a:r>
            <a:r>
              <a:rPr lang="en-US" sz="1800" b="0" i="0" dirty="0">
                <a:solidFill>
                  <a:srgbClr val="000000"/>
                </a:solidFill>
                <a:effectLst/>
                <a:latin typeface="NimbusRomNo9L-Regu"/>
              </a:rPr>
              <a:t> at two places and </a:t>
            </a:r>
            <a:br>
              <a:rPr lang="en-US" sz="1800" b="0" i="0" dirty="0">
                <a:solidFill>
                  <a:srgbClr val="000000"/>
                </a:solidFill>
                <a:effectLst/>
                <a:latin typeface="NimbusRomNo9L-Regu"/>
              </a:rPr>
            </a:br>
            <a:r>
              <a:rPr lang="en-US" sz="1800" b="0" i="0" dirty="0">
                <a:solidFill>
                  <a:srgbClr val="000000"/>
                </a:solidFill>
                <a:effectLst/>
                <a:latin typeface="NimbusRomNo9L-Regu"/>
              </a:rPr>
              <a:t> the number of instrumented </a:t>
            </a:r>
            <a:r>
              <a:rPr lang="en-US" sz="1800" b="0" i="0" dirty="0" err="1">
                <a:solidFill>
                  <a:srgbClr val="000000"/>
                </a:solidFill>
                <a:effectLst/>
                <a:latin typeface="NimbusMonL-Regu"/>
              </a:rPr>
              <a:t>log_rtvalue</a:t>
            </a:r>
            <a:r>
              <a:rPr lang="en-US" sz="1800" b="0" i="0" dirty="0">
                <a:solidFill>
                  <a:srgbClr val="000000"/>
                </a:solidFill>
                <a:effectLst/>
                <a:latin typeface="NimbusMonL-Regu"/>
              </a:rPr>
              <a:t>() </a:t>
            </a:r>
            <a:r>
              <a:rPr lang="en-US" sz="1800" b="0" i="0" dirty="0">
                <a:solidFill>
                  <a:srgbClr val="000000"/>
                </a:solidFill>
                <a:effectLst/>
                <a:latin typeface="NimbusRomNo9L-Regu"/>
              </a:rPr>
              <a:t>calls should match the number of </a:t>
            </a:r>
            <a:r>
              <a:rPr lang="en-US" sz="1800" b="0" i="0" dirty="0">
                <a:solidFill>
                  <a:srgbClr val="000000"/>
                </a:solidFill>
                <a:effectLst/>
                <a:latin typeface="NimbusMonL-Regu"/>
              </a:rPr>
              <a:t>RECV </a:t>
            </a:r>
            <a:r>
              <a:rPr lang="en-US" sz="1800" b="0" i="0" dirty="0">
                <a:solidFill>
                  <a:srgbClr val="000000"/>
                </a:solidFill>
                <a:effectLst/>
                <a:latin typeface="NimbusRomNo9L-Regu"/>
              </a:rPr>
              <a:t>instructions in the TSIR</a:t>
            </a:r>
            <a:r>
              <a:rPr lang="en-US" dirty="0"/>
              <a:t> </a:t>
            </a:r>
            <a:br>
              <a:rPr lang="en-US" dirty="0"/>
            </a:br>
            <a:endParaRPr lang="en-IN" dirty="0"/>
          </a:p>
        </p:txBody>
      </p:sp>
      <p:sp>
        <p:nvSpPr>
          <p:cNvPr id="4" name="Slide Number Placeholder 3"/>
          <p:cNvSpPr>
            <a:spLocks noGrp="1"/>
          </p:cNvSpPr>
          <p:nvPr>
            <p:ph type="sldNum" sz="quarter" idx="5"/>
          </p:nvPr>
        </p:nvSpPr>
        <p:spPr/>
        <p:txBody>
          <a:bodyPr/>
          <a:lstStyle/>
          <a:p>
            <a:fld id="{0A5141A9-D75B-44AE-8031-D107FF41031A}" type="slidenum">
              <a:rPr lang="en-IN" smtClean="0"/>
              <a:t>17</a:t>
            </a:fld>
            <a:endParaRPr lang="en-IN"/>
          </a:p>
        </p:txBody>
      </p:sp>
    </p:spTree>
    <p:extLst>
      <p:ext uri="{BB962C8B-B14F-4D97-AF65-F5344CB8AC3E}">
        <p14:creationId xmlns:p14="http://schemas.microsoft.com/office/powerpoint/2010/main" val="26602422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NimbusRomNo9L-Regu"/>
              </a:rPr>
              <a:t>For instance, leaking a few bytes of a 256-bit secret key can be seen as if the whole key is leaked. The TSIR Translator provides an option for setting</a:t>
            </a:r>
            <a:br>
              <a:rPr lang="en-US" sz="1800" b="0" i="0" dirty="0">
                <a:solidFill>
                  <a:srgbClr val="000000"/>
                </a:solidFill>
                <a:effectLst/>
                <a:latin typeface="NimbusRomNo9L-Regu"/>
              </a:rPr>
            </a:br>
            <a:r>
              <a:rPr lang="en-US" sz="1800" b="0" i="0" dirty="0">
                <a:solidFill>
                  <a:srgbClr val="000000"/>
                </a:solidFill>
                <a:effectLst/>
                <a:latin typeface="NimbusRomNo9L-Regu"/>
              </a:rPr>
              <a:t>the threshold size of singleton buffer. The translator will treat any </a:t>
            </a:r>
            <a:r>
              <a:rPr lang="en-US" sz="1800" b="0" i="0" dirty="0">
                <a:solidFill>
                  <a:srgbClr val="000000"/>
                </a:solidFill>
                <a:effectLst/>
                <a:latin typeface="NimbusMonL-Regu"/>
              </a:rPr>
              <a:t>char </a:t>
            </a:r>
            <a:r>
              <a:rPr lang="en-US" sz="1800" b="0" i="0" dirty="0">
                <a:solidFill>
                  <a:srgbClr val="000000"/>
                </a:solidFill>
                <a:effectLst/>
                <a:latin typeface="NimbusRomNo9L-Regu"/>
              </a:rPr>
              <a:t>or </a:t>
            </a:r>
            <a:r>
              <a:rPr lang="en-US" sz="1800" b="0" i="0" dirty="0">
                <a:solidFill>
                  <a:srgbClr val="000000"/>
                </a:solidFill>
                <a:effectLst/>
                <a:latin typeface="NimbusMonL-Regu"/>
              </a:rPr>
              <a:t>int </a:t>
            </a:r>
            <a:r>
              <a:rPr lang="en-US" sz="1800" b="0" i="0" dirty="0">
                <a:solidFill>
                  <a:srgbClr val="000000"/>
                </a:solidFill>
                <a:effectLst/>
                <a:latin typeface="NimbusRomNo9L-Regu"/>
              </a:rPr>
              <a:t>array (in LLVM IR, a </a:t>
            </a:r>
            <a:r>
              <a:rPr lang="en-US" sz="1800" b="0" i="0" dirty="0">
                <a:solidFill>
                  <a:srgbClr val="000000"/>
                </a:solidFill>
                <a:effectLst/>
                <a:latin typeface="NimbusMonL-Regu"/>
              </a:rPr>
              <a:t>char </a:t>
            </a:r>
            <a:r>
              <a:rPr lang="en-US" sz="1800" b="0" i="0" dirty="0">
                <a:solidFill>
                  <a:srgbClr val="000000"/>
                </a:solidFill>
                <a:effectLst/>
                <a:latin typeface="NimbusRomNo9L-Regu"/>
              </a:rPr>
              <a:t>array is represented as an </a:t>
            </a:r>
            <a:r>
              <a:rPr lang="en-US" sz="1800" b="0" i="0" dirty="0">
                <a:solidFill>
                  <a:srgbClr val="000000"/>
                </a:solidFill>
                <a:effectLst/>
                <a:latin typeface="NimbusMonL-Regu"/>
              </a:rPr>
              <a:t>i8 </a:t>
            </a:r>
            <a:r>
              <a:rPr lang="en-US" sz="1800" b="0" i="0" dirty="0">
                <a:solidFill>
                  <a:srgbClr val="000000"/>
                </a:solidFill>
                <a:effectLst/>
                <a:latin typeface="NimbusRomNo9L-Regu"/>
              </a:rPr>
              <a:t>array), whose size is larger than the threshold as an singleton (the default threshold is 128 bytes). Taint propagation to any part of a singleton buffer is treated as if the whole buffer is getting tainted. This optimization implies that the variable offsets involved in </a:t>
            </a:r>
            <a:r>
              <a:rPr lang="en-US" sz="1800" b="0" i="0" dirty="0" err="1">
                <a:solidFill>
                  <a:srgbClr val="000000"/>
                </a:solidFill>
                <a:effectLst/>
                <a:latin typeface="NimbusMonL-Regu"/>
              </a:rPr>
              <a:t>getelementptr</a:t>
            </a:r>
            <a:r>
              <a:rPr lang="en-US" sz="1800" b="0" i="0" dirty="0">
                <a:solidFill>
                  <a:srgbClr val="000000"/>
                </a:solidFill>
                <a:effectLst/>
                <a:latin typeface="NimbusMonL-Regu"/>
              </a:rPr>
              <a:t> </a:t>
            </a:r>
            <a:r>
              <a:rPr lang="en-US" sz="1800" b="0" i="0" dirty="0">
                <a:solidFill>
                  <a:srgbClr val="000000"/>
                </a:solidFill>
                <a:effectLst/>
                <a:latin typeface="NimbusRomNo9L-Regu"/>
              </a:rPr>
              <a:t>can be completely ignored in the runtime logging.</a:t>
            </a:r>
            <a:r>
              <a:rPr lang="en-US" dirty="0"/>
              <a:t> </a:t>
            </a:r>
          </a:p>
          <a:p>
            <a:endParaRPr lang="en-US" dirty="0"/>
          </a:p>
          <a:p>
            <a:r>
              <a:rPr lang="en-US" sz="1800" b="0" i="0" dirty="0">
                <a:solidFill>
                  <a:srgbClr val="000000"/>
                </a:solidFill>
                <a:effectLst/>
                <a:latin typeface="NimbusRomNo9L-Regu"/>
              </a:rPr>
              <a:t>We define four log levels for developers to choose the tradeoffs between analysis precision and logging overhead</a:t>
            </a:r>
            <a:r>
              <a:rPr lang="en-US" dirty="0"/>
              <a:t> .</a:t>
            </a:r>
          </a:p>
          <a:p>
            <a:r>
              <a:rPr lang="en-US" sz="1800" b="0" i="0" dirty="0">
                <a:solidFill>
                  <a:srgbClr val="000000"/>
                </a:solidFill>
                <a:effectLst/>
                <a:latin typeface="NimbusRomNo9L-Regu"/>
              </a:rPr>
              <a:t>It is like this .Level 4 performs the most fine-grained runtime logging. Variable offsets in </a:t>
            </a:r>
            <a:r>
              <a:rPr lang="en-US" sz="1800" b="0" i="0" dirty="0" err="1">
                <a:solidFill>
                  <a:srgbClr val="000000"/>
                </a:solidFill>
                <a:effectLst/>
                <a:latin typeface="NimbusMonL-Regu"/>
              </a:rPr>
              <a:t>getelementptr</a:t>
            </a:r>
            <a:r>
              <a:rPr lang="en-US" sz="1800" b="0" i="0" dirty="0">
                <a:solidFill>
                  <a:srgbClr val="000000"/>
                </a:solidFill>
                <a:effectLst/>
                <a:latin typeface="NimbusMonL-Regu"/>
              </a:rPr>
              <a:t> </a:t>
            </a:r>
            <a:r>
              <a:rPr lang="en-US" sz="1800" b="0" i="0" dirty="0">
                <a:solidFill>
                  <a:srgbClr val="000000"/>
                </a:solidFill>
                <a:effectLst/>
                <a:latin typeface="NimbusRomNo9L-Regu"/>
              </a:rPr>
              <a:t>instruction and</a:t>
            </a:r>
            <a:br>
              <a:rPr lang="en-US" sz="1800" b="0" i="0" dirty="0">
                <a:solidFill>
                  <a:srgbClr val="000000"/>
                </a:solidFill>
                <a:effectLst/>
                <a:latin typeface="NimbusRomNo9L-Regu"/>
              </a:rPr>
            </a:br>
            <a:r>
              <a:rPr lang="en-US" sz="1800" b="0" i="0" dirty="0">
                <a:solidFill>
                  <a:srgbClr val="000000"/>
                </a:solidFill>
                <a:effectLst/>
                <a:latin typeface="NimbusRomNo9L-Regu"/>
              </a:rPr>
              <a:t>runtime conditions in </a:t>
            </a:r>
            <a:r>
              <a:rPr lang="en-US" sz="1800" b="0" i="0" dirty="0">
                <a:solidFill>
                  <a:srgbClr val="000000"/>
                </a:solidFill>
                <a:effectLst/>
                <a:latin typeface="NimbusMonL-Regu"/>
              </a:rPr>
              <a:t>select </a:t>
            </a:r>
            <a:r>
              <a:rPr lang="en-US" sz="1800" b="0" i="0" dirty="0">
                <a:solidFill>
                  <a:srgbClr val="000000"/>
                </a:solidFill>
                <a:effectLst/>
                <a:latin typeface="NimbusRomNo9L-Regu"/>
              </a:rPr>
              <a:t>instruction are all logged to achieve byte-level DIFT granularity for all data objects. In</a:t>
            </a:r>
            <a:br>
              <a:rPr lang="en-US" sz="1800" b="0" i="0" dirty="0">
                <a:solidFill>
                  <a:srgbClr val="000000"/>
                </a:solidFill>
                <a:effectLst/>
                <a:latin typeface="NimbusRomNo9L-Regu"/>
              </a:rPr>
            </a:br>
            <a:r>
              <a:rPr lang="en-US" sz="1800" b="0" i="0" dirty="0">
                <a:solidFill>
                  <a:srgbClr val="000000"/>
                </a:solidFill>
                <a:effectLst/>
                <a:latin typeface="NimbusRomNo9L-Regu"/>
              </a:rPr>
              <a:t>level 2 and level 3, variable offsets in </a:t>
            </a:r>
            <a:r>
              <a:rPr lang="en-US" sz="1800" b="0" i="0" dirty="0" err="1">
                <a:solidFill>
                  <a:srgbClr val="000000"/>
                </a:solidFill>
                <a:effectLst/>
                <a:latin typeface="NimbusMonL-Regu"/>
              </a:rPr>
              <a:t>getelementptr</a:t>
            </a:r>
            <a:r>
              <a:rPr lang="en-US" sz="1800" b="0" i="0" dirty="0">
                <a:solidFill>
                  <a:srgbClr val="000000"/>
                </a:solidFill>
                <a:effectLst/>
                <a:latin typeface="NimbusMonL-Regu"/>
              </a:rPr>
              <a:t> </a:t>
            </a:r>
            <a:r>
              <a:rPr lang="en-US" sz="1800" b="0" i="0" dirty="0">
                <a:solidFill>
                  <a:srgbClr val="000000"/>
                </a:solidFill>
                <a:effectLst/>
                <a:latin typeface="NimbusRomNo9L-Regu"/>
              </a:rPr>
              <a:t>are logged only for non-singleton buffers. In level 1 and level</a:t>
            </a:r>
            <a:br>
              <a:rPr lang="en-US" sz="1800" b="0" i="0" dirty="0">
                <a:solidFill>
                  <a:srgbClr val="000000"/>
                </a:solidFill>
                <a:effectLst/>
                <a:latin typeface="NimbusRomNo9L-Regu"/>
              </a:rPr>
            </a:br>
            <a:r>
              <a:rPr lang="en-US" sz="1800" b="0" i="0" dirty="0">
                <a:solidFill>
                  <a:srgbClr val="000000"/>
                </a:solidFill>
                <a:effectLst/>
                <a:latin typeface="NimbusRomNo9L-Regu"/>
              </a:rPr>
              <a:t>2, the runtime conditions in </a:t>
            </a:r>
            <a:r>
              <a:rPr lang="en-US" sz="1800" b="0" i="0" dirty="0">
                <a:solidFill>
                  <a:srgbClr val="000000"/>
                </a:solidFill>
                <a:effectLst/>
                <a:latin typeface="NimbusMonL-Regu"/>
              </a:rPr>
              <a:t>select </a:t>
            </a:r>
            <a:r>
              <a:rPr lang="en-US" sz="1800" b="0" i="0" dirty="0">
                <a:solidFill>
                  <a:srgbClr val="000000"/>
                </a:solidFill>
                <a:effectLst/>
                <a:latin typeface="NimbusRomNo9L-Regu"/>
              </a:rPr>
              <a:t>are logged only when pointer operands are present</a:t>
            </a:r>
            <a:r>
              <a:rPr lang="en-US" dirty="0"/>
              <a:t> </a:t>
            </a:r>
            <a:br>
              <a:rPr lang="en-US" dirty="0"/>
            </a:br>
            <a:br>
              <a:rPr lang="en-US" dirty="0"/>
            </a:br>
            <a:br>
              <a:rPr lang="en-US" dirty="0"/>
            </a:br>
            <a:endParaRPr lang="en-IN" dirty="0"/>
          </a:p>
        </p:txBody>
      </p:sp>
      <p:sp>
        <p:nvSpPr>
          <p:cNvPr id="4" name="Slide Number Placeholder 3"/>
          <p:cNvSpPr>
            <a:spLocks noGrp="1"/>
          </p:cNvSpPr>
          <p:nvPr>
            <p:ph type="sldNum" sz="quarter" idx="5"/>
          </p:nvPr>
        </p:nvSpPr>
        <p:spPr/>
        <p:txBody>
          <a:bodyPr/>
          <a:lstStyle/>
          <a:p>
            <a:fld id="{0A5141A9-D75B-44AE-8031-D107FF41031A}" type="slidenum">
              <a:rPr lang="en-IN" smtClean="0"/>
              <a:t>18</a:t>
            </a:fld>
            <a:endParaRPr lang="en-IN"/>
          </a:p>
        </p:txBody>
      </p:sp>
    </p:spTree>
    <p:extLst>
      <p:ext uri="{BB962C8B-B14F-4D97-AF65-F5344CB8AC3E}">
        <p14:creationId xmlns:p14="http://schemas.microsoft.com/office/powerpoint/2010/main" val="22274004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NimbusRomNo9L-Regu"/>
              </a:rPr>
              <a:t>the </a:t>
            </a:r>
            <a:r>
              <a:rPr lang="en-US" sz="1800" b="0" i="1" dirty="0">
                <a:solidFill>
                  <a:srgbClr val="000000"/>
                </a:solidFill>
                <a:effectLst/>
                <a:latin typeface="NimbusRomNo9L-ReguItal"/>
              </a:rPr>
              <a:t>Information Flow Tracking Runtime Library </a:t>
            </a:r>
            <a:r>
              <a:rPr lang="en-US" sz="1800" b="0" i="0" dirty="0">
                <a:solidFill>
                  <a:srgbClr val="000000"/>
                </a:solidFill>
                <a:effectLst/>
                <a:latin typeface="NimbusRomNo9L-Regu"/>
              </a:rPr>
              <a:t>provides the functions for logging basic block IDs and runtime values</a:t>
            </a:r>
            <a:r>
              <a:rPr lang="en-US" dirty="0"/>
              <a:t> .</a:t>
            </a:r>
            <a:br>
              <a:rPr lang="en-US" dirty="0"/>
            </a:br>
            <a:r>
              <a:rPr lang="en-US" dirty="0"/>
              <a:t>The run time log value AND block ids  on deployment is presented to Replay Phase. Replay reconstructs the information flow</a:t>
            </a:r>
            <a:endParaRPr lang="en-IN" dirty="0"/>
          </a:p>
        </p:txBody>
      </p:sp>
      <p:sp>
        <p:nvSpPr>
          <p:cNvPr id="4" name="Slide Number Placeholder 3"/>
          <p:cNvSpPr>
            <a:spLocks noGrp="1"/>
          </p:cNvSpPr>
          <p:nvPr>
            <p:ph type="sldNum" sz="quarter" idx="5"/>
          </p:nvPr>
        </p:nvSpPr>
        <p:spPr/>
        <p:txBody>
          <a:bodyPr/>
          <a:lstStyle/>
          <a:p>
            <a:fld id="{0A5141A9-D75B-44AE-8031-D107FF41031A}" type="slidenum">
              <a:rPr lang="en-IN" smtClean="0"/>
              <a:t>19</a:t>
            </a:fld>
            <a:endParaRPr lang="en-IN"/>
          </a:p>
        </p:txBody>
      </p:sp>
    </p:spTree>
    <p:extLst>
      <p:ext uri="{BB962C8B-B14F-4D97-AF65-F5344CB8AC3E}">
        <p14:creationId xmlns:p14="http://schemas.microsoft.com/office/powerpoint/2010/main" val="39676600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b="0" i="0" dirty="0">
                <a:solidFill>
                  <a:srgbClr val="000000"/>
                </a:solidFill>
                <a:effectLst/>
                <a:latin typeface="NimbusRomNo9L-Regu"/>
              </a:rPr>
              <a:t>This figure shows the architecture of TSIR REPLAY.</a:t>
            </a:r>
          </a:p>
          <a:p>
            <a:pPr marL="0" indent="0">
              <a:buFont typeface="Arial" panose="020B0604020202020204" pitchFamily="34" charset="0"/>
              <a:buNone/>
            </a:pPr>
            <a:r>
              <a:rPr lang="en-US" sz="1200" b="0" i="0" dirty="0">
                <a:solidFill>
                  <a:srgbClr val="000000"/>
                </a:solidFill>
                <a:effectLst/>
                <a:latin typeface="NimbusRomNo9L-Regu"/>
              </a:rPr>
              <a:t>TSIR IS PROVIDED with block ids and run time values. The TSIR replay phases have following tables</a:t>
            </a:r>
          </a:p>
          <a:p>
            <a:pPr marL="285750" indent="-285750">
              <a:buFont typeface="Arial" panose="020B0604020202020204" pitchFamily="34" charset="0"/>
              <a:buChar char="•"/>
            </a:pPr>
            <a:r>
              <a:rPr lang="en-US" sz="1200" b="0" i="0" dirty="0">
                <a:solidFill>
                  <a:srgbClr val="000000"/>
                </a:solidFill>
                <a:effectLst/>
                <a:latin typeface="NimbusRomNo9L-Regu"/>
              </a:rPr>
              <a:t>The </a:t>
            </a:r>
            <a:r>
              <a:rPr lang="en-US" sz="1200" b="0" i="1" dirty="0">
                <a:solidFill>
                  <a:srgbClr val="000000"/>
                </a:solidFill>
                <a:effectLst/>
                <a:latin typeface="NimbusRomNo9L-ReguItal"/>
              </a:rPr>
              <a:t>Memory Block Table </a:t>
            </a:r>
            <a:r>
              <a:rPr lang="en-US" sz="1200" b="0" i="0" dirty="0">
                <a:solidFill>
                  <a:srgbClr val="000000"/>
                </a:solidFill>
                <a:effectLst/>
                <a:latin typeface="NimbusRomNo9L-Regu"/>
              </a:rPr>
              <a:t>tracks all the memory blocks allocated on the heap or on the stack. </a:t>
            </a:r>
          </a:p>
          <a:p>
            <a:pPr marL="285750" indent="-285750">
              <a:buFont typeface="Arial" panose="020B0604020202020204" pitchFamily="34" charset="0"/>
              <a:buChar char="•"/>
            </a:pPr>
            <a:r>
              <a:rPr lang="en-US" sz="1200" b="0" i="0" dirty="0">
                <a:solidFill>
                  <a:srgbClr val="000000"/>
                </a:solidFill>
                <a:effectLst/>
                <a:latin typeface="NimbusRomNo9L-Regu"/>
              </a:rPr>
              <a:t>The</a:t>
            </a:r>
            <a:r>
              <a:rPr lang="en-US" dirty="0">
                <a:solidFill>
                  <a:srgbClr val="000000"/>
                </a:solidFill>
                <a:latin typeface="NimbusRomNo9L-Regu"/>
              </a:rPr>
              <a:t> </a:t>
            </a:r>
            <a:r>
              <a:rPr lang="en-US" sz="1200" b="0" i="1" dirty="0">
                <a:solidFill>
                  <a:srgbClr val="000000"/>
                </a:solidFill>
                <a:effectLst/>
                <a:latin typeface="NimbusRomNo9L-ReguItal"/>
              </a:rPr>
              <a:t>Global Variable Table </a:t>
            </a:r>
            <a:r>
              <a:rPr lang="en-US" sz="1200" b="0" i="0" dirty="0">
                <a:solidFill>
                  <a:srgbClr val="000000"/>
                </a:solidFill>
                <a:effectLst/>
                <a:latin typeface="NimbusRomNo9L-Regu"/>
              </a:rPr>
              <a:t>keeps track of all the global variables and their corresponding memory blocks. </a:t>
            </a:r>
          </a:p>
          <a:p>
            <a:pPr marL="285750" indent="-285750">
              <a:buFont typeface="Arial" panose="020B0604020202020204" pitchFamily="34" charset="0"/>
              <a:buChar char="•"/>
            </a:pPr>
            <a:r>
              <a:rPr lang="en-US" sz="1200" b="0" i="0" dirty="0">
                <a:solidFill>
                  <a:srgbClr val="000000"/>
                </a:solidFill>
                <a:effectLst/>
                <a:latin typeface="NimbusRomNo9L-Regu"/>
              </a:rPr>
              <a:t>The </a:t>
            </a:r>
            <a:r>
              <a:rPr lang="en-US" sz="1200" b="0" i="1" dirty="0">
                <a:solidFill>
                  <a:srgbClr val="000000"/>
                </a:solidFill>
                <a:effectLst/>
                <a:latin typeface="NimbusRomNo9L-ReguItal"/>
              </a:rPr>
              <a:t>File Descriptor Table </a:t>
            </a:r>
            <a:r>
              <a:rPr lang="en-US" sz="1200" b="0" i="0" dirty="0">
                <a:solidFill>
                  <a:srgbClr val="000000"/>
                </a:solidFill>
                <a:effectLst/>
                <a:latin typeface="NimbusRomNo9L-Regu"/>
              </a:rPr>
              <a:t>stores the pseudo file descriptors and their corresponding</a:t>
            </a:r>
            <a:br>
              <a:rPr lang="en-US" sz="1200" b="0" i="0" dirty="0">
                <a:solidFill>
                  <a:srgbClr val="000000"/>
                </a:solidFill>
                <a:effectLst/>
                <a:latin typeface="NimbusRomNo9L-Regu"/>
              </a:rPr>
            </a:br>
            <a:r>
              <a:rPr lang="en-US" sz="1200" b="0" i="0" dirty="0">
                <a:solidFill>
                  <a:srgbClr val="000000"/>
                </a:solidFill>
                <a:effectLst/>
                <a:latin typeface="NimbusRomNo9L-Regu"/>
              </a:rPr>
              <a:t>tags. </a:t>
            </a:r>
          </a:p>
          <a:p>
            <a:pPr marL="285750" indent="-285750">
              <a:buFont typeface="Arial" panose="020B0604020202020204" pitchFamily="34" charset="0"/>
              <a:buChar char="•"/>
            </a:pPr>
            <a:r>
              <a:rPr lang="en-US" sz="1200" b="0" i="0" dirty="0">
                <a:solidFill>
                  <a:srgbClr val="000000"/>
                </a:solidFill>
                <a:effectLst/>
                <a:latin typeface="NimbusRomNo9L-Regu"/>
              </a:rPr>
              <a:t>To support multi-threaded programs,  </a:t>
            </a:r>
            <a:r>
              <a:rPr lang="en-US" sz="1200" b="0" i="1" dirty="0">
                <a:solidFill>
                  <a:srgbClr val="000000"/>
                </a:solidFill>
                <a:effectLst/>
                <a:latin typeface="NimbusRomNo9L-ReguItal"/>
              </a:rPr>
              <a:t>Thread Context </a:t>
            </a:r>
            <a:r>
              <a:rPr lang="en-US" sz="1200" b="0" i="0" dirty="0">
                <a:solidFill>
                  <a:srgbClr val="000000"/>
                </a:solidFill>
                <a:effectLst/>
                <a:latin typeface="NimbusRomNo9L-Regu"/>
              </a:rPr>
              <a:t>for each user thread and keeps it in the </a:t>
            </a:r>
            <a:r>
              <a:rPr lang="en-US" sz="1200" b="0" i="1" dirty="0">
                <a:solidFill>
                  <a:srgbClr val="000000"/>
                </a:solidFill>
                <a:effectLst/>
                <a:latin typeface="NimbusRomNo9L-ReguItal"/>
              </a:rPr>
              <a:t>Thread Context Table</a:t>
            </a:r>
            <a:r>
              <a:rPr lang="en-US" sz="1200" b="0" i="0" dirty="0">
                <a:solidFill>
                  <a:srgbClr val="000000"/>
                </a:solidFill>
                <a:effectLst/>
                <a:latin typeface="NimbusRomNo9L-Regu"/>
              </a:rPr>
              <a:t>. </a:t>
            </a:r>
          </a:p>
          <a:p>
            <a:pPr marL="0" indent="0">
              <a:buFont typeface="Arial" panose="020B0604020202020204" pitchFamily="34" charset="0"/>
              <a:buNone/>
            </a:pPr>
            <a:r>
              <a:rPr lang="en-US" sz="1800" b="0" i="0" dirty="0">
                <a:solidFill>
                  <a:srgbClr val="000000"/>
                </a:solidFill>
                <a:effectLst/>
                <a:latin typeface="NimbusRomNo9L-Regu"/>
              </a:rPr>
              <a:t>When replaying a basic block ID, TSIR VM first detects if a thread context switch is required. If the corresponding thread context does not exist, it will allocate</a:t>
            </a:r>
            <a:br>
              <a:rPr lang="en-US" sz="1800" b="0" i="0" dirty="0">
                <a:solidFill>
                  <a:srgbClr val="000000"/>
                </a:solidFill>
                <a:effectLst/>
                <a:latin typeface="NimbusRomNo9L-Regu"/>
              </a:rPr>
            </a:br>
            <a:r>
              <a:rPr lang="en-US" sz="1800" b="0" i="0" dirty="0">
                <a:solidFill>
                  <a:srgbClr val="000000"/>
                </a:solidFill>
                <a:effectLst/>
                <a:latin typeface="NimbusRomNo9L-Regu"/>
              </a:rPr>
              <a:t>a new one and switch from the current context to it.</a:t>
            </a:r>
            <a:r>
              <a:rPr lang="en-US" dirty="0"/>
              <a:t> </a:t>
            </a:r>
            <a:br>
              <a:rPr lang="en-US" dirty="0"/>
            </a:br>
            <a:endParaRPr lang="en-US" sz="1200" b="0" i="0" dirty="0">
              <a:solidFill>
                <a:srgbClr val="000000"/>
              </a:solidFill>
              <a:effectLst/>
              <a:latin typeface="NimbusRomNo9L-Regu"/>
            </a:endParaRPr>
          </a:p>
          <a:p>
            <a:pPr marL="285750" indent="-285750">
              <a:buFont typeface="Arial" panose="020B0604020202020204" pitchFamily="34" charset="0"/>
              <a:buChar char="•"/>
            </a:pPr>
            <a:r>
              <a:rPr lang="en-US" sz="1200" b="0" i="1" dirty="0">
                <a:solidFill>
                  <a:srgbClr val="000000"/>
                </a:solidFill>
                <a:effectLst/>
                <a:latin typeface="NimbusRomNo9L-ReguItal"/>
              </a:rPr>
              <a:t>Stack Frame </a:t>
            </a:r>
            <a:r>
              <a:rPr lang="en-US" sz="1200" b="0" i="0" dirty="0">
                <a:solidFill>
                  <a:srgbClr val="000000"/>
                </a:solidFill>
                <a:effectLst/>
                <a:latin typeface="NimbusRomNo9L-Regu"/>
              </a:rPr>
              <a:t>is allocated to maintain the function call states. It also inc</a:t>
            </a:r>
            <a:r>
              <a:rPr lang="en-US" dirty="0">
                <a:solidFill>
                  <a:srgbClr val="000000"/>
                </a:solidFill>
                <a:latin typeface="NimbusRomNo9L-Regu"/>
              </a:rPr>
              <a:t>ludes</a:t>
            </a:r>
            <a:r>
              <a:rPr lang="en-US" sz="1200" b="0" i="0" dirty="0">
                <a:solidFill>
                  <a:srgbClr val="000000"/>
                </a:solidFill>
                <a:effectLst/>
                <a:latin typeface="NimbusRomNo9L-Regu"/>
              </a:rPr>
              <a:t> </a:t>
            </a:r>
            <a:r>
              <a:rPr lang="en-US" sz="1200" b="0" i="1" dirty="0">
                <a:solidFill>
                  <a:srgbClr val="000000"/>
                </a:solidFill>
                <a:effectLst/>
                <a:latin typeface="NimbusRomNo9L-ReguItal"/>
              </a:rPr>
              <a:t>Runtime Value Table </a:t>
            </a:r>
            <a:r>
              <a:rPr lang="en-US" sz="1200" b="0" i="0" dirty="0">
                <a:solidFill>
                  <a:srgbClr val="000000"/>
                </a:solidFill>
                <a:effectLst/>
                <a:latin typeface="NimbusRomNo9L-Regu"/>
              </a:rPr>
              <a:t>to track the mapping between the</a:t>
            </a:r>
            <a:br>
              <a:rPr lang="en-US" sz="1200" b="0" i="0" dirty="0">
                <a:solidFill>
                  <a:srgbClr val="000000"/>
                </a:solidFill>
                <a:effectLst/>
                <a:latin typeface="NimbusRomNo9L-Regu"/>
              </a:rPr>
            </a:br>
            <a:r>
              <a:rPr lang="en-US" sz="1200" b="0" i="0" dirty="0">
                <a:solidFill>
                  <a:srgbClr val="000000"/>
                </a:solidFill>
                <a:effectLst/>
                <a:latin typeface="NimbusRomNo9L-Regu"/>
              </a:rPr>
              <a:t>identifiers and the values.</a:t>
            </a:r>
            <a:r>
              <a:rPr lang="en-US" dirty="0"/>
              <a:t> </a:t>
            </a:r>
            <a:endParaRPr lang="en-IN" dirty="0"/>
          </a:p>
          <a:p>
            <a:endParaRPr lang="en-IN" dirty="0"/>
          </a:p>
        </p:txBody>
      </p:sp>
      <p:sp>
        <p:nvSpPr>
          <p:cNvPr id="4" name="Slide Number Placeholder 3"/>
          <p:cNvSpPr>
            <a:spLocks noGrp="1"/>
          </p:cNvSpPr>
          <p:nvPr>
            <p:ph type="sldNum" sz="quarter" idx="5"/>
          </p:nvPr>
        </p:nvSpPr>
        <p:spPr/>
        <p:txBody>
          <a:bodyPr/>
          <a:lstStyle/>
          <a:p>
            <a:fld id="{0A5141A9-D75B-44AE-8031-D107FF41031A}" type="slidenum">
              <a:rPr lang="en-IN" smtClean="0"/>
              <a:t>20</a:t>
            </a:fld>
            <a:endParaRPr lang="en-IN"/>
          </a:p>
        </p:txBody>
      </p:sp>
    </p:spTree>
    <p:extLst>
      <p:ext uri="{BB962C8B-B14F-4D97-AF65-F5344CB8AC3E}">
        <p14:creationId xmlns:p14="http://schemas.microsoft.com/office/powerpoint/2010/main" val="24937395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NimbusRomNo9L-Regu"/>
              </a:rPr>
              <a:t>Given a basic block ID, the TSIR VM fetches all the TSIR instructions from the corresponding  basic block and replays them. It tracks the usage of memory</a:t>
            </a:r>
            <a:br>
              <a:rPr lang="en-US" sz="1800" b="0" i="0" dirty="0">
                <a:solidFill>
                  <a:srgbClr val="000000"/>
                </a:solidFill>
                <a:effectLst/>
                <a:latin typeface="NimbusRomNo9L-Regu"/>
              </a:rPr>
            </a:br>
            <a:r>
              <a:rPr lang="en-US" sz="1800" b="0" i="0" dirty="0">
                <a:solidFill>
                  <a:srgbClr val="000000"/>
                </a:solidFill>
                <a:effectLst/>
                <a:latin typeface="NimbusRomNo9L-Regu"/>
              </a:rPr>
              <a:t>buffer and propagate the taint tags among the virtual registers and memory blocks</a:t>
            </a:r>
            <a:r>
              <a:rPr lang="en-US" dirty="0"/>
              <a:t> . </a:t>
            </a:r>
            <a:r>
              <a:rPr lang="en-US" sz="1800" b="0" i="0" dirty="0">
                <a:solidFill>
                  <a:srgbClr val="000000"/>
                </a:solidFill>
                <a:effectLst/>
                <a:latin typeface="NimbusRomNo9L-Regu"/>
              </a:rPr>
              <a:t>The </a:t>
            </a:r>
            <a:r>
              <a:rPr lang="en-US" sz="1800" b="0" i="1" dirty="0">
                <a:solidFill>
                  <a:srgbClr val="000000"/>
                </a:solidFill>
                <a:effectLst/>
                <a:latin typeface="NimbusRomNo9L-ReguItal"/>
              </a:rPr>
              <a:t>Virtual Register Table </a:t>
            </a:r>
            <a:r>
              <a:rPr lang="en-US" sz="1800" b="0" i="0" dirty="0">
                <a:solidFill>
                  <a:srgbClr val="000000"/>
                </a:solidFill>
                <a:effectLst/>
                <a:latin typeface="NimbusRomNo9L-Regu"/>
              </a:rPr>
              <a:t>stores the states of virtual registers</a:t>
            </a:r>
            <a:br>
              <a:rPr lang="en-US" sz="1800" b="0" i="0" dirty="0">
                <a:solidFill>
                  <a:srgbClr val="000000"/>
                </a:solidFill>
                <a:effectLst/>
                <a:latin typeface="NimbusRomNo9L-Regu"/>
              </a:rPr>
            </a:br>
            <a:r>
              <a:rPr lang="en-US" sz="1800" b="0" i="0" dirty="0">
                <a:solidFill>
                  <a:srgbClr val="000000"/>
                </a:solidFill>
                <a:effectLst/>
                <a:latin typeface="NimbusRomNo9L-Regu"/>
              </a:rPr>
              <a:t>in the function scope. </a:t>
            </a:r>
            <a:r>
              <a:rPr lang="en-US" sz="1800" b="0" i="1" dirty="0">
                <a:solidFill>
                  <a:srgbClr val="000000"/>
                </a:solidFill>
                <a:effectLst/>
                <a:latin typeface="NimbusRomNo9L-ReguItal"/>
              </a:rPr>
              <a:t>Virtual Stack </a:t>
            </a:r>
            <a:r>
              <a:rPr lang="en-US" sz="1800" b="0" i="0" dirty="0">
                <a:solidFill>
                  <a:srgbClr val="000000"/>
                </a:solidFill>
                <a:effectLst/>
                <a:latin typeface="NimbusRomNo9L-Regu"/>
              </a:rPr>
              <a:t>tracks all the memory blocks allocated by the </a:t>
            </a:r>
            <a:r>
              <a:rPr lang="en-US" sz="1800" b="0" i="0" dirty="0">
                <a:solidFill>
                  <a:srgbClr val="000000"/>
                </a:solidFill>
                <a:effectLst/>
                <a:latin typeface="NimbusMonL-Regu"/>
              </a:rPr>
              <a:t>MEMALLOC_STACK </a:t>
            </a:r>
            <a:r>
              <a:rPr lang="en-US" sz="1800" b="0" i="0" dirty="0">
                <a:solidFill>
                  <a:srgbClr val="000000"/>
                </a:solidFill>
                <a:effectLst/>
                <a:latin typeface="NimbusRomNo9L-Regu"/>
              </a:rPr>
              <a:t>instruction in the function scope</a:t>
            </a:r>
            <a:r>
              <a:rPr lang="en-US" dirty="0"/>
              <a:t> .</a:t>
            </a:r>
          </a:p>
          <a:p>
            <a:endParaRPr lang="en-US" dirty="0"/>
          </a:p>
          <a:p>
            <a:r>
              <a:rPr lang="en-US" sz="1800" b="0" i="0" dirty="0">
                <a:solidFill>
                  <a:srgbClr val="000000"/>
                </a:solidFill>
                <a:effectLst/>
                <a:latin typeface="NimbusRomNo9L-Regu"/>
              </a:rPr>
              <a:t>The TSIR VM propagates the taint tags associated with the operands of TSIR instructions during</a:t>
            </a:r>
            <a:br>
              <a:rPr lang="en-US" sz="1800" b="0" i="0" dirty="0">
                <a:solidFill>
                  <a:srgbClr val="000000"/>
                </a:solidFill>
                <a:effectLst/>
                <a:latin typeface="NimbusRomNo9L-Regu"/>
              </a:rPr>
            </a:br>
            <a:r>
              <a:rPr lang="en-US" sz="1800" b="0" i="0" dirty="0">
                <a:solidFill>
                  <a:srgbClr val="000000"/>
                </a:solidFill>
                <a:effectLst/>
                <a:latin typeface="NimbusRomNo9L-Regu"/>
              </a:rPr>
              <a:t>the replay. The taint tags can either be encoded as a 32-bit integer or kept in a hash map. In the 32-bit integer encoding,</a:t>
            </a:r>
            <a:br>
              <a:rPr lang="en-US" sz="1800" b="0" i="0" dirty="0">
                <a:solidFill>
                  <a:srgbClr val="000000"/>
                </a:solidFill>
                <a:effectLst/>
                <a:latin typeface="NimbusRomNo9L-Regu"/>
              </a:rPr>
            </a:br>
            <a:r>
              <a:rPr lang="en-US" sz="1800" b="0" i="0" dirty="0">
                <a:solidFill>
                  <a:srgbClr val="000000"/>
                </a:solidFill>
                <a:effectLst/>
                <a:latin typeface="NimbusRomNo9L-Regu"/>
              </a:rPr>
              <a:t>each bit represents a tag so there can be up to 32 tags. The</a:t>
            </a:r>
            <a:br>
              <a:rPr lang="en-US" sz="1800" b="0" i="0" dirty="0">
                <a:solidFill>
                  <a:srgbClr val="000000"/>
                </a:solidFill>
                <a:effectLst/>
                <a:latin typeface="NimbusRomNo9L-Regu"/>
              </a:rPr>
            </a:br>
            <a:r>
              <a:rPr lang="en-US" sz="1800" b="0" i="0" dirty="0">
                <a:solidFill>
                  <a:srgbClr val="000000"/>
                </a:solidFill>
                <a:effectLst/>
                <a:latin typeface="NimbusRomNo9L-Regu"/>
              </a:rPr>
              <a:t>first 16 bits are reserved for virtual file descriptors and the last</a:t>
            </a:r>
            <a:br>
              <a:rPr lang="en-US" sz="1800" b="0" i="0" dirty="0">
                <a:solidFill>
                  <a:srgbClr val="000000"/>
                </a:solidFill>
                <a:effectLst/>
                <a:latin typeface="NimbusRomNo9L-Regu"/>
              </a:rPr>
            </a:br>
            <a:r>
              <a:rPr lang="en-US" sz="1800" b="0" i="0" dirty="0">
                <a:solidFill>
                  <a:srgbClr val="000000"/>
                </a:solidFill>
                <a:effectLst/>
                <a:latin typeface="NimbusRomNo9L-Regu"/>
              </a:rPr>
              <a:t>16 bits are available for general uses.</a:t>
            </a:r>
            <a:r>
              <a:rPr lang="en-US" dirty="0"/>
              <a:t> </a:t>
            </a:r>
            <a:br>
              <a:rPr lang="en-US" dirty="0"/>
            </a:br>
            <a:br>
              <a:rPr lang="en-US" dirty="0"/>
            </a:br>
            <a:br>
              <a:rPr lang="en-US" dirty="0"/>
            </a:br>
            <a:endParaRPr lang="en-IN" dirty="0"/>
          </a:p>
        </p:txBody>
      </p:sp>
      <p:sp>
        <p:nvSpPr>
          <p:cNvPr id="4" name="Slide Number Placeholder 3"/>
          <p:cNvSpPr>
            <a:spLocks noGrp="1"/>
          </p:cNvSpPr>
          <p:nvPr>
            <p:ph type="sldNum" sz="quarter" idx="5"/>
          </p:nvPr>
        </p:nvSpPr>
        <p:spPr/>
        <p:txBody>
          <a:bodyPr/>
          <a:lstStyle/>
          <a:p>
            <a:fld id="{0A5141A9-D75B-44AE-8031-D107FF41031A}" type="slidenum">
              <a:rPr lang="en-IN" smtClean="0"/>
              <a:t>21</a:t>
            </a:fld>
            <a:endParaRPr lang="en-IN"/>
          </a:p>
        </p:txBody>
      </p:sp>
    </p:spTree>
    <p:extLst>
      <p:ext uri="{BB962C8B-B14F-4D97-AF65-F5344CB8AC3E}">
        <p14:creationId xmlns:p14="http://schemas.microsoft.com/office/powerpoint/2010/main" val="6767034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NimbusRomNo9L-Regu"/>
              </a:rPr>
              <a:t>When TSIR VM encounters a </a:t>
            </a:r>
            <a:r>
              <a:rPr lang="en-US" sz="1800" b="0" i="0" dirty="0">
                <a:solidFill>
                  <a:srgbClr val="000000"/>
                </a:solidFill>
                <a:effectLst/>
                <a:latin typeface="NimbusMonL-Regu"/>
              </a:rPr>
              <a:t>TAGQUERY </a:t>
            </a:r>
            <a:r>
              <a:rPr lang="en-US" sz="1800" b="0" i="0" dirty="0">
                <a:solidFill>
                  <a:srgbClr val="000000"/>
                </a:solidFill>
                <a:effectLst/>
                <a:latin typeface="NimbusRomNo9L-Regu"/>
              </a:rPr>
              <a:t>instruction, it will check if the given region contains the tag of interest.</a:t>
            </a:r>
            <a:br>
              <a:rPr lang="en-US" sz="1800" b="0" i="0" dirty="0">
                <a:solidFill>
                  <a:srgbClr val="000000"/>
                </a:solidFill>
                <a:effectLst/>
                <a:latin typeface="NimbusRomNo9L-Regu"/>
              </a:rPr>
            </a:br>
            <a:r>
              <a:rPr lang="en-US" sz="1800" b="0" i="0" dirty="0">
                <a:solidFill>
                  <a:srgbClr val="000000"/>
                </a:solidFill>
                <a:effectLst/>
                <a:latin typeface="NimbusRomNo9L-Regu"/>
              </a:rPr>
              <a:t>The result will be passed back to the IFT runtime, which is blocked at a corresponding call to </a:t>
            </a:r>
            <a:r>
              <a:rPr lang="en-US" sz="1800" b="0" i="0" dirty="0" err="1">
                <a:solidFill>
                  <a:srgbClr val="000000"/>
                </a:solidFill>
                <a:effectLst/>
                <a:latin typeface="NimbusRomNo9L-Regu"/>
              </a:rPr>
              <a:t>to</a:t>
            </a:r>
            <a:r>
              <a:rPr lang="en-US" sz="1800" b="0" i="0" dirty="0">
                <a:solidFill>
                  <a:srgbClr val="000000"/>
                </a:solidFill>
                <a:effectLst/>
                <a:latin typeface="NimbusRomNo9L-Regu"/>
              </a:rPr>
              <a:t> </a:t>
            </a:r>
            <a:r>
              <a:rPr lang="en-US" sz="1800" b="0" i="0" dirty="0" err="1">
                <a:solidFill>
                  <a:srgbClr val="000000"/>
                </a:solidFill>
                <a:effectLst/>
                <a:latin typeface="NimbusMonL-Regu"/>
              </a:rPr>
              <a:t>has_tag</a:t>
            </a:r>
            <a:r>
              <a:rPr lang="en-US" sz="1800" b="0" i="0" dirty="0">
                <a:solidFill>
                  <a:srgbClr val="000000"/>
                </a:solidFill>
                <a:effectLst/>
                <a:latin typeface="NimbusMonL-Regu"/>
              </a:rPr>
              <a:t>() </a:t>
            </a:r>
            <a:r>
              <a:rPr lang="en-US" sz="1800" b="0" i="0" dirty="0">
                <a:solidFill>
                  <a:srgbClr val="000000"/>
                </a:solidFill>
                <a:effectLst/>
                <a:latin typeface="NimbusRomNo9L-Regu"/>
              </a:rPr>
              <a:t>waiting for the check result. </a:t>
            </a:r>
            <a:br>
              <a:rPr lang="en-US" dirty="0"/>
            </a:br>
            <a:endParaRPr lang="en-IN" dirty="0"/>
          </a:p>
        </p:txBody>
      </p:sp>
      <p:sp>
        <p:nvSpPr>
          <p:cNvPr id="4" name="Slide Number Placeholder 3"/>
          <p:cNvSpPr>
            <a:spLocks noGrp="1"/>
          </p:cNvSpPr>
          <p:nvPr>
            <p:ph type="sldNum" sz="quarter" idx="5"/>
          </p:nvPr>
        </p:nvSpPr>
        <p:spPr/>
        <p:txBody>
          <a:bodyPr/>
          <a:lstStyle/>
          <a:p>
            <a:fld id="{0A5141A9-D75B-44AE-8031-D107FF41031A}" type="slidenum">
              <a:rPr lang="en-IN" smtClean="0"/>
              <a:t>22</a:t>
            </a:fld>
            <a:endParaRPr lang="en-IN"/>
          </a:p>
        </p:txBody>
      </p:sp>
    </p:spTree>
    <p:extLst>
      <p:ext uri="{BB962C8B-B14F-4D97-AF65-F5344CB8AC3E}">
        <p14:creationId xmlns:p14="http://schemas.microsoft.com/office/powerpoint/2010/main" val="33622468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NimbusRomNo9L-Regu"/>
              </a:rPr>
              <a:t>To confirm the applicability of MIT in production environment, we used a variety of target programs including</a:t>
            </a:r>
            <a:br>
              <a:rPr lang="en-US" sz="1800" b="0" i="0" dirty="0">
                <a:solidFill>
                  <a:srgbClr val="000000"/>
                </a:solidFill>
                <a:effectLst/>
                <a:latin typeface="NimbusRomNo9L-Regu"/>
              </a:rPr>
            </a:br>
            <a:r>
              <a:rPr lang="en-US" sz="1800" b="0" i="0" dirty="0">
                <a:solidFill>
                  <a:srgbClr val="000000"/>
                </a:solidFill>
                <a:effectLst/>
                <a:latin typeface="NimbusRomNo9L-Regu"/>
              </a:rPr>
              <a:t>common Unix command-line utilities, server programs, and benchmarks in SPEC CPU2017 [5] to evaluate its runtime overhead</a:t>
            </a:r>
            <a:r>
              <a:rPr lang="en-US" dirty="0"/>
              <a:t> . </a:t>
            </a:r>
            <a:r>
              <a:rPr lang="en-US" sz="1800" b="0" i="0" dirty="0">
                <a:solidFill>
                  <a:srgbClr val="000000"/>
                </a:solidFill>
                <a:effectLst/>
                <a:latin typeface="NimbusRomNo9L-Regu"/>
              </a:rPr>
              <a:t>The experiments were conducted on</a:t>
            </a:r>
            <a:br>
              <a:rPr lang="en-US" sz="1800" b="0" i="0" dirty="0">
                <a:solidFill>
                  <a:srgbClr val="000000"/>
                </a:solidFill>
                <a:effectLst/>
                <a:latin typeface="NimbusRomNo9L-Regu"/>
              </a:rPr>
            </a:br>
            <a:r>
              <a:rPr lang="en-US" sz="1800" b="0" i="0" dirty="0">
                <a:solidFill>
                  <a:srgbClr val="000000"/>
                </a:solidFill>
                <a:effectLst/>
                <a:latin typeface="NimbusRomNo9L-Regu"/>
              </a:rPr>
              <a:t>a machine equipped with Intel Core i7-3770 processor and 16GB of RAM, running Ubuntu Linux 16.04.</a:t>
            </a:r>
            <a:r>
              <a:rPr lang="en-US" dirty="0"/>
              <a:t> </a:t>
            </a:r>
          </a:p>
          <a:p>
            <a:r>
              <a:rPr lang="en-US" sz="1800" b="0" i="0" dirty="0">
                <a:solidFill>
                  <a:srgbClr val="000000"/>
                </a:solidFill>
                <a:effectLst/>
                <a:latin typeface="NimbusRomNo9L-Regu"/>
              </a:rPr>
              <a:t>five common Unix command-line utilities, which are GNU</a:t>
            </a:r>
            <a:br>
              <a:rPr lang="en-US" sz="1800" b="0" i="0" dirty="0">
                <a:solidFill>
                  <a:srgbClr val="000000"/>
                </a:solidFill>
                <a:effectLst/>
                <a:latin typeface="NimbusRomNo9L-Regu"/>
              </a:rPr>
            </a:br>
            <a:r>
              <a:rPr lang="en-US" sz="1800" b="0" i="0" dirty="0">
                <a:solidFill>
                  <a:srgbClr val="000000"/>
                </a:solidFill>
                <a:effectLst/>
                <a:latin typeface="NimbusRomNo9L-Regu"/>
              </a:rPr>
              <a:t>versions of </a:t>
            </a:r>
            <a:r>
              <a:rPr lang="en-US" sz="1800" b="0" i="0" dirty="0" err="1">
                <a:solidFill>
                  <a:srgbClr val="000000"/>
                </a:solidFill>
                <a:effectLst/>
                <a:latin typeface="NimbusMonL-Regu"/>
              </a:rPr>
              <a:t>wget</a:t>
            </a:r>
            <a:r>
              <a:rPr lang="en-US" sz="1800" b="0" i="0" dirty="0">
                <a:solidFill>
                  <a:srgbClr val="000000"/>
                </a:solidFill>
                <a:effectLst/>
                <a:latin typeface="NimbusRomNo9L-Regu"/>
              </a:rPr>
              <a:t>, </a:t>
            </a:r>
            <a:r>
              <a:rPr lang="en-US" sz="1800" b="0" i="0" dirty="0">
                <a:solidFill>
                  <a:srgbClr val="000000"/>
                </a:solidFill>
                <a:effectLst/>
                <a:latin typeface="NimbusMonL-Regu"/>
              </a:rPr>
              <a:t>tar</a:t>
            </a:r>
            <a:r>
              <a:rPr lang="en-US" sz="1800" b="0" i="0" dirty="0">
                <a:solidFill>
                  <a:srgbClr val="000000"/>
                </a:solidFill>
                <a:effectLst/>
                <a:latin typeface="NimbusRomNo9L-Regu"/>
              </a:rPr>
              <a:t>, </a:t>
            </a:r>
            <a:r>
              <a:rPr lang="en-US" sz="1800" b="0" i="0" dirty="0" err="1">
                <a:solidFill>
                  <a:srgbClr val="000000"/>
                </a:solidFill>
                <a:effectLst/>
                <a:latin typeface="NimbusMonL-Regu"/>
              </a:rPr>
              <a:t>gzip</a:t>
            </a:r>
            <a:r>
              <a:rPr lang="en-US" sz="1800" b="0" i="0" dirty="0">
                <a:solidFill>
                  <a:srgbClr val="000000"/>
                </a:solidFill>
                <a:effectLst/>
                <a:latin typeface="NimbusMonL-Regu"/>
              </a:rPr>
              <a:t> </a:t>
            </a:r>
            <a:r>
              <a:rPr lang="en-US" sz="1800" b="0" i="0" dirty="0">
                <a:solidFill>
                  <a:srgbClr val="000000"/>
                </a:solidFill>
                <a:effectLst/>
                <a:latin typeface="NimbusRomNo9L-Regu"/>
              </a:rPr>
              <a:t>and </a:t>
            </a:r>
            <a:r>
              <a:rPr lang="en-US" sz="1800" b="0" i="0" dirty="0">
                <a:solidFill>
                  <a:srgbClr val="000000"/>
                </a:solidFill>
                <a:effectLst/>
                <a:latin typeface="NimbusMonL-Regu"/>
              </a:rPr>
              <a:t>md5sum</a:t>
            </a:r>
            <a:r>
              <a:rPr lang="en-US" sz="1800" b="0" i="0" dirty="0">
                <a:solidFill>
                  <a:srgbClr val="000000"/>
                </a:solidFill>
                <a:effectLst/>
                <a:latin typeface="NimbusRomNo9L-Regu"/>
              </a:rPr>
              <a:t>, </a:t>
            </a:r>
            <a:r>
              <a:rPr lang="en-US" sz="1800" b="0" i="0" dirty="0">
                <a:solidFill>
                  <a:srgbClr val="000000"/>
                </a:solidFill>
                <a:effectLst/>
                <a:latin typeface="NimbusMonL-Regu"/>
              </a:rPr>
              <a:t>sha256sum </a:t>
            </a:r>
            <a:r>
              <a:rPr lang="en-US" sz="1800" b="0" i="0" dirty="0">
                <a:solidFill>
                  <a:srgbClr val="000000"/>
                </a:solidFill>
                <a:effectLst/>
                <a:latin typeface="NimbusRomNo9L-Regu"/>
              </a:rPr>
              <a:t>from </a:t>
            </a:r>
            <a:r>
              <a:rPr lang="en-US" sz="1800" b="0" i="0" dirty="0" err="1">
                <a:solidFill>
                  <a:srgbClr val="000000"/>
                </a:solidFill>
                <a:effectLst/>
                <a:latin typeface="NimbusMonL-Regu"/>
              </a:rPr>
              <a:t>coreutils</a:t>
            </a:r>
            <a:r>
              <a:rPr lang="en-US" sz="1800" b="0" i="0" dirty="0">
                <a:solidFill>
                  <a:srgbClr val="000000"/>
                </a:solidFill>
                <a:effectLst/>
                <a:latin typeface="NimbusRomNo9L-Regu"/>
              </a:rPr>
              <a:t>.</a:t>
            </a:r>
            <a:r>
              <a:rPr lang="en-US" dirty="0"/>
              <a:t> </a:t>
            </a:r>
            <a:br>
              <a:rPr lang="en-US" dirty="0"/>
            </a:br>
            <a:br>
              <a:rPr lang="en-US" dirty="0"/>
            </a:br>
            <a:br>
              <a:rPr lang="en-US" dirty="0"/>
            </a:br>
            <a:endParaRPr lang="en-IN" dirty="0"/>
          </a:p>
        </p:txBody>
      </p:sp>
      <p:sp>
        <p:nvSpPr>
          <p:cNvPr id="4" name="Slide Number Placeholder 3"/>
          <p:cNvSpPr>
            <a:spLocks noGrp="1"/>
          </p:cNvSpPr>
          <p:nvPr>
            <p:ph type="sldNum" sz="quarter" idx="5"/>
          </p:nvPr>
        </p:nvSpPr>
        <p:spPr/>
        <p:txBody>
          <a:bodyPr/>
          <a:lstStyle/>
          <a:p>
            <a:fld id="{FE7B7C01-7AD7-474B-8FDF-43D35E9BBBBE}" type="slidenum">
              <a:rPr lang="en-US" smtClean="0"/>
              <a:t>23</a:t>
            </a:fld>
            <a:endParaRPr lang="en-US"/>
          </a:p>
        </p:txBody>
      </p:sp>
    </p:spTree>
    <p:extLst>
      <p:ext uri="{BB962C8B-B14F-4D97-AF65-F5344CB8AC3E}">
        <p14:creationId xmlns:p14="http://schemas.microsoft.com/office/powerpoint/2010/main" val="8261553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NimbusRomNo9L-Regu"/>
              </a:rPr>
              <a:t>We can see that MIT instrumentation imposes negligible performance overhead on </a:t>
            </a:r>
            <a:r>
              <a:rPr lang="en-US" sz="1800" b="0" i="0" dirty="0" err="1">
                <a:solidFill>
                  <a:srgbClr val="000000"/>
                </a:solidFill>
                <a:effectLst/>
                <a:latin typeface="NimbusMonL-Regu"/>
              </a:rPr>
              <a:t>wget</a:t>
            </a:r>
            <a:r>
              <a:rPr lang="en-US" sz="1800" b="0" i="0" dirty="0">
                <a:solidFill>
                  <a:srgbClr val="000000"/>
                </a:solidFill>
                <a:effectLst/>
                <a:latin typeface="NimbusRomNo9L-Regu"/>
              </a:rPr>
              <a:t>, </a:t>
            </a:r>
            <a:r>
              <a:rPr lang="en-US" sz="1800" b="0" i="0" dirty="0">
                <a:solidFill>
                  <a:srgbClr val="000000"/>
                </a:solidFill>
                <a:effectLst/>
                <a:latin typeface="NimbusMonL-Regu"/>
              </a:rPr>
              <a:t>tar</a:t>
            </a:r>
            <a:r>
              <a:rPr lang="en-US" sz="1800" b="0" i="0" dirty="0">
                <a:solidFill>
                  <a:srgbClr val="000000"/>
                </a:solidFill>
                <a:effectLst/>
                <a:latin typeface="NimbusRomNo9L-Regu"/>
              </a:rPr>
              <a:t>, </a:t>
            </a:r>
            <a:r>
              <a:rPr lang="en-US" sz="1800" b="0" i="0" dirty="0">
                <a:solidFill>
                  <a:srgbClr val="000000"/>
                </a:solidFill>
                <a:effectLst/>
                <a:latin typeface="NimbusMonL-Regu"/>
              </a:rPr>
              <a:t>md5sum </a:t>
            </a:r>
            <a:r>
              <a:rPr lang="en-US" sz="1800" b="0" i="0" dirty="0">
                <a:solidFill>
                  <a:srgbClr val="000000"/>
                </a:solidFill>
                <a:effectLst/>
                <a:latin typeface="NimbusRomNo9L-Regu"/>
              </a:rPr>
              <a:t>and</a:t>
            </a:r>
            <a:br>
              <a:rPr lang="en-US" sz="1800" b="0" i="0" dirty="0">
                <a:solidFill>
                  <a:srgbClr val="000000"/>
                </a:solidFill>
                <a:effectLst/>
                <a:latin typeface="NimbusRomNo9L-Regu"/>
              </a:rPr>
            </a:br>
            <a:r>
              <a:rPr lang="en-US" sz="1800" b="0" i="0" dirty="0">
                <a:solidFill>
                  <a:srgbClr val="000000"/>
                </a:solidFill>
                <a:effectLst/>
                <a:latin typeface="NimbusMonL-Regu"/>
              </a:rPr>
              <a:t>sha256sum</a:t>
            </a:r>
            <a:r>
              <a:rPr lang="en-US" sz="1800" b="0" i="0" dirty="0">
                <a:solidFill>
                  <a:srgbClr val="000000"/>
                </a:solidFill>
                <a:effectLst/>
                <a:latin typeface="NimbusRomNo9L-Regu"/>
              </a:rPr>
              <a:t>. However, for </a:t>
            </a:r>
            <a:r>
              <a:rPr lang="en-US" sz="1800" b="0" i="0" dirty="0" err="1">
                <a:solidFill>
                  <a:srgbClr val="000000"/>
                </a:solidFill>
                <a:effectLst/>
                <a:latin typeface="NimbusMonL-Regu"/>
              </a:rPr>
              <a:t>gzip</a:t>
            </a:r>
            <a:r>
              <a:rPr lang="en-US" sz="1800" b="0" i="0" dirty="0">
                <a:solidFill>
                  <a:srgbClr val="000000"/>
                </a:solidFill>
                <a:effectLst/>
                <a:latin typeface="NimbusRomNo9L-Regu"/>
              </a:rPr>
              <a:t>, the slowdowns with respect to both the elapsed time and the CPU time are around 3x to 4x.</a:t>
            </a:r>
            <a:br>
              <a:rPr lang="en-US" sz="1800" b="0" i="0" dirty="0">
                <a:solidFill>
                  <a:srgbClr val="000000"/>
                </a:solidFill>
                <a:effectLst/>
                <a:latin typeface="NimbusRomNo9L-Regu"/>
              </a:rPr>
            </a:br>
            <a:r>
              <a:rPr lang="en-US" sz="1800" b="0" i="0" dirty="0">
                <a:solidFill>
                  <a:srgbClr val="000000"/>
                </a:solidFill>
                <a:effectLst/>
                <a:latin typeface="NimbusRomNo9L-Regu"/>
              </a:rPr>
              <a:t>This slowdown on CPU time indicates that the instrumented code is consuming a significant portion of the CPU time.</a:t>
            </a:r>
            <a:br>
              <a:rPr lang="en-US" sz="1800" b="0" i="0" dirty="0">
                <a:solidFill>
                  <a:srgbClr val="000000"/>
                </a:solidFill>
                <a:effectLst/>
                <a:latin typeface="NimbusRomNo9L-Regu"/>
              </a:rPr>
            </a:br>
            <a:r>
              <a:rPr lang="en-US" sz="1800" b="0" i="0" dirty="0">
                <a:solidFill>
                  <a:srgbClr val="000000"/>
                </a:solidFill>
                <a:effectLst/>
                <a:latin typeface="NimbusRomNo9L-Regu"/>
              </a:rPr>
              <a:t>This is because the execution of </a:t>
            </a:r>
            <a:r>
              <a:rPr lang="en-US" sz="1800" b="0" i="0" dirty="0" err="1">
                <a:solidFill>
                  <a:srgbClr val="000000"/>
                </a:solidFill>
                <a:effectLst/>
                <a:latin typeface="NimbusMonL-Regu"/>
              </a:rPr>
              <a:t>gzip</a:t>
            </a:r>
            <a:r>
              <a:rPr lang="en-US" sz="1800" b="0" i="0" dirty="0">
                <a:solidFill>
                  <a:srgbClr val="000000"/>
                </a:solidFill>
                <a:effectLst/>
                <a:latin typeface="NimbusMonL-Regu"/>
              </a:rPr>
              <a:t> </a:t>
            </a:r>
            <a:r>
              <a:rPr lang="en-US" sz="1800" b="0" i="0" dirty="0">
                <a:solidFill>
                  <a:srgbClr val="000000"/>
                </a:solidFill>
                <a:effectLst/>
                <a:latin typeface="NimbusRomNo9L-Regu"/>
              </a:rPr>
              <a:t>involves very frequent control flow switches</a:t>
            </a:r>
            <a:r>
              <a:rPr lang="en-US" dirty="0"/>
              <a:t> </a:t>
            </a:r>
            <a:br>
              <a:rPr lang="en-US" dirty="0"/>
            </a:br>
            <a:endParaRPr lang="en-IN" dirty="0"/>
          </a:p>
        </p:txBody>
      </p:sp>
      <p:sp>
        <p:nvSpPr>
          <p:cNvPr id="4" name="Slide Number Placeholder 3"/>
          <p:cNvSpPr>
            <a:spLocks noGrp="1"/>
          </p:cNvSpPr>
          <p:nvPr>
            <p:ph type="sldNum" sz="quarter" idx="5"/>
          </p:nvPr>
        </p:nvSpPr>
        <p:spPr/>
        <p:txBody>
          <a:bodyPr/>
          <a:lstStyle/>
          <a:p>
            <a:fld id="{FE7B7C01-7AD7-474B-8FDF-43D35E9BBBBE}" type="slidenum">
              <a:rPr lang="en-US" smtClean="0"/>
              <a:t>24</a:t>
            </a:fld>
            <a:endParaRPr lang="en-US"/>
          </a:p>
        </p:txBody>
      </p:sp>
    </p:spTree>
    <p:extLst>
      <p:ext uri="{BB962C8B-B14F-4D97-AF65-F5344CB8AC3E}">
        <p14:creationId xmlns:p14="http://schemas.microsoft.com/office/powerpoint/2010/main" val="12759550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NimbusRomNo9L-Regu"/>
              </a:rPr>
              <a:t>In this experiment, we tested MIT with four server programs including </a:t>
            </a:r>
            <a:r>
              <a:rPr lang="en-US" sz="1800" b="0" i="0" dirty="0" err="1">
                <a:solidFill>
                  <a:srgbClr val="000000"/>
                </a:solidFill>
                <a:effectLst/>
                <a:latin typeface="NimbusMonL-Regu"/>
              </a:rPr>
              <a:t>Lighttpd</a:t>
            </a:r>
            <a:r>
              <a:rPr lang="en-US" sz="1800" b="0" i="0" dirty="0">
                <a:solidFill>
                  <a:srgbClr val="000000"/>
                </a:solidFill>
                <a:effectLst/>
                <a:latin typeface="NimbusRomNo9L-Regu"/>
              </a:rPr>
              <a:t>, </a:t>
            </a:r>
            <a:r>
              <a:rPr lang="en-US" sz="1800" b="0" i="0" dirty="0">
                <a:solidFill>
                  <a:srgbClr val="000000"/>
                </a:solidFill>
                <a:effectLst/>
                <a:latin typeface="NimbusMonL-Regu"/>
              </a:rPr>
              <a:t>Nginx</a:t>
            </a:r>
            <a:r>
              <a:rPr lang="en-US" sz="1800" b="0" i="0" dirty="0">
                <a:solidFill>
                  <a:srgbClr val="000000"/>
                </a:solidFill>
                <a:effectLst/>
                <a:latin typeface="NimbusRomNo9L-Regu"/>
              </a:rPr>
              <a:t>, </a:t>
            </a:r>
            <a:r>
              <a:rPr lang="en-US" sz="1800" b="0" i="0" dirty="0">
                <a:solidFill>
                  <a:srgbClr val="000000"/>
                </a:solidFill>
                <a:effectLst/>
                <a:latin typeface="NimbusMonL-Regu"/>
              </a:rPr>
              <a:t>Redis</a:t>
            </a:r>
            <a:r>
              <a:rPr lang="en-US" sz="1800" b="0" i="0" dirty="0">
                <a:solidFill>
                  <a:srgbClr val="000000"/>
                </a:solidFill>
                <a:effectLst/>
                <a:latin typeface="NimbusRomNo9L-Regu"/>
              </a:rPr>
              <a:t>, and </a:t>
            </a:r>
            <a:r>
              <a:rPr lang="en-US" sz="1800" b="0" i="0" dirty="0">
                <a:solidFill>
                  <a:srgbClr val="000000"/>
                </a:solidFill>
                <a:effectLst/>
                <a:latin typeface="NimbusMonL-Regu"/>
              </a:rPr>
              <a:t>Memcached</a:t>
            </a:r>
            <a:r>
              <a:rPr lang="en-US" sz="1800" b="0" i="0" dirty="0">
                <a:solidFill>
                  <a:srgbClr val="000000"/>
                </a:solidFill>
                <a:effectLst/>
                <a:latin typeface="NimbusRomNo9L-Regu"/>
              </a:rPr>
              <a:t>.</a:t>
            </a:r>
            <a:r>
              <a:rPr lang="en-US" dirty="0"/>
              <a:t> </a:t>
            </a:r>
            <a:r>
              <a:rPr lang="en-US" sz="1800" b="0" i="0" dirty="0">
                <a:solidFill>
                  <a:srgbClr val="000000"/>
                </a:solidFill>
                <a:effectLst/>
                <a:latin typeface="NimbusRomNo9L-Regu"/>
              </a:rPr>
              <a:t>Fig. illustrates the performance slowdowns</a:t>
            </a:r>
            <a:br>
              <a:rPr lang="en-US" sz="1800" b="0" i="0" dirty="0">
                <a:solidFill>
                  <a:srgbClr val="000000"/>
                </a:solidFill>
                <a:effectLst/>
                <a:latin typeface="NimbusRomNo9L-Regu"/>
              </a:rPr>
            </a:br>
            <a:r>
              <a:rPr lang="en-US" sz="1800" b="0" i="0" dirty="0">
                <a:solidFill>
                  <a:srgbClr val="000000"/>
                </a:solidFill>
                <a:effectLst/>
                <a:latin typeface="NimbusRomNo9L-Regu"/>
              </a:rPr>
              <a:t>for these server programs. Overall, the performance overheads are negligible. The worst case is with </a:t>
            </a:r>
            <a:r>
              <a:rPr lang="en-US" sz="1800" b="0" i="0" dirty="0">
                <a:solidFill>
                  <a:srgbClr val="000000"/>
                </a:solidFill>
                <a:effectLst/>
                <a:latin typeface="NimbusMonL-Regu"/>
              </a:rPr>
              <a:t>Redis</a:t>
            </a:r>
            <a:r>
              <a:rPr lang="en-US" sz="1800" b="0" i="0" dirty="0">
                <a:solidFill>
                  <a:srgbClr val="000000"/>
                </a:solidFill>
                <a:effectLst/>
                <a:latin typeface="NimbusRomNo9L-Regu"/>
              </a:rPr>
              <a:t>, which has 17% overhead.</a:t>
            </a:r>
            <a:r>
              <a:rPr lang="en-US" dirty="0"/>
              <a:t> </a:t>
            </a:r>
            <a:br>
              <a:rPr lang="en-US" dirty="0"/>
            </a:br>
            <a:br>
              <a:rPr lang="en-US" dirty="0"/>
            </a:br>
            <a:endParaRPr lang="en-IN" dirty="0"/>
          </a:p>
        </p:txBody>
      </p:sp>
      <p:sp>
        <p:nvSpPr>
          <p:cNvPr id="4" name="Slide Number Placeholder 3"/>
          <p:cNvSpPr>
            <a:spLocks noGrp="1"/>
          </p:cNvSpPr>
          <p:nvPr>
            <p:ph type="sldNum" sz="quarter" idx="5"/>
          </p:nvPr>
        </p:nvSpPr>
        <p:spPr/>
        <p:txBody>
          <a:bodyPr/>
          <a:lstStyle/>
          <a:p>
            <a:fld id="{FE7B7C01-7AD7-474B-8FDF-43D35E9BBBBE}" type="slidenum">
              <a:rPr lang="en-US" smtClean="0"/>
              <a:t>25</a:t>
            </a:fld>
            <a:endParaRPr lang="en-US"/>
          </a:p>
        </p:txBody>
      </p:sp>
    </p:spTree>
    <p:extLst>
      <p:ext uri="{BB962C8B-B14F-4D97-AF65-F5344CB8AC3E}">
        <p14:creationId xmlns:p14="http://schemas.microsoft.com/office/powerpoint/2010/main" val="25102003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1" dirty="0">
                <a:solidFill>
                  <a:srgbClr val="000000"/>
                </a:solidFill>
                <a:effectLst/>
                <a:latin typeface="NimbusRomNo9L-ReguItal"/>
              </a:rPr>
              <a:t>Log Level: </a:t>
            </a:r>
            <a:r>
              <a:rPr lang="en-US" sz="1800" b="0" i="0" dirty="0">
                <a:solidFill>
                  <a:srgbClr val="000000"/>
                </a:solidFill>
                <a:effectLst/>
                <a:latin typeface="NimbusRomNo9L-Regu"/>
              </a:rPr>
              <a:t>MIT provides four log level settings for runtime value logging  as discussed before. we used </a:t>
            </a:r>
            <a:r>
              <a:rPr lang="en-US" sz="1800" b="0" i="0" dirty="0" err="1">
                <a:solidFill>
                  <a:srgbClr val="000000"/>
                </a:solidFill>
                <a:effectLst/>
                <a:latin typeface="NimbusMonL-Regu"/>
              </a:rPr>
              <a:t>gzip</a:t>
            </a:r>
            <a:r>
              <a:rPr lang="en-US" sz="1800" b="0" i="0" dirty="0">
                <a:solidFill>
                  <a:srgbClr val="000000"/>
                </a:solidFill>
                <a:effectLst/>
                <a:latin typeface="NimbusMonL-Regu"/>
              </a:rPr>
              <a:t> </a:t>
            </a:r>
            <a:r>
              <a:rPr lang="en-US" sz="1800" b="0" i="0" dirty="0">
                <a:solidFill>
                  <a:srgbClr val="000000"/>
                </a:solidFill>
                <a:effectLst/>
                <a:latin typeface="NimbusRomNo9L-Regu"/>
              </a:rPr>
              <a:t>to demonstrate how the log level settings</a:t>
            </a:r>
            <a:br>
              <a:rPr lang="en-US" sz="1800" b="0" i="0" dirty="0">
                <a:solidFill>
                  <a:srgbClr val="000000"/>
                </a:solidFill>
                <a:effectLst/>
                <a:latin typeface="NimbusRomNo9L-Regu"/>
              </a:rPr>
            </a:br>
            <a:r>
              <a:rPr lang="en-US" sz="1800" b="0" i="0" dirty="0">
                <a:solidFill>
                  <a:srgbClr val="000000"/>
                </a:solidFill>
                <a:effectLst/>
                <a:latin typeface="NimbusRomNo9L-Regu"/>
              </a:rPr>
              <a:t>affect the performance overhead. Fig.  gives the elapsed time slowdown and the CPU time slowdown for each log level. We</a:t>
            </a:r>
            <a:br>
              <a:rPr lang="en-US" sz="1800" b="0" i="0" dirty="0">
                <a:solidFill>
                  <a:srgbClr val="000000"/>
                </a:solidFill>
                <a:effectLst/>
                <a:latin typeface="NimbusRomNo9L-Regu"/>
              </a:rPr>
            </a:br>
            <a:r>
              <a:rPr lang="en-US" sz="1800" b="0" i="0" dirty="0">
                <a:solidFill>
                  <a:srgbClr val="000000"/>
                </a:solidFill>
                <a:effectLst/>
                <a:latin typeface="NimbusRomNo9L-Regu"/>
              </a:rPr>
              <a:t>can see that the default log level 3 is a reasonable choice as it only incurs a little extra slowdown over level 1, and compared</a:t>
            </a:r>
            <a:br>
              <a:rPr lang="en-US" sz="1800" b="0" i="0" dirty="0">
                <a:solidFill>
                  <a:srgbClr val="000000"/>
                </a:solidFill>
                <a:effectLst/>
                <a:latin typeface="NimbusRomNo9L-Regu"/>
              </a:rPr>
            </a:br>
            <a:r>
              <a:rPr lang="en-US" sz="1800" b="0" i="0" dirty="0">
                <a:solidFill>
                  <a:srgbClr val="000000"/>
                </a:solidFill>
                <a:effectLst/>
                <a:latin typeface="NimbusRomNo9L-Regu"/>
              </a:rPr>
              <a:t>with level 4.</a:t>
            </a:r>
            <a:endParaRPr lang="en-IN" dirty="0"/>
          </a:p>
        </p:txBody>
      </p:sp>
      <p:sp>
        <p:nvSpPr>
          <p:cNvPr id="4" name="Slide Number Placeholder 3"/>
          <p:cNvSpPr>
            <a:spLocks noGrp="1"/>
          </p:cNvSpPr>
          <p:nvPr>
            <p:ph type="sldNum" sz="quarter" idx="5"/>
          </p:nvPr>
        </p:nvSpPr>
        <p:spPr/>
        <p:txBody>
          <a:bodyPr/>
          <a:lstStyle/>
          <a:p>
            <a:fld id="{FE7B7C01-7AD7-474B-8FDF-43D35E9BBBBE}" type="slidenum">
              <a:rPr lang="en-US" smtClean="0"/>
              <a:t>26</a:t>
            </a:fld>
            <a:endParaRPr lang="en-US"/>
          </a:p>
        </p:txBody>
      </p:sp>
    </p:spTree>
    <p:extLst>
      <p:ext uri="{BB962C8B-B14F-4D97-AF65-F5344CB8AC3E}">
        <p14:creationId xmlns:p14="http://schemas.microsoft.com/office/powerpoint/2010/main" val="14294614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NimbusRomNo9L-Regu"/>
              </a:rPr>
              <a:t>We can see that the CPU time slowdowns are around 2x-7x. For </a:t>
            </a:r>
            <a:r>
              <a:rPr lang="en-US" sz="1800" b="0" i="0" dirty="0" err="1">
                <a:solidFill>
                  <a:srgbClr val="000000"/>
                </a:solidFill>
                <a:effectLst/>
                <a:latin typeface="NimbusMonL-Regu"/>
              </a:rPr>
              <a:t>mcf_s</a:t>
            </a:r>
            <a:r>
              <a:rPr lang="en-US" sz="1800" b="0" i="0" dirty="0">
                <a:solidFill>
                  <a:srgbClr val="000000"/>
                </a:solidFill>
                <a:effectLst/>
                <a:latin typeface="NimbusRomNo9L-Regu"/>
              </a:rPr>
              <a:t>, </a:t>
            </a:r>
            <a:r>
              <a:rPr lang="en-US" sz="1800" b="0" i="0" dirty="0" err="1">
                <a:solidFill>
                  <a:srgbClr val="000000"/>
                </a:solidFill>
                <a:effectLst/>
                <a:latin typeface="NimbusMonL-Regu"/>
              </a:rPr>
              <a:t>omnetpp_s</a:t>
            </a:r>
            <a:r>
              <a:rPr lang="en-US" sz="1800" b="0" i="0" dirty="0">
                <a:solidFill>
                  <a:srgbClr val="000000"/>
                </a:solidFill>
                <a:effectLst/>
                <a:latin typeface="NimbusRomNo9L-Regu"/>
              </a:rPr>
              <a:t>, and </a:t>
            </a:r>
            <a:r>
              <a:rPr lang="en-US" sz="1800" b="0" i="0" dirty="0" err="1">
                <a:solidFill>
                  <a:srgbClr val="000000"/>
                </a:solidFill>
                <a:effectLst/>
                <a:latin typeface="NimbusMonL-Regu"/>
              </a:rPr>
              <a:t>leela_s</a:t>
            </a:r>
            <a:r>
              <a:rPr lang="en-US" sz="1800" b="0" i="0" dirty="0">
                <a:solidFill>
                  <a:srgbClr val="000000"/>
                </a:solidFill>
                <a:effectLst/>
                <a:latin typeface="NimbusRomNo9L-Regu"/>
              </a:rPr>
              <a:t>, the elapsed time slowdowns are</a:t>
            </a:r>
            <a:r>
              <a:rPr lang="en-US" dirty="0"/>
              <a:t> </a:t>
            </a:r>
            <a:r>
              <a:rPr lang="en-US" sz="1800" b="0" i="0" dirty="0">
                <a:solidFill>
                  <a:srgbClr val="000000"/>
                </a:solidFill>
                <a:effectLst/>
                <a:latin typeface="NimbusRomNo9L-Regu"/>
              </a:rPr>
              <a:t>on par with the CPU time slowdowns. However, for </a:t>
            </a:r>
            <a:r>
              <a:rPr lang="en-US" sz="1800" b="0" i="0" dirty="0" err="1">
                <a:solidFill>
                  <a:srgbClr val="000000"/>
                </a:solidFill>
                <a:effectLst/>
                <a:latin typeface="NimbusMonL-Regu"/>
              </a:rPr>
              <a:t>lbm_r</a:t>
            </a:r>
            <a:r>
              <a:rPr lang="en-US" sz="1800" b="0" i="0" dirty="0">
                <a:solidFill>
                  <a:srgbClr val="000000"/>
                </a:solidFill>
                <a:effectLst/>
                <a:latin typeface="NimbusMonL-Regu"/>
              </a:rPr>
              <a:t> </a:t>
            </a:r>
            <a:r>
              <a:rPr lang="en-US" sz="1800" b="0" i="0" dirty="0">
                <a:solidFill>
                  <a:srgbClr val="000000"/>
                </a:solidFill>
                <a:effectLst/>
                <a:latin typeface="NimbusRomNo9L-Regu"/>
              </a:rPr>
              <a:t>and </a:t>
            </a:r>
            <a:r>
              <a:rPr lang="en-US" sz="1800" b="0" i="0" dirty="0" err="1">
                <a:solidFill>
                  <a:srgbClr val="000000"/>
                </a:solidFill>
                <a:effectLst/>
                <a:latin typeface="NimbusMonL-Regu"/>
              </a:rPr>
              <a:t>namd_R</a:t>
            </a:r>
            <a:r>
              <a:rPr lang="en-US" sz="1800" b="0" i="0" dirty="0">
                <a:solidFill>
                  <a:srgbClr val="000000"/>
                </a:solidFill>
                <a:effectLst/>
                <a:latin typeface="NimbusRomNo9L-Regu"/>
              </a:rPr>
              <a:t>, the elapsed time slowdowns jump to 13x and 25x respectively. This is because their log throughputs reached beyond the disk I/O throughput.</a:t>
            </a:r>
            <a:r>
              <a:rPr lang="en-US" dirty="0"/>
              <a:t> </a:t>
            </a:r>
            <a:br>
              <a:rPr lang="en-US" dirty="0"/>
            </a:br>
            <a:br>
              <a:rPr lang="en-US" dirty="0"/>
            </a:br>
            <a:endParaRPr lang="en-IN" dirty="0"/>
          </a:p>
        </p:txBody>
      </p:sp>
      <p:sp>
        <p:nvSpPr>
          <p:cNvPr id="4" name="Slide Number Placeholder 3"/>
          <p:cNvSpPr>
            <a:spLocks noGrp="1"/>
          </p:cNvSpPr>
          <p:nvPr>
            <p:ph type="sldNum" sz="quarter" idx="5"/>
          </p:nvPr>
        </p:nvSpPr>
        <p:spPr/>
        <p:txBody>
          <a:bodyPr/>
          <a:lstStyle/>
          <a:p>
            <a:fld id="{FE7B7C01-7AD7-474B-8FDF-43D35E9BBBBE}" type="slidenum">
              <a:rPr lang="en-US" smtClean="0"/>
              <a:t>27</a:t>
            </a:fld>
            <a:endParaRPr lang="en-US"/>
          </a:p>
        </p:txBody>
      </p:sp>
    </p:spTree>
    <p:extLst>
      <p:ext uri="{BB962C8B-B14F-4D97-AF65-F5344CB8AC3E}">
        <p14:creationId xmlns:p14="http://schemas.microsoft.com/office/powerpoint/2010/main" val="18696597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NimbusRomNo9L-Regu"/>
              </a:rPr>
              <a:t>Information flow of accessing the sensitive HTML document via homepage URL</a:t>
            </a:r>
            <a:r>
              <a:rPr lang="en-US" dirty="0"/>
              <a:t> was detected . Anomaly detected with effective info flow tracking with MIT. </a:t>
            </a:r>
            <a:r>
              <a:rPr lang="en-US" sz="1800" b="0" i="0" dirty="0">
                <a:solidFill>
                  <a:srgbClr val="000000"/>
                </a:solidFill>
                <a:effectLst/>
                <a:latin typeface="NimbusRomNo9L-Regu"/>
              </a:rPr>
              <a:t>In this experiment, considered a possible misconfiguration in </a:t>
            </a:r>
            <a:r>
              <a:rPr lang="en-US" sz="1800" b="0" i="0" dirty="0" err="1">
                <a:solidFill>
                  <a:srgbClr val="000000"/>
                </a:solidFill>
                <a:effectLst/>
                <a:latin typeface="NimbusMonL-Regu"/>
              </a:rPr>
              <a:t>lighttpd</a:t>
            </a:r>
            <a:r>
              <a:rPr lang="en-US" sz="1800" b="0" i="0" dirty="0">
                <a:solidFill>
                  <a:srgbClr val="000000"/>
                </a:solidFill>
                <a:effectLst/>
                <a:latin typeface="NimbusRomNo9L-Regu"/>
              </a:rPr>
              <a:t>, where a </a:t>
            </a:r>
            <a:r>
              <a:rPr lang="en-US" sz="1800" b="0" i="0" dirty="0" err="1">
                <a:solidFill>
                  <a:srgbClr val="000000"/>
                </a:solidFill>
                <a:effectLst/>
                <a:latin typeface="NimbusRomNo9L-Regu"/>
              </a:rPr>
              <a:t>passwordprotected</a:t>
            </a:r>
            <a:r>
              <a:rPr lang="en-US" sz="1800" b="0" i="0" dirty="0">
                <a:solidFill>
                  <a:srgbClr val="000000"/>
                </a:solidFill>
                <a:effectLst/>
                <a:latin typeface="NimbusRomNo9L-Regu"/>
              </a:rPr>
              <a:t> URL is mistakenly set as the homepage of the website. Clients will be able to access a sensitive HTML document at the protected URL freely without authentication by accessing the homepage URL</a:t>
            </a:r>
            <a:r>
              <a:rPr lang="en-US" dirty="0"/>
              <a:t> </a:t>
            </a:r>
            <a:br>
              <a:rPr lang="en-US" dirty="0"/>
            </a:br>
            <a:br>
              <a:rPr lang="en-US" dirty="0"/>
            </a:br>
            <a:endParaRPr lang="en-IN" dirty="0"/>
          </a:p>
        </p:txBody>
      </p:sp>
      <p:sp>
        <p:nvSpPr>
          <p:cNvPr id="4" name="Slide Number Placeholder 3"/>
          <p:cNvSpPr>
            <a:spLocks noGrp="1"/>
          </p:cNvSpPr>
          <p:nvPr>
            <p:ph type="sldNum" sz="quarter" idx="5"/>
          </p:nvPr>
        </p:nvSpPr>
        <p:spPr/>
        <p:txBody>
          <a:bodyPr/>
          <a:lstStyle/>
          <a:p>
            <a:fld id="{FE7B7C01-7AD7-474B-8FDF-43D35E9BBBBE}" type="slidenum">
              <a:rPr lang="en-US" smtClean="0"/>
              <a:t>28</a:t>
            </a:fld>
            <a:endParaRPr lang="en-US"/>
          </a:p>
        </p:txBody>
      </p:sp>
    </p:spTree>
    <p:extLst>
      <p:ext uri="{BB962C8B-B14F-4D97-AF65-F5344CB8AC3E}">
        <p14:creationId xmlns:p14="http://schemas.microsoft.com/office/powerpoint/2010/main" val="34302569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that MIT is the mixed mode, but at the same time it decouples DIFT from IFA. The compile time IFA is used well during replay phase since Runtime values, execution trace </a:t>
            </a:r>
            <a:r>
              <a:rPr lang="en-US" dirty="0" err="1"/>
              <a:t>etc</a:t>
            </a:r>
            <a:r>
              <a:rPr lang="en-US" dirty="0"/>
              <a:t> are the inputs to replay. </a:t>
            </a:r>
          </a:p>
          <a:p>
            <a:r>
              <a:rPr lang="en-US" dirty="0"/>
              <a:t>Since we use </a:t>
            </a:r>
            <a:r>
              <a:rPr lang="en-US" dirty="0" err="1"/>
              <a:t>llvm</a:t>
            </a:r>
            <a:r>
              <a:rPr lang="en-US" dirty="0"/>
              <a:t> &amp; </a:t>
            </a:r>
            <a:r>
              <a:rPr lang="en-US" dirty="0" err="1"/>
              <a:t>tsir</a:t>
            </a:r>
            <a:r>
              <a:rPr lang="en-US" dirty="0"/>
              <a:t>, they are language independent &amp; architecture independent. Experimental results have proved that MIT significantly reduces performance overhead and can be deployed in online production environment with byte-level granularity.</a:t>
            </a:r>
            <a:endParaRPr lang="en-IN" dirty="0"/>
          </a:p>
        </p:txBody>
      </p:sp>
      <p:sp>
        <p:nvSpPr>
          <p:cNvPr id="4" name="Slide Number Placeholder 3"/>
          <p:cNvSpPr>
            <a:spLocks noGrp="1"/>
          </p:cNvSpPr>
          <p:nvPr>
            <p:ph type="sldNum" sz="quarter" idx="5"/>
          </p:nvPr>
        </p:nvSpPr>
        <p:spPr/>
        <p:txBody>
          <a:bodyPr/>
          <a:lstStyle/>
          <a:p>
            <a:fld id="{0A5141A9-D75B-44AE-8031-D107FF41031A}" type="slidenum">
              <a:rPr lang="en-IN" smtClean="0"/>
              <a:t>29</a:t>
            </a:fld>
            <a:endParaRPr lang="en-IN"/>
          </a:p>
        </p:txBody>
      </p:sp>
    </p:spTree>
    <p:extLst>
      <p:ext uri="{BB962C8B-B14F-4D97-AF65-F5344CB8AC3E}">
        <p14:creationId xmlns:p14="http://schemas.microsoft.com/office/powerpoint/2010/main" val="32470787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scope is that we may still reduce overhead by again loop </a:t>
            </a:r>
            <a:r>
              <a:rPr lang="en-US" dirty="0" err="1"/>
              <a:t>optimisations</a:t>
            </a:r>
            <a:r>
              <a:rPr lang="en-US" dirty="0"/>
              <a:t> and keeping single branch as target at each time. We may also think of developing a library for compile time analysis. Implicit flows are avoided (except phi) In MIT. We may extend to implicit flows too. Relay performance can be increased by using any compiled language. Many exploits can be performed such as stack overflow attack </a:t>
            </a:r>
            <a:r>
              <a:rPr lang="en-US" dirty="0" err="1"/>
              <a:t>etc</a:t>
            </a:r>
            <a:r>
              <a:rPr lang="en-US" dirty="0"/>
              <a:t> for vulnerability detection</a:t>
            </a:r>
            <a:endParaRPr lang="en-IN" dirty="0"/>
          </a:p>
        </p:txBody>
      </p:sp>
      <p:sp>
        <p:nvSpPr>
          <p:cNvPr id="4" name="Slide Number Placeholder 3"/>
          <p:cNvSpPr>
            <a:spLocks noGrp="1"/>
          </p:cNvSpPr>
          <p:nvPr>
            <p:ph type="sldNum" sz="quarter" idx="5"/>
          </p:nvPr>
        </p:nvSpPr>
        <p:spPr/>
        <p:txBody>
          <a:bodyPr/>
          <a:lstStyle/>
          <a:p>
            <a:fld id="{0A5141A9-D75B-44AE-8031-D107FF41031A}" type="slidenum">
              <a:rPr lang="en-IN" smtClean="0"/>
              <a:t>30</a:t>
            </a:fld>
            <a:endParaRPr lang="en-IN"/>
          </a:p>
        </p:txBody>
      </p:sp>
    </p:spTree>
    <p:extLst>
      <p:ext uri="{BB962C8B-B14F-4D97-AF65-F5344CB8AC3E}">
        <p14:creationId xmlns:p14="http://schemas.microsoft.com/office/powerpoint/2010/main" val="1147419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1/20/2021</a:t>
            </a:fld>
            <a:endParaRPr lang="en-US"/>
          </a:p>
        </p:txBody>
      </p:sp>
      <p:sp>
        <p:nvSpPr>
          <p:cNvPr id="6" name="Holder 6"/>
          <p:cNvSpPr>
            <a:spLocks noGrp="1"/>
          </p:cNvSpPr>
          <p:nvPr>
            <p:ph type="sldNum" sz="quarter" idx="7"/>
          </p:nvPr>
        </p:nvSpPr>
        <p:spPr/>
        <p:txBody>
          <a:bodyPr lIns="0" tIns="0" rIns="0" bIns="0"/>
          <a:lstStyle>
            <a:lvl1pPr>
              <a:defRPr sz="1600" b="0" i="0">
                <a:solidFill>
                  <a:schemeClr val="bg1"/>
                </a:solidFill>
                <a:latin typeface="Comic Sans MS"/>
                <a:cs typeface="Comic Sans MS"/>
              </a:defRPr>
            </a:lvl1pPr>
          </a:lstStyle>
          <a:p>
            <a:pPr marL="12700">
              <a:lnSpc>
                <a:spcPct val="100000"/>
              </a:lnSpc>
              <a:spcBef>
                <a:spcPts val="260"/>
              </a:spcBef>
            </a:pPr>
            <a:r>
              <a:rPr dirty="0"/>
              <a:t>Page</a:t>
            </a:r>
            <a:r>
              <a:rPr spc="-75" dirty="0"/>
              <a:t> </a:t>
            </a: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Comic Sans MS"/>
                <a:cs typeface="Comic Sans MS"/>
              </a:defRPr>
            </a:lvl1pPr>
          </a:lstStyle>
          <a:p>
            <a:endParaRPr/>
          </a:p>
        </p:txBody>
      </p:sp>
      <p:sp>
        <p:nvSpPr>
          <p:cNvPr id="3" name="Holder 3"/>
          <p:cNvSpPr>
            <a:spLocks noGrp="1"/>
          </p:cNvSpPr>
          <p:nvPr>
            <p:ph type="body" idx="1"/>
          </p:nvPr>
        </p:nvSpPr>
        <p:spPr/>
        <p:txBody>
          <a:bodyPr lIns="0" tIns="0" rIns="0" bIns="0"/>
          <a:lstStyle>
            <a:lvl1pPr>
              <a:defRPr sz="1400" b="0" i="0">
                <a:solidFill>
                  <a:srgbClr val="2731F9"/>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1/20/2021</a:t>
            </a:fld>
            <a:endParaRPr lang="en-US"/>
          </a:p>
        </p:txBody>
      </p:sp>
      <p:sp>
        <p:nvSpPr>
          <p:cNvPr id="6" name="Holder 6"/>
          <p:cNvSpPr>
            <a:spLocks noGrp="1"/>
          </p:cNvSpPr>
          <p:nvPr>
            <p:ph type="sldNum" sz="quarter" idx="7"/>
          </p:nvPr>
        </p:nvSpPr>
        <p:spPr/>
        <p:txBody>
          <a:bodyPr lIns="0" tIns="0" rIns="0" bIns="0"/>
          <a:lstStyle>
            <a:lvl1pPr>
              <a:defRPr sz="1600" b="0" i="0">
                <a:solidFill>
                  <a:schemeClr val="bg1"/>
                </a:solidFill>
                <a:latin typeface="Comic Sans MS"/>
                <a:cs typeface="Comic Sans MS"/>
              </a:defRPr>
            </a:lvl1pPr>
          </a:lstStyle>
          <a:p>
            <a:pPr marL="12700">
              <a:lnSpc>
                <a:spcPct val="100000"/>
              </a:lnSpc>
              <a:spcBef>
                <a:spcPts val="260"/>
              </a:spcBef>
            </a:pPr>
            <a:r>
              <a:rPr dirty="0"/>
              <a:t>Page</a:t>
            </a:r>
            <a:r>
              <a:rPr spc="-75" dirty="0"/>
              <a:t> </a:t>
            </a: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Comic Sans MS"/>
                <a:cs typeface="Comic Sans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1/20/2021</a:t>
            </a:fld>
            <a:endParaRPr lang="en-US"/>
          </a:p>
        </p:txBody>
      </p:sp>
      <p:sp>
        <p:nvSpPr>
          <p:cNvPr id="7" name="Holder 7"/>
          <p:cNvSpPr>
            <a:spLocks noGrp="1"/>
          </p:cNvSpPr>
          <p:nvPr>
            <p:ph type="sldNum" sz="quarter" idx="7"/>
          </p:nvPr>
        </p:nvSpPr>
        <p:spPr/>
        <p:txBody>
          <a:bodyPr lIns="0" tIns="0" rIns="0" bIns="0"/>
          <a:lstStyle>
            <a:lvl1pPr>
              <a:defRPr sz="1600" b="0" i="0">
                <a:solidFill>
                  <a:schemeClr val="bg1"/>
                </a:solidFill>
                <a:latin typeface="Comic Sans MS"/>
                <a:cs typeface="Comic Sans MS"/>
              </a:defRPr>
            </a:lvl1pPr>
          </a:lstStyle>
          <a:p>
            <a:pPr marL="12700">
              <a:lnSpc>
                <a:spcPct val="100000"/>
              </a:lnSpc>
              <a:spcBef>
                <a:spcPts val="260"/>
              </a:spcBef>
            </a:pPr>
            <a:r>
              <a:rPr dirty="0"/>
              <a:t>Page</a:t>
            </a:r>
            <a:r>
              <a:rPr spc="-75" dirty="0"/>
              <a:t> </a:t>
            </a: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Comic Sans MS"/>
                <a:cs typeface="Comic Sans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1/20/2021</a:t>
            </a:fld>
            <a:endParaRPr lang="en-US"/>
          </a:p>
        </p:txBody>
      </p:sp>
      <p:sp>
        <p:nvSpPr>
          <p:cNvPr id="5" name="Holder 5"/>
          <p:cNvSpPr>
            <a:spLocks noGrp="1"/>
          </p:cNvSpPr>
          <p:nvPr>
            <p:ph type="sldNum" sz="quarter" idx="7"/>
          </p:nvPr>
        </p:nvSpPr>
        <p:spPr/>
        <p:txBody>
          <a:bodyPr lIns="0" tIns="0" rIns="0" bIns="0"/>
          <a:lstStyle>
            <a:lvl1pPr>
              <a:defRPr sz="1600" b="0" i="0">
                <a:solidFill>
                  <a:schemeClr val="bg1"/>
                </a:solidFill>
                <a:latin typeface="Comic Sans MS"/>
                <a:cs typeface="Comic Sans MS"/>
              </a:defRPr>
            </a:lvl1pPr>
          </a:lstStyle>
          <a:p>
            <a:pPr marL="12700">
              <a:lnSpc>
                <a:spcPct val="100000"/>
              </a:lnSpc>
              <a:spcBef>
                <a:spcPts val="260"/>
              </a:spcBef>
            </a:pPr>
            <a:r>
              <a:rPr dirty="0"/>
              <a:t>Page</a:t>
            </a:r>
            <a:r>
              <a:rPr spc="-75" dirty="0"/>
              <a:t> </a:t>
            </a: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1/20/2021</a:t>
            </a:fld>
            <a:endParaRPr lang="en-US"/>
          </a:p>
        </p:txBody>
      </p:sp>
      <p:sp>
        <p:nvSpPr>
          <p:cNvPr id="4" name="Holder 4"/>
          <p:cNvSpPr>
            <a:spLocks noGrp="1"/>
          </p:cNvSpPr>
          <p:nvPr>
            <p:ph type="sldNum" sz="quarter" idx="7"/>
          </p:nvPr>
        </p:nvSpPr>
        <p:spPr/>
        <p:txBody>
          <a:bodyPr lIns="0" tIns="0" rIns="0" bIns="0"/>
          <a:lstStyle>
            <a:lvl1pPr>
              <a:defRPr sz="1600" b="0" i="0">
                <a:solidFill>
                  <a:schemeClr val="bg1"/>
                </a:solidFill>
                <a:latin typeface="Comic Sans MS"/>
                <a:cs typeface="Comic Sans MS"/>
              </a:defRPr>
            </a:lvl1pPr>
          </a:lstStyle>
          <a:p>
            <a:pPr marL="12700">
              <a:lnSpc>
                <a:spcPct val="100000"/>
              </a:lnSpc>
              <a:spcBef>
                <a:spcPts val="260"/>
              </a:spcBef>
            </a:pPr>
            <a:r>
              <a:rPr dirty="0"/>
              <a:t>Page</a:t>
            </a:r>
            <a:r>
              <a:rPr spc="-75" dirty="0"/>
              <a:t> </a:t>
            </a: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6475615"/>
            <a:ext cx="12192000" cy="382905"/>
          </a:xfrm>
          <a:custGeom>
            <a:avLst/>
            <a:gdLst/>
            <a:ahLst/>
            <a:cxnLst/>
            <a:rect l="l" t="t" r="r" b="b"/>
            <a:pathLst>
              <a:path w="12192000" h="382904">
                <a:moveTo>
                  <a:pt x="0" y="382384"/>
                </a:moveTo>
                <a:lnTo>
                  <a:pt x="12192000" y="382384"/>
                </a:lnTo>
                <a:lnTo>
                  <a:pt x="12192000" y="0"/>
                </a:lnTo>
                <a:lnTo>
                  <a:pt x="0" y="0"/>
                </a:lnTo>
                <a:lnTo>
                  <a:pt x="0" y="382384"/>
                </a:lnTo>
                <a:close/>
              </a:path>
            </a:pathLst>
          </a:custGeom>
          <a:solidFill>
            <a:srgbClr val="00BEF3"/>
          </a:solidFill>
        </p:spPr>
        <p:txBody>
          <a:bodyPr wrap="square" lIns="0" tIns="0" rIns="0" bIns="0" rtlCol="0"/>
          <a:lstStyle/>
          <a:p>
            <a:endParaRPr/>
          </a:p>
        </p:txBody>
      </p:sp>
      <p:sp>
        <p:nvSpPr>
          <p:cNvPr id="17" name="bk object 17"/>
          <p:cNvSpPr/>
          <p:nvPr/>
        </p:nvSpPr>
        <p:spPr>
          <a:xfrm>
            <a:off x="0" y="5"/>
            <a:ext cx="12192000" cy="1064895"/>
          </a:xfrm>
          <a:custGeom>
            <a:avLst/>
            <a:gdLst/>
            <a:ahLst/>
            <a:cxnLst/>
            <a:rect l="l" t="t" r="r" b="b"/>
            <a:pathLst>
              <a:path w="12192000" h="1064895">
                <a:moveTo>
                  <a:pt x="0" y="1064712"/>
                </a:moveTo>
                <a:lnTo>
                  <a:pt x="12192000" y="1064712"/>
                </a:lnTo>
                <a:lnTo>
                  <a:pt x="12192000" y="0"/>
                </a:lnTo>
                <a:lnTo>
                  <a:pt x="0" y="0"/>
                </a:lnTo>
                <a:lnTo>
                  <a:pt x="0" y="1064712"/>
                </a:lnTo>
                <a:close/>
              </a:path>
            </a:pathLst>
          </a:custGeom>
          <a:solidFill>
            <a:srgbClr val="00BEF3"/>
          </a:solidFill>
        </p:spPr>
        <p:txBody>
          <a:bodyPr wrap="square" lIns="0" tIns="0" rIns="0" bIns="0" rtlCol="0"/>
          <a:lstStyle/>
          <a:p>
            <a:endParaRPr/>
          </a:p>
        </p:txBody>
      </p:sp>
      <p:sp>
        <p:nvSpPr>
          <p:cNvPr id="2" name="Holder 2"/>
          <p:cNvSpPr>
            <a:spLocks noGrp="1"/>
          </p:cNvSpPr>
          <p:nvPr>
            <p:ph type="title"/>
          </p:nvPr>
        </p:nvSpPr>
        <p:spPr>
          <a:xfrm>
            <a:off x="972830" y="2177961"/>
            <a:ext cx="10246339" cy="1732279"/>
          </a:xfrm>
          <a:prstGeom prst="rect">
            <a:avLst/>
          </a:prstGeom>
        </p:spPr>
        <p:txBody>
          <a:bodyPr wrap="square" lIns="0" tIns="0" rIns="0" bIns="0">
            <a:spAutoFit/>
          </a:bodyPr>
          <a:lstStyle>
            <a:lvl1pPr>
              <a:defRPr sz="4800" b="1" i="0">
                <a:solidFill>
                  <a:schemeClr val="tx1"/>
                </a:solidFill>
                <a:latin typeface="Comic Sans MS"/>
                <a:cs typeface="Comic Sans MS"/>
              </a:defRPr>
            </a:lvl1pPr>
          </a:lstStyle>
          <a:p>
            <a:endParaRPr/>
          </a:p>
        </p:txBody>
      </p:sp>
      <p:sp>
        <p:nvSpPr>
          <p:cNvPr id="3" name="Holder 3"/>
          <p:cNvSpPr>
            <a:spLocks noGrp="1"/>
          </p:cNvSpPr>
          <p:nvPr>
            <p:ph type="body" idx="1"/>
          </p:nvPr>
        </p:nvSpPr>
        <p:spPr>
          <a:xfrm>
            <a:off x="665885" y="1310081"/>
            <a:ext cx="5419090" cy="1965960"/>
          </a:xfrm>
          <a:prstGeom prst="rect">
            <a:avLst/>
          </a:prstGeom>
        </p:spPr>
        <p:txBody>
          <a:bodyPr wrap="square" lIns="0" tIns="0" rIns="0" bIns="0">
            <a:spAutoFit/>
          </a:bodyPr>
          <a:lstStyle>
            <a:lvl1pPr>
              <a:defRPr sz="1400" b="0" i="0">
                <a:solidFill>
                  <a:srgbClr val="2731F9"/>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1/20/2021</a:t>
            </a:fld>
            <a:endParaRPr lang="en-US"/>
          </a:p>
        </p:txBody>
      </p:sp>
      <p:sp>
        <p:nvSpPr>
          <p:cNvPr id="6" name="Holder 6"/>
          <p:cNvSpPr>
            <a:spLocks noGrp="1"/>
          </p:cNvSpPr>
          <p:nvPr>
            <p:ph type="sldNum" sz="quarter" idx="7"/>
          </p:nvPr>
        </p:nvSpPr>
        <p:spPr>
          <a:xfrm>
            <a:off x="11355247" y="6506369"/>
            <a:ext cx="775970" cy="308609"/>
          </a:xfrm>
          <a:prstGeom prst="rect">
            <a:avLst/>
          </a:prstGeom>
        </p:spPr>
        <p:txBody>
          <a:bodyPr wrap="square" lIns="0" tIns="0" rIns="0" bIns="0">
            <a:spAutoFit/>
          </a:bodyPr>
          <a:lstStyle>
            <a:lvl1pPr>
              <a:defRPr sz="1600" b="0" i="0">
                <a:solidFill>
                  <a:schemeClr val="bg1"/>
                </a:solidFill>
                <a:latin typeface="Comic Sans MS"/>
                <a:cs typeface="Comic Sans MS"/>
              </a:defRPr>
            </a:lvl1pPr>
          </a:lstStyle>
          <a:p>
            <a:pPr marL="12700">
              <a:lnSpc>
                <a:spcPct val="100000"/>
              </a:lnSpc>
              <a:spcBef>
                <a:spcPts val="260"/>
              </a:spcBef>
            </a:pPr>
            <a:r>
              <a:rPr dirty="0"/>
              <a:t>Page</a:t>
            </a:r>
            <a:r>
              <a:rPr spc="-75" dirty="0"/>
              <a:t> </a:t>
            </a: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gif"/><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AEEBBA3F-507F-EF48-9440-928A18C7E7F1}"/>
              </a:ext>
            </a:extLst>
          </p:cNvPr>
          <p:cNvSpPr/>
          <p:nvPr/>
        </p:nvSpPr>
        <p:spPr>
          <a:xfrm>
            <a:off x="34923" y="152400"/>
            <a:ext cx="12104033" cy="763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9" name="Picture 8">
            <a:extLst>
              <a:ext uri="{FF2B5EF4-FFF2-40B4-BE49-F238E27FC236}">
                <a16:creationId xmlns:a16="http://schemas.microsoft.com/office/drawing/2014/main" id="{F3036C58-355D-B94D-865F-4E5F43C225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780" y="1287052"/>
            <a:ext cx="2925109" cy="1040740"/>
          </a:xfrm>
          <a:prstGeom prst="rect">
            <a:avLst/>
          </a:prstGeom>
        </p:spPr>
      </p:pic>
      <p:sp>
        <p:nvSpPr>
          <p:cNvPr id="26" name="TextBox 25">
            <a:extLst>
              <a:ext uri="{FF2B5EF4-FFF2-40B4-BE49-F238E27FC236}">
                <a16:creationId xmlns:a16="http://schemas.microsoft.com/office/drawing/2014/main" id="{5E6A612C-3682-3C4A-954F-F902FA7CE0CF}"/>
              </a:ext>
            </a:extLst>
          </p:cNvPr>
          <p:cNvSpPr txBox="1"/>
          <p:nvPr/>
        </p:nvSpPr>
        <p:spPr>
          <a:xfrm>
            <a:off x="48909" y="4324310"/>
            <a:ext cx="12122258" cy="1138773"/>
          </a:xfrm>
          <a:prstGeom prst="rect">
            <a:avLst/>
          </a:prstGeom>
          <a:noFill/>
        </p:spPr>
        <p:txBody>
          <a:bodyPr wrap="square" rtlCol="0">
            <a:spAutoFit/>
          </a:bodyPr>
          <a:lstStyle/>
          <a:p>
            <a:pPr algn="ctr"/>
            <a:r>
              <a:rPr lang="en-IN" sz="2000" dirty="0">
                <a:latin typeface="Palatino Linotype" panose="02040502050505030304" pitchFamily="18" charset="0"/>
              </a:rPr>
              <a:t>Yu-</a:t>
            </a:r>
            <a:r>
              <a:rPr lang="en-IN" sz="2000" dirty="0" err="1">
                <a:latin typeface="Palatino Linotype" panose="02040502050505030304" pitchFamily="18" charset="0"/>
              </a:rPr>
              <a:t>Hsin</a:t>
            </a:r>
            <a:r>
              <a:rPr lang="en-IN" sz="2000" dirty="0">
                <a:latin typeface="Palatino Linotype" panose="02040502050505030304" pitchFamily="18" charset="0"/>
              </a:rPr>
              <a:t> Hung, Bing-</a:t>
            </a:r>
            <a:r>
              <a:rPr lang="en-IN" sz="2000" dirty="0" err="1">
                <a:latin typeface="Palatino Linotype" panose="02040502050505030304" pitchFamily="18" charset="0"/>
              </a:rPr>
              <a:t>Jhong</a:t>
            </a:r>
            <a:r>
              <a:rPr lang="en-IN" sz="2000" dirty="0">
                <a:latin typeface="Palatino Linotype" panose="02040502050505030304" pitchFamily="18" charset="0"/>
              </a:rPr>
              <a:t> </a:t>
            </a:r>
            <a:r>
              <a:rPr lang="en-IN" sz="2000" dirty="0" err="1">
                <a:latin typeface="Palatino Linotype" panose="02040502050505030304" pitchFamily="18" charset="0"/>
              </a:rPr>
              <a:t>Jheng</a:t>
            </a:r>
            <a:r>
              <a:rPr lang="en-IN" sz="2000" dirty="0">
                <a:latin typeface="Palatino Linotype" panose="02040502050505030304" pitchFamily="18" charset="0"/>
              </a:rPr>
              <a:t>, Hong-Wei Li, Wen-Yang Lai, </a:t>
            </a:r>
            <a:r>
              <a:rPr lang="en-IN" sz="2000" dirty="0" err="1">
                <a:latin typeface="Palatino Linotype" panose="02040502050505030304" pitchFamily="18" charset="0"/>
              </a:rPr>
              <a:t>Sanoop</a:t>
            </a:r>
            <a:r>
              <a:rPr lang="en-IN" sz="2000" dirty="0">
                <a:latin typeface="Palatino Linotype" panose="02040502050505030304" pitchFamily="18" charset="0"/>
              </a:rPr>
              <a:t> </a:t>
            </a:r>
            <a:r>
              <a:rPr lang="en-IN" sz="2000" dirty="0" err="1">
                <a:latin typeface="Palatino Linotype" panose="02040502050505030304" pitchFamily="18" charset="0"/>
              </a:rPr>
              <a:t>Mallissery</a:t>
            </a:r>
            <a:r>
              <a:rPr lang="en-IN" sz="2000" dirty="0">
                <a:latin typeface="Palatino Linotype" panose="02040502050505030304" pitchFamily="18" charset="0"/>
              </a:rPr>
              <a:t>, Yu-Sung Wu </a:t>
            </a:r>
          </a:p>
          <a:p>
            <a:pPr algn="ctr"/>
            <a:r>
              <a:rPr lang="en-US" sz="2400" b="1" dirty="0">
                <a:latin typeface="Palatino Linotype" panose="02040502050505030304" pitchFamily="18" charset="0"/>
              </a:rPr>
              <a:t>Department of Computer Science</a:t>
            </a:r>
          </a:p>
          <a:p>
            <a:pPr algn="ctr"/>
            <a:r>
              <a:rPr lang="en-US" sz="2400" b="1" dirty="0">
                <a:latin typeface="Palatino Linotype" panose="02040502050505030304" pitchFamily="18" charset="0"/>
              </a:rPr>
              <a:t>National </a:t>
            </a:r>
            <a:r>
              <a:rPr lang="en-US" sz="2400" b="1" dirty="0" err="1">
                <a:latin typeface="Palatino Linotype" panose="02040502050505030304" pitchFamily="18" charset="0"/>
              </a:rPr>
              <a:t>Chiao</a:t>
            </a:r>
            <a:r>
              <a:rPr lang="en-US" sz="2400" b="1" dirty="0">
                <a:latin typeface="Palatino Linotype" panose="02040502050505030304" pitchFamily="18" charset="0"/>
              </a:rPr>
              <a:t> Tung University, Hsinchu, Taiwan</a:t>
            </a:r>
          </a:p>
        </p:txBody>
      </p:sp>
      <p:sp>
        <p:nvSpPr>
          <p:cNvPr id="27" name="TextBox 26">
            <a:extLst>
              <a:ext uri="{FF2B5EF4-FFF2-40B4-BE49-F238E27FC236}">
                <a16:creationId xmlns:a16="http://schemas.microsoft.com/office/drawing/2014/main" id="{0325CAC2-A7BA-BE49-A405-4E2C3681CE35}"/>
              </a:ext>
            </a:extLst>
          </p:cNvPr>
          <p:cNvSpPr txBox="1"/>
          <p:nvPr/>
        </p:nvSpPr>
        <p:spPr>
          <a:xfrm>
            <a:off x="7552086" y="5897841"/>
            <a:ext cx="4613764" cy="461665"/>
          </a:xfrm>
          <a:prstGeom prst="rect">
            <a:avLst/>
          </a:prstGeom>
          <a:noFill/>
        </p:spPr>
        <p:txBody>
          <a:bodyPr wrap="none" rtlCol="0">
            <a:spAutoFit/>
          </a:bodyPr>
          <a:lstStyle/>
          <a:p>
            <a:r>
              <a:rPr lang="en-US" sz="2400" dirty="0">
                <a:latin typeface="Palatino Linotype" panose="02040502050505030304" pitchFamily="18" charset="0"/>
              </a:rPr>
              <a:t>Presented by: Sanoop Mallissery</a:t>
            </a:r>
          </a:p>
        </p:txBody>
      </p:sp>
      <p:sp>
        <p:nvSpPr>
          <p:cNvPr id="2" name="TextBox 1">
            <a:extLst>
              <a:ext uri="{FF2B5EF4-FFF2-40B4-BE49-F238E27FC236}">
                <a16:creationId xmlns:a16="http://schemas.microsoft.com/office/drawing/2014/main" id="{20AD838A-872E-4938-81AE-955207BF6FE6}"/>
              </a:ext>
            </a:extLst>
          </p:cNvPr>
          <p:cNvSpPr txBox="1"/>
          <p:nvPr/>
        </p:nvSpPr>
        <p:spPr>
          <a:xfrm>
            <a:off x="1579464" y="2387319"/>
            <a:ext cx="9829800" cy="1754326"/>
          </a:xfrm>
          <a:prstGeom prst="rect">
            <a:avLst/>
          </a:prstGeom>
          <a:noFill/>
        </p:spPr>
        <p:txBody>
          <a:bodyPr wrap="square" rtlCol="0">
            <a:spAutoFit/>
          </a:bodyPr>
          <a:lstStyle/>
          <a:p>
            <a:pPr algn="ctr"/>
            <a:r>
              <a:rPr lang="en-US" sz="3600" b="1" spc="-5" dirty="0">
                <a:latin typeface="Comic Sans MS" panose="030F0902030302020204" pitchFamily="66" charset="0"/>
              </a:rPr>
              <a:t>Mixed-mode Information Flow Tracking With Compile-time Taint Semantics Extraction and  Offline Replay</a:t>
            </a:r>
            <a:endParaRPr lang="en-IN" sz="3600" b="1" spc="-5" dirty="0">
              <a:latin typeface="Comic Sans MS" panose="030F0902030302020204" pitchFamily="66" charset="0"/>
            </a:endParaRPr>
          </a:p>
        </p:txBody>
      </p:sp>
      <p:pic>
        <p:nvPicPr>
          <p:cNvPr id="7" name="Picture 6">
            <a:extLst>
              <a:ext uri="{FF2B5EF4-FFF2-40B4-BE49-F238E27FC236}">
                <a16:creationId xmlns:a16="http://schemas.microsoft.com/office/drawing/2014/main" id="{C9AF76E3-2E85-5D4A-8B3E-D2B55A4F2B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96520" y="1334481"/>
            <a:ext cx="3025738" cy="844392"/>
          </a:xfrm>
          <a:prstGeom prst="rect">
            <a:avLst/>
          </a:prstGeom>
        </p:spPr>
      </p:pic>
      <p:sp>
        <p:nvSpPr>
          <p:cNvPr id="3" name="Rectangle 2">
            <a:extLst>
              <a:ext uri="{FF2B5EF4-FFF2-40B4-BE49-F238E27FC236}">
                <a16:creationId xmlns:a16="http://schemas.microsoft.com/office/drawing/2014/main" id="{4AD62519-AB34-E641-A73B-58D10A4A008E}"/>
              </a:ext>
            </a:extLst>
          </p:cNvPr>
          <p:cNvSpPr/>
          <p:nvPr/>
        </p:nvSpPr>
        <p:spPr>
          <a:xfrm>
            <a:off x="2209800" y="228105"/>
            <a:ext cx="7362680" cy="646331"/>
          </a:xfrm>
          <a:prstGeom prst="rect">
            <a:avLst/>
          </a:prstGeom>
        </p:spPr>
        <p:txBody>
          <a:bodyPr wrap="square">
            <a:spAutoFit/>
          </a:bodyPr>
          <a:lstStyle/>
          <a:p>
            <a:pPr algn="ctr"/>
            <a:r>
              <a:rPr lang="en-US" b="1" dirty="0">
                <a:solidFill>
                  <a:srgbClr val="00B0F0"/>
                </a:solidFill>
                <a:latin typeface="Comic Sans MS" panose="030F0902030302020204" pitchFamily="66" charset="0"/>
              </a:rPr>
              <a:t>The 2021 IEEE Conference on Dependable and Secure Computing, </a:t>
            </a:r>
            <a:r>
              <a:rPr lang="en-US" b="1" dirty="0" err="1">
                <a:solidFill>
                  <a:srgbClr val="00B0F0"/>
                </a:solidFill>
                <a:latin typeface="Comic Sans MS" panose="030F0902030302020204" pitchFamily="66" charset="0"/>
              </a:rPr>
              <a:t>Aizuwakamatsu</a:t>
            </a:r>
            <a:r>
              <a:rPr lang="en-US" b="1" dirty="0">
                <a:solidFill>
                  <a:srgbClr val="00B0F0"/>
                </a:solidFill>
                <a:latin typeface="Comic Sans MS" panose="030F0902030302020204" pitchFamily="66" charset="0"/>
              </a:rPr>
              <a:t>, Fukushima, Japan</a:t>
            </a:r>
          </a:p>
        </p:txBody>
      </p:sp>
      <p:pic>
        <p:nvPicPr>
          <p:cNvPr id="8" name="Picture 7">
            <a:extLst>
              <a:ext uri="{FF2B5EF4-FFF2-40B4-BE49-F238E27FC236}">
                <a16:creationId xmlns:a16="http://schemas.microsoft.com/office/drawing/2014/main" id="{0CA13B52-52DA-4048-9859-815F0C75E3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338" y="152399"/>
            <a:ext cx="2182662" cy="748333"/>
          </a:xfrm>
          <a:prstGeom prst="rect">
            <a:avLst/>
          </a:prstGeom>
        </p:spPr>
      </p:pic>
      <p:pic>
        <p:nvPicPr>
          <p:cNvPr id="11" name="Picture 10">
            <a:extLst>
              <a:ext uri="{FF2B5EF4-FFF2-40B4-BE49-F238E27FC236}">
                <a16:creationId xmlns:a16="http://schemas.microsoft.com/office/drawing/2014/main" id="{F862C65E-4B8C-2846-AFCC-8BAA058E059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535844" y="152399"/>
            <a:ext cx="2568271" cy="747324"/>
          </a:xfrm>
          <a:prstGeom prst="rect">
            <a:avLst/>
          </a:prstGeom>
        </p:spPr>
      </p:pic>
    </p:spTree>
    <p:extLst>
      <p:ext uri="{BB962C8B-B14F-4D97-AF65-F5344CB8AC3E}">
        <p14:creationId xmlns:p14="http://schemas.microsoft.com/office/powerpoint/2010/main" val="2814571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60684-8F31-44B1-B098-25389611E8C2}"/>
              </a:ext>
            </a:extLst>
          </p:cNvPr>
          <p:cNvSpPr>
            <a:spLocks noGrp="1"/>
          </p:cNvSpPr>
          <p:nvPr>
            <p:ph type="title"/>
          </p:nvPr>
        </p:nvSpPr>
        <p:spPr>
          <a:xfrm>
            <a:off x="40661" y="239905"/>
            <a:ext cx="10246339" cy="553998"/>
          </a:xfrm>
        </p:spPr>
        <p:txBody>
          <a:bodyPr/>
          <a:lstStyle/>
          <a:p>
            <a:r>
              <a:rPr lang="en-US" sz="3600" dirty="0"/>
              <a:t>Problem Definition</a:t>
            </a:r>
            <a:endParaRPr lang="en-IN" sz="3600" dirty="0"/>
          </a:p>
        </p:txBody>
      </p:sp>
      <p:sp>
        <p:nvSpPr>
          <p:cNvPr id="3" name="Content Placeholder 2">
            <a:extLst>
              <a:ext uri="{FF2B5EF4-FFF2-40B4-BE49-F238E27FC236}">
                <a16:creationId xmlns:a16="http://schemas.microsoft.com/office/drawing/2014/main" id="{9EE43112-EDDC-4A29-B4DE-16B5C24D4906}"/>
              </a:ext>
            </a:extLst>
          </p:cNvPr>
          <p:cNvSpPr>
            <a:spLocks noGrp="1"/>
          </p:cNvSpPr>
          <p:nvPr>
            <p:ph idx="1"/>
          </p:nvPr>
        </p:nvSpPr>
        <p:spPr>
          <a:xfrm>
            <a:off x="1066800" y="2169289"/>
            <a:ext cx="10439400" cy="2174111"/>
          </a:xfrm>
        </p:spPr>
        <p:txBody>
          <a:bodyPr>
            <a:normAutofit/>
          </a:bodyPr>
          <a:lstStyle/>
          <a:p>
            <a:pPr marL="342900" indent="-342900" algn="just">
              <a:buFont typeface="Wingdings" pitchFamily="2" charset="2"/>
              <a:buChar char="ü"/>
            </a:pPr>
            <a:r>
              <a:rPr lang="en-US" sz="2200" dirty="0">
                <a:solidFill>
                  <a:srgbClr val="000000"/>
                </a:solidFill>
                <a:latin typeface="Comic Sans MS" panose="030F0902030302020204" pitchFamily="66" charset="0"/>
                <a:cs typeface="Calibri" panose="020F0502020204030204" pitchFamily="34" charset="0"/>
              </a:rPr>
              <a:t>To E</a:t>
            </a:r>
            <a:r>
              <a:rPr lang="en-US" sz="2200" i="0" dirty="0">
                <a:solidFill>
                  <a:srgbClr val="000000"/>
                </a:solidFill>
                <a:effectLst/>
                <a:latin typeface="Comic Sans MS" panose="030F0902030302020204" pitchFamily="66" charset="0"/>
                <a:cs typeface="Calibri" panose="020F0502020204030204" pitchFamily="34" charset="0"/>
              </a:rPr>
              <a:t>nsure that sensitive information is securely and properly handled by highly sophisticated Computer </a:t>
            </a:r>
            <a:r>
              <a:rPr lang="en-US" sz="2200" dirty="0">
                <a:solidFill>
                  <a:srgbClr val="000000"/>
                </a:solidFill>
                <a:latin typeface="Comic Sans MS" panose="030F0902030302020204" pitchFamily="66" charset="0"/>
                <a:cs typeface="Calibri" panose="020F0502020204030204" pitchFamily="34" charset="0"/>
              </a:rPr>
              <a:t>A</a:t>
            </a:r>
            <a:r>
              <a:rPr lang="en-US" sz="2200" i="0" dirty="0">
                <a:solidFill>
                  <a:srgbClr val="000000"/>
                </a:solidFill>
                <a:effectLst/>
                <a:latin typeface="Comic Sans MS" panose="030F0902030302020204" pitchFamily="66" charset="0"/>
                <a:cs typeface="Calibri" panose="020F0502020204030204" pitchFamily="34" charset="0"/>
              </a:rPr>
              <a:t>pplications</a:t>
            </a:r>
            <a:r>
              <a:rPr lang="en-US" sz="2200" dirty="0">
                <a:latin typeface="Comic Sans MS" panose="030F0902030302020204" pitchFamily="66" charset="0"/>
                <a:cs typeface="Calibri" panose="020F0502020204030204" pitchFamily="34" charset="0"/>
              </a:rPr>
              <a:t> </a:t>
            </a:r>
          </a:p>
          <a:p>
            <a:pPr marL="342900" indent="-342900" algn="just">
              <a:buFont typeface="Wingdings" pitchFamily="2" charset="2"/>
              <a:buChar char="ü"/>
            </a:pPr>
            <a:endParaRPr lang="en-US" sz="2200" dirty="0">
              <a:solidFill>
                <a:srgbClr val="000000"/>
              </a:solidFill>
              <a:latin typeface="Comic Sans MS" panose="030F0902030302020204" pitchFamily="66" charset="0"/>
              <a:cs typeface="Calibri" panose="020F0502020204030204" pitchFamily="34" charset="0"/>
            </a:endParaRPr>
          </a:p>
          <a:p>
            <a:pPr marL="342900" indent="-342900" algn="just">
              <a:buFont typeface="Wingdings" pitchFamily="2" charset="2"/>
              <a:buChar char="ü"/>
            </a:pPr>
            <a:r>
              <a:rPr lang="en-US" sz="2200" dirty="0">
                <a:solidFill>
                  <a:srgbClr val="000000"/>
                </a:solidFill>
                <a:latin typeface="Comic Sans MS" panose="030F0902030302020204" pitchFamily="66" charset="0"/>
                <a:cs typeface="Calibri" panose="020F0502020204030204" pitchFamily="34" charset="0"/>
              </a:rPr>
              <a:t>I</a:t>
            </a:r>
            <a:r>
              <a:rPr lang="en-US" sz="2200" i="0" dirty="0">
                <a:solidFill>
                  <a:srgbClr val="000000"/>
                </a:solidFill>
                <a:effectLst/>
                <a:latin typeface="Comic Sans MS" panose="030F0902030302020204" pitchFamily="66" charset="0"/>
                <a:cs typeface="Calibri" panose="020F0502020204030204" pitchFamily="34" charset="0"/>
              </a:rPr>
              <a:t>nformation Flow Tracking at byte-granularity and incurs moderate runtime performance overhead in an </a:t>
            </a:r>
            <a:r>
              <a:rPr lang="en-US" sz="2200" dirty="0">
                <a:solidFill>
                  <a:srgbClr val="000000"/>
                </a:solidFill>
                <a:latin typeface="Comic Sans MS" panose="030F0902030302020204" pitchFamily="66" charset="0"/>
                <a:cs typeface="Calibri" panose="020F0502020204030204" pitchFamily="34" charset="0"/>
              </a:rPr>
              <a:t>o</a:t>
            </a:r>
            <a:r>
              <a:rPr lang="en-US" sz="2200" i="0" dirty="0">
                <a:solidFill>
                  <a:srgbClr val="000000"/>
                </a:solidFill>
                <a:effectLst/>
                <a:latin typeface="Comic Sans MS" panose="030F0902030302020204" pitchFamily="66" charset="0"/>
                <a:cs typeface="Calibri" panose="020F0502020204030204" pitchFamily="34" charset="0"/>
              </a:rPr>
              <a:t>nline </a:t>
            </a:r>
            <a:r>
              <a:rPr lang="en-US" sz="2200" dirty="0">
                <a:solidFill>
                  <a:srgbClr val="000000"/>
                </a:solidFill>
                <a:latin typeface="Comic Sans MS" panose="030F0902030302020204" pitchFamily="66" charset="0"/>
                <a:cs typeface="Calibri" panose="020F0502020204030204" pitchFamily="34" charset="0"/>
              </a:rPr>
              <a:t>p</a:t>
            </a:r>
            <a:r>
              <a:rPr lang="en-US" sz="2200" i="0" dirty="0">
                <a:solidFill>
                  <a:srgbClr val="000000"/>
                </a:solidFill>
                <a:effectLst/>
                <a:latin typeface="Comic Sans MS" panose="030F0902030302020204" pitchFamily="66" charset="0"/>
                <a:cs typeface="Calibri" panose="020F0502020204030204" pitchFamily="34" charset="0"/>
              </a:rPr>
              <a:t>roduction environment</a:t>
            </a:r>
            <a:r>
              <a:rPr lang="en-US" sz="2200" dirty="0">
                <a:latin typeface="Comic Sans MS" panose="030F0902030302020204" pitchFamily="66" charset="0"/>
                <a:cs typeface="Calibri" panose="020F0502020204030204" pitchFamily="34" charset="0"/>
              </a:rPr>
              <a:t> </a:t>
            </a:r>
            <a:br>
              <a:rPr lang="en-US" sz="2200" dirty="0">
                <a:latin typeface="Comic Sans MS" panose="030F0902030302020204" pitchFamily="66" charset="0"/>
              </a:rPr>
            </a:br>
            <a:endParaRPr lang="en-US" sz="2200" dirty="0">
              <a:latin typeface="Comic Sans MS" panose="030F0902030302020204" pitchFamily="66" charset="0"/>
            </a:endParaRPr>
          </a:p>
          <a:p>
            <a:pPr marL="0" indent="0" algn="just">
              <a:buNone/>
            </a:pPr>
            <a:endParaRPr lang="en-US" sz="2200" dirty="0">
              <a:latin typeface="Comic Sans MS" panose="030F0902030302020204" pitchFamily="66" charset="0"/>
            </a:endParaRPr>
          </a:p>
        </p:txBody>
      </p:sp>
      <p:sp>
        <p:nvSpPr>
          <p:cNvPr id="4" name="Slide Number Placeholder 3">
            <a:extLst>
              <a:ext uri="{FF2B5EF4-FFF2-40B4-BE49-F238E27FC236}">
                <a16:creationId xmlns:a16="http://schemas.microsoft.com/office/drawing/2014/main" id="{2A7D7BFA-6C2C-496E-8D86-F3A181008BF7}"/>
              </a:ext>
            </a:extLst>
          </p:cNvPr>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2</a:t>
            </a:fld>
            <a:endParaRPr lang="en-US" dirty="0"/>
          </a:p>
        </p:txBody>
      </p:sp>
    </p:spTree>
    <p:extLst>
      <p:ext uri="{BB962C8B-B14F-4D97-AF65-F5344CB8AC3E}">
        <p14:creationId xmlns:p14="http://schemas.microsoft.com/office/powerpoint/2010/main" val="1490642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C767F-C54F-48BA-BCBD-C3535EA0F092}"/>
              </a:ext>
            </a:extLst>
          </p:cNvPr>
          <p:cNvSpPr>
            <a:spLocks noGrp="1"/>
          </p:cNvSpPr>
          <p:nvPr>
            <p:ph type="title"/>
          </p:nvPr>
        </p:nvSpPr>
        <p:spPr>
          <a:xfrm>
            <a:off x="81706" y="217337"/>
            <a:ext cx="4642694" cy="735758"/>
          </a:xfrm>
        </p:spPr>
        <p:txBody>
          <a:bodyPr>
            <a:normAutofit/>
          </a:bodyPr>
          <a:lstStyle/>
          <a:p>
            <a:r>
              <a:rPr lang="en-US" sz="3600" dirty="0"/>
              <a:t>Introduction</a:t>
            </a:r>
            <a:endParaRPr lang="en-IN" sz="3600" dirty="0"/>
          </a:p>
        </p:txBody>
      </p:sp>
      <p:sp>
        <p:nvSpPr>
          <p:cNvPr id="4" name="Slide Number Placeholder 3">
            <a:extLst>
              <a:ext uri="{FF2B5EF4-FFF2-40B4-BE49-F238E27FC236}">
                <a16:creationId xmlns:a16="http://schemas.microsoft.com/office/drawing/2014/main" id="{B3B0E9F7-B6E2-4AF3-8B44-AA024DAD3F05}"/>
              </a:ext>
            </a:extLst>
          </p:cNvPr>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3</a:t>
            </a:fld>
            <a:endParaRPr lang="en-US" dirty="0"/>
          </a:p>
        </p:txBody>
      </p:sp>
      <p:sp>
        <p:nvSpPr>
          <p:cNvPr id="11" name="TextBox 10">
            <a:extLst>
              <a:ext uri="{FF2B5EF4-FFF2-40B4-BE49-F238E27FC236}">
                <a16:creationId xmlns:a16="http://schemas.microsoft.com/office/drawing/2014/main" id="{B680ABA1-CDED-4318-BEA4-D9BEAF25CF4F}"/>
              </a:ext>
            </a:extLst>
          </p:cNvPr>
          <p:cNvSpPr txBox="1"/>
          <p:nvPr/>
        </p:nvSpPr>
        <p:spPr>
          <a:xfrm>
            <a:off x="4639988" y="1363209"/>
            <a:ext cx="7293077" cy="2862322"/>
          </a:xfrm>
          <a:prstGeom prst="rect">
            <a:avLst/>
          </a:prstGeom>
          <a:noFill/>
        </p:spPr>
        <p:txBody>
          <a:bodyPr wrap="square" rtlCol="0">
            <a:spAutoFit/>
          </a:bodyPr>
          <a:lstStyle/>
          <a:p>
            <a:pPr marL="285750" indent="-285750" algn="just">
              <a:buFont typeface="Wingdings" pitchFamily="2" charset="2"/>
              <a:buChar char="ü"/>
            </a:pPr>
            <a:r>
              <a:rPr kumimoji="1" lang="en-US" altLang="zh-TW" dirty="0">
                <a:solidFill>
                  <a:srgbClr val="00B0F0"/>
                </a:solidFill>
                <a:latin typeface="Comic Sans MS" panose="030F0902030302020204" pitchFamily="66" charset="0"/>
              </a:rPr>
              <a:t>Static Taint Analysis</a:t>
            </a:r>
          </a:p>
          <a:p>
            <a:pPr marL="742950" lvl="1" indent="-285750" algn="just">
              <a:buFont typeface="Wingdings" pitchFamily="2" charset="2"/>
              <a:buChar char="ü"/>
            </a:pPr>
            <a:r>
              <a:rPr kumimoji="1" lang="en-US" altLang="zh-TW" dirty="0">
                <a:latin typeface="Comic Sans MS" panose="030F0902030302020204" pitchFamily="66" charset="0"/>
              </a:rPr>
              <a:t>Performed without actually executing the program</a:t>
            </a:r>
          </a:p>
          <a:p>
            <a:pPr marL="742950" lvl="1" indent="-285750" algn="just">
              <a:buFont typeface="Wingdings" pitchFamily="2" charset="2"/>
              <a:buChar char="ü"/>
            </a:pPr>
            <a:r>
              <a:rPr kumimoji="1" lang="en-US" altLang="zh-TW" dirty="0">
                <a:latin typeface="Comic Sans MS" panose="030F0902030302020204" pitchFamily="66" charset="0"/>
              </a:rPr>
              <a:t>No runtime overhead</a:t>
            </a:r>
          </a:p>
          <a:p>
            <a:pPr marL="742950" lvl="1" indent="-285750" algn="just">
              <a:buFont typeface="Wingdings" pitchFamily="2" charset="2"/>
              <a:buChar char="ü"/>
            </a:pPr>
            <a:r>
              <a:rPr kumimoji="1" lang="en-US" altLang="zh-TW" dirty="0">
                <a:latin typeface="Comic Sans MS" panose="030F0902030302020204" pitchFamily="66" charset="0"/>
              </a:rPr>
              <a:t>Limitation: conditional statements, control flow</a:t>
            </a:r>
          </a:p>
          <a:p>
            <a:pPr lvl="1" algn="just"/>
            <a:endParaRPr kumimoji="1" lang="en-US" altLang="zh-TW" dirty="0">
              <a:latin typeface="Comic Sans MS" panose="030F0902030302020204" pitchFamily="66" charset="0"/>
            </a:endParaRPr>
          </a:p>
          <a:p>
            <a:pPr marL="285750" indent="-285750" algn="just">
              <a:buFont typeface="Wingdings" pitchFamily="2" charset="2"/>
              <a:buChar char="ü"/>
            </a:pPr>
            <a:r>
              <a:rPr kumimoji="1" lang="en-US" altLang="zh-TW" dirty="0">
                <a:solidFill>
                  <a:srgbClr val="00B0F0"/>
                </a:solidFill>
                <a:latin typeface="Comic Sans MS" panose="030F0902030302020204" pitchFamily="66" charset="0"/>
              </a:rPr>
              <a:t>Dynamic Taint Analysis</a:t>
            </a:r>
          </a:p>
          <a:p>
            <a:pPr marL="742950" lvl="1" indent="-285750" algn="just">
              <a:buFont typeface="Wingdings" pitchFamily="2" charset="2"/>
              <a:buChar char="ü"/>
            </a:pPr>
            <a:r>
              <a:rPr kumimoji="1" lang="en-US" altLang="zh-TW" dirty="0">
                <a:latin typeface="Comic Sans MS" panose="030F0902030302020204" pitchFamily="66" charset="0"/>
              </a:rPr>
              <a:t>Analyzing the program during execution</a:t>
            </a:r>
          </a:p>
          <a:p>
            <a:pPr marL="742950" lvl="1" indent="-285750" algn="just">
              <a:buFont typeface="Wingdings" pitchFamily="2" charset="2"/>
              <a:buChar char="ü"/>
            </a:pPr>
            <a:r>
              <a:rPr kumimoji="1" lang="en-US" altLang="zh-TW" dirty="0">
                <a:latin typeface="Comic Sans MS" panose="030F0902030302020204" pitchFamily="66" charset="0"/>
              </a:rPr>
              <a:t>Limitation : runtime overhead</a:t>
            </a:r>
          </a:p>
          <a:p>
            <a:pPr marL="742950" lvl="1" indent="-285750" algn="just">
              <a:buFont typeface="Wingdings" pitchFamily="2" charset="2"/>
              <a:buChar char="ü"/>
            </a:pPr>
            <a:r>
              <a:rPr kumimoji="1" lang="en-US" altLang="zh-TW" dirty="0">
                <a:latin typeface="Comic Sans MS" panose="030F0902030302020204" pitchFamily="66" charset="0"/>
              </a:rPr>
              <a:t>Tightly-coupled taint propagation policy</a:t>
            </a:r>
          </a:p>
          <a:p>
            <a:pPr algn="just"/>
            <a:endParaRPr lang="en-IN" dirty="0">
              <a:latin typeface="Comic Sans MS" panose="030F0902030302020204" pitchFamily="66" charset="0"/>
            </a:endParaRPr>
          </a:p>
        </p:txBody>
      </p:sp>
      <p:sp>
        <p:nvSpPr>
          <p:cNvPr id="13" name="TextBox 12">
            <a:extLst>
              <a:ext uri="{FF2B5EF4-FFF2-40B4-BE49-F238E27FC236}">
                <a16:creationId xmlns:a16="http://schemas.microsoft.com/office/drawing/2014/main" id="{17C76242-5650-4AD9-BC44-146584B94237}"/>
              </a:ext>
            </a:extLst>
          </p:cNvPr>
          <p:cNvSpPr txBox="1"/>
          <p:nvPr/>
        </p:nvSpPr>
        <p:spPr>
          <a:xfrm>
            <a:off x="4639988" y="4241459"/>
            <a:ext cx="6553199" cy="2031325"/>
          </a:xfrm>
          <a:prstGeom prst="rect">
            <a:avLst/>
          </a:prstGeom>
          <a:noFill/>
        </p:spPr>
        <p:txBody>
          <a:bodyPr wrap="square">
            <a:spAutoFit/>
          </a:bodyPr>
          <a:lstStyle/>
          <a:p>
            <a:pPr marL="285750" lvl="0" indent="-285750" algn="just">
              <a:buFont typeface="Wingdings" pitchFamily="2" charset="2"/>
              <a:buChar char="ü"/>
            </a:pPr>
            <a:r>
              <a:rPr lang="en-IN" i="0" dirty="0">
                <a:solidFill>
                  <a:srgbClr val="00B0F0"/>
                </a:solidFill>
                <a:latin typeface="Comic Sans MS" panose="030F0902030302020204" pitchFamily="66" charset="0"/>
              </a:rPr>
              <a:t>Mixed-Mode Information Flow Tracking (MIT)</a:t>
            </a:r>
          </a:p>
          <a:p>
            <a:pPr marL="742950" lvl="1" indent="-285750" algn="just">
              <a:buFont typeface="Wingdings" pitchFamily="2" charset="2"/>
              <a:buChar char="ü"/>
            </a:pPr>
            <a:r>
              <a:rPr lang="en-US" dirty="0">
                <a:solidFill>
                  <a:srgbClr val="000000"/>
                </a:solidFill>
                <a:latin typeface="Comic Sans MS" panose="030F0902030302020204" pitchFamily="66" charset="0"/>
              </a:rPr>
              <a:t>S</a:t>
            </a:r>
            <a:r>
              <a:rPr lang="en-US" b="0" i="0" dirty="0">
                <a:solidFill>
                  <a:srgbClr val="000000"/>
                </a:solidFill>
                <a:effectLst/>
                <a:latin typeface="Comic Sans MS" panose="030F0902030302020204" pitchFamily="66" charset="0"/>
              </a:rPr>
              <a:t>treamlined process for IFA and DIFT</a:t>
            </a:r>
            <a:r>
              <a:rPr lang="en-US" dirty="0">
                <a:latin typeface="Comic Sans MS" panose="030F0902030302020204" pitchFamily="66" charset="0"/>
              </a:rPr>
              <a:t> </a:t>
            </a:r>
          </a:p>
          <a:p>
            <a:pPr marL="742950" lvl="1" indent="-285750" algn="just">
              <a:buFont typeface="Wingdings" pitchFamily="2" charset="2"/>
              <a:buChar char="ü"/>
            </a:pPr>
            <a:r>
              <a:rPr lang="en-US" b="0" i="0" dirty="0">
                <a:solidFill>
                  <a:srgbClr val="000000"/>
                </a:solidFill>
                <a:effectLst/>
                <a:latin typeface="Comic Sans MS" panose="030F0902030302020204" pitchFamily="66" charset="0"/>
              </a:rPr>
              <a:t>The decoupling process consists of compile-time extraction of language-independent taint semantics intermediate representation (TSIR) from the target program and offline replay of the TSIR. </a:t>
            </a:r>
            <a:br>
              <a:rPr lang="en-US" dirty="0">
                <a:latin typeface="Comic Sans MS" panose="030F0902030302020204" pitchFamily="66" charset="0"/>
              </a:rPr>
            </a:br>
            <a:endParaRPr kumimoji="1" lang="en-US" altLang="zh-TW" dirty="0">
              <a:latin typeface="Comic Sans MS" panose="030F0902030302020204" pitchFamily="66" charset="0"/>
            </a:endParaRPr>
          </a:p>
        </p:txBody>
      </p:sp>
      <p:pic>
        <p:nvPicPr>
          <p:cNvPr id="15" name="Picture 14">
            <a:extLst>
              <a:ext uri="{FF2B5EF4-FFF2-40B4-BE49-F238E27FC236}">
                <a16:creationId xmlns:a16="http://schemas.microsoft.com/office/drawing/2014/main" id="{A9AA5304-D799-034E-9745-907101B1D4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43" y="1395866"/>
            <a:ext cx="4513944" cy="4700134"/>
          </a:xfrm>
          <a:prstGeom prst="rect">
            <a:avLst/>
          </a:prstGeom>
        </p:spPr>
      </p:pic>
    </p:spTree>
    <p:extLst>
      <p:ext uri="{BB962C8B-B14F-4D97-AF65-F5344CB8AC3E}">
        <p14:creationId xmlns:p14="http://schemas.microsoft.com/office/powerpoint/2010/main" val="3714350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1CD56-6FA0-44E7-85FB-9F34C1603ACC}"/>
              </a:ext>
            </a:extLst>
          </p:cNvPr>
          <p:cNvSpPr>
            <a:spLocks noGrp="1"/>
          </p:cNvSpPr>
          <p:nvPr>
            <p:ph type="title"/>
          </p:nvPr>
        </p:nvSpPr>
        <p:spPr>
          <a:xfrm>
            <a:off x="76200" y="228600"/>
            <a:ext cx="10058400" cy="553998"/>
          </a:xfrm>
        </p:spPr>
        <p:txBody>
          <a:bodyPr/>
          <a:lstStyle/>
          <a:p>
            <a:r>
              <a:rPr lang="en-US" sz="3600" dirty="0"/>
              <a:t>Proposed System</a:t>
            </a:r>
            <a:endParaRPr lang="en-IN" sz="3600" dirty="0"/>
          </a:p>
        </p:txBody>
      </p:sp>
      <p:pic>
        <p:nvPicPr>
          <p:cNvPr id="5" name="Picture 4">
            <a:extLst>
              <a:ext uri="{FF2B5EF4-FFF2-40B4-BE49-F238E27FC236}">
                <a16:creationId xmlns:a16="http://schemas.microsoft.com/office/drawing/2014/main" id="{1991D6C4-2C17-49A7-974F-494EC92F05FC}"/>
              </a:ext>
            </a:extLst>
          </p:cNvPr>
          <p:cNvPicPr>
            <a:picLocks noChangeAspect="1"/>
          </p:cNvPicPr>
          <p:nvPr/>
        </p:nvPicPr>
        <p:blipFill>
          <a:blip r:embed="rId3"/>
          <a:stretch>
            <a:fillRect/>
          </a:stretch>
        </p:blipFill>
        <p:spPr>
          <a:xfrm>
            <a:off x="330055" y="1806564"/>
            <a:ext cx="7747145" cy="3741355"/>
          </a:xfrm>
          <a:prstGeom prst="rect">
            <a:avLst/>
          </a:prstGeom>
        </p:spPr>
      </p:pic>
      <p:sp>
        <p:nvSpPr>
          <p:cNvPr id="7" name="Slide Number Placeholder 6">
            <a:extLst>
              <a:ext uri="{FF2B5EF4-FFF2-40B4-BE49-F238E27FC236}">
                <a16:creationId xmlns:a16="http://schemas.microsoft.com/office/drawing/2014/main" id="{4503787B-0F38-4D91-AAE9-FB76A34E9E1A}"/>
              </a:ext>
            </a:extLst>
          </p:cNvPr>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4</a:t>
            </a:fld>
            <a:endParaRPr lang="en-US" dirty="0"/>
          </a:p>
        </p:txBody>
      </p:sp>
      <p:sp>
        <p:nvSpPr>
          <p:cNvPr id="11" name="TextBox 10">
            <a:extLst>
              <a:ext uri="{FF2B5EF4-FFF2-40B4-BE49-F238E27FC236}">
                <a16:creationId xmlns:a16="http://schemas.microsoft.com/office/drawing/2014/main" id="{846B3D2B-9AB7-BE41-8343-0F372D29DCA6}"/>
              </a:ext>
            </a:extLst>
          </p:cNvPr>
          <p:cNvSpPr txBox="1"/>
          <p:nvPr/>
        </p:nvSpPr>
        <p:spPr>
          <a:xfrm>
            <a:off x="7864710" y="2408598"/>
            <a:ext cx="4327289" cy="3416320"/>
          </a:xfrm>
          <a:prstGeom prst="rect">
            <a:avLst/>
          </a:prstGeom>
          <a:noFill/>
        </p:spPr>
        <p:txBody>
          <a:bodyPr wrap="square" rtlCol="0">
            <a:spAutoFit/>
          </a:bodyPr>
          <a:lstStyle/>
          <a:p>
            <a:pPr marL="285750" indent="-285750" algn="just">
              <a:buFont typeface="Wingdings" pitchFamily="2" charset="2"/>
              <a:buChar char="ü"/>
            </a:pPr>
            <a:r>
              <a:rPr kumimoji="1" lang="en-US" altLang="zh-TW" dirty="0">
                <a:solidFill>
                  <a:srgbClr val="00B0F0"/>
                </a:solidFill>
                <a:latin typeface="Comic Sans MS" panose="030F0902030302020204" pitchFamily="66" charset="0"/>
              </a:rPr>
              <a:t>Mixed Information Flow Tracking</a:t>
            </a:r>
          </a:p>
          <a:p>
            <a:pPr marL="285750" indent="-285750" algn="just">
              <a:buFont typeface="Wingdings" pitchFamily="2" charset="2"/>
              <a:buChar char="ü"/>
            </a:pPr>
            <a:endParaRPr kumimoji="1" lang="en-US" altLang="zh-TW" dirty="0">
              <a:solidFill>
                <a:srgbClr val="00B0F0"/>
              </a:solidFill>
              <a:latin typeface="Comic Sans MS" panose="030F0902030302020204" pitchFamily="66" charset="0"/>
            </a:endParaRPr>
          </a:p>
          <a:p>
            <a:pPr marL="742950" lvl="1" indent="-285750" algn="just">
              <a:buFont typeface="Arial" panose="020B0604020202020204" pitchFamily="34" charset="0"/>
              <a:buChar char="•"/>
            </a:pPr>
            <a:r>
              <a:rPr kumimoji="1" lang="en-US" altLang="zh-TW" dirty="0">
                <a:latin typeface="Comic Sans MS" panose="030F0902030302020204" pitchFamily="66" charset="0"/>
              </a:rPr>
              <a:t>Combines the advantages of static analysis and dynamic analysis</a:t>
            </a:r>
          </a:p>
          <a:p>
            <a:pPr marL="742950" lvl="1" indent="-285750" algn="just">
              <a:buFont typeface="Arial" panose="020B0604020202020204" pitchFamily="34" charset="0"/>
              <a:buChar char="•"/>
            </a:pPr>
            <a:endParaRPr kumimoji="1" lang="en-US" altLang="zh-TW" dirty="0">
              <a:latin typeface="Comic Sans MS" panose="030F0902030302020204" pitchFamily="66" charset="0"/>
            </a:endParaRPr>
          </a:p>
          <a:p>
            <a:pPr marL="742950" lvl="1" indent="-285750" algn="just">
              <a:buFont typeface="Arial" panose="020B0604020202020204" pitchFamily="34" charset="0"/>
              <a:buChar char="•"/>
            </a:pPr>
            <a:r>
              <a:rPr kumimoji="1" lang="en-US" altLang="zh-TW" dirty="0">
                <a:latin typeface="Comic Sans MS" panose="030F0902030302020204" pitchFamily="66" charset="0"/>
              </a:rPr>
              <a:t>Extracts explicit taint semantics during compile-time</a:t>
            </a:r>
          </a:p>
          <a:p>
            <a:pPr marL="742950" lvl="1" indent="-285750" algn="just">
              <a:buFont typeface="Arial" panose="020B0604020202020204" pitchFamily="34" charset="0"/>
              <a:buChar char="•"/>
            </a:pPr>
            <a:endParaRPr kumimoji="1" lang="en-US" altLang="zh-TW" dirty="0">
              <a:latin typeface="Comic Sans MS" panose="030F0902030302020204" pitchFamily="66" charset="0"/>
            </a:endParaRPr>
          </a:p>
          <a:p>
            <a:pPr marL="742950" lvl="1" indent="-285750" algn="just">
              <a:buFont typeface="Arial" panose="020B0604020202020204" pitchFamily="34" charset="0"/>
              <a:buChar char="•"/>
            </a:pPr>
            <a:r>
              <a:rPr kumimoji="1" lang="en-US" altLang="zh-TW" dirty="0">
                <a:latin typeface="Comic Sans MS" panose="030F0902030302020204" pitchFamily="66" charset="0"/>
              </a:rPr>
              <a:t>Logging execution trace and runtime values</a:t>
            </a:r>
          </a:p>
          <a:p>
            <a:pPr algn="just"/>
            <a:endParaRPr lang="en-IN" dirty="0">
              <a:latin typeface="Comic Sans MS" panose="030F0902030302020204" pitchFamily="66" charset="0"/>
            </a:endParaRPr>
          </a:p>
        </p:txBody>
      </p:sp>
      <p:sp>
        <p:nvSpPr>
          <p:cNvPr id="13" name="TextBox 12">
            <a:extLst>
              <a:ext uri="{FF2B5EF4-FFF2-40B4-BE49-F238E27FC236}">
                <a16:creationId xmlns:a16="http://schemas.microsoft.com/office/drawing/2014/main" id="{5EE03104-7DE0-3240-A966-5532F239C860}"/>
              </a:ext>
            </a:extLst>
          </p:cNvPr>
          <p:cNvSpPr txBox="1"/>
          <p:nvPr/>
        </p:nvSpPr>
        <p:spPr>
          <a:xfrm>
            <a:off x="2144486" y="5638800"/>
            <a:ext cx="3962400" cy="307777"/>
          </a:xfrm>
          <a:prstGeom prst="rect">
            <a:avLst/>
          </a:prstGeom>
          <a:noFill/>
        </p:spPr>
        <p:txBody>
          <a:bodyPr wrap="square" rtlCol="0">
            <a:spAutoFit/>
          </a:bodyPr>
          <a:lstStyle/>
          <a:p>
            <a:r>
              <a:rPr lang="en-US" sz="1400" b="1" i="0" dirty="0">
                <a:solidFill>
                  <a:srgbClr val="000000"/>
                </a:solidFill>
                <a:effectLst/>
                <a:latin typeface="Comic Sans MS" panose="030F0902030302020204" pitchFamily="66" charset="0"/>
              </a:rPr>
              <a:t>Fig.: Mixed-mode Information Flow Tracking</a:t>
            </a:r>
            <a:r>
              <a:rPr lang="en-US" sz="1400" b="1" dirty="0">
                <a:latin typeface="Comic Sans MS" panose="030F0902030302020204" pitchFamily="66" charset="0"/>
              </a:rPr>
              <a:t> </a:t>
            </a:r>
            <a:endParaRPr lang="en-IN" b="1" dirty="0">
              <a:latin typeface="Comic Sans MS" panose="030F0902030302020204" pitchFamily="66" charset="0"/>
            </a:endParaRPr>
          </a:p>
        </p:txBody>
      </p:sp>
    </p:spTree>
    <p:extLst>
      <p:ext uri="{BB962C8B-B14F-4D97-AF65-F5344CB8AC3E}">
        <p14:creationId xmlns:p14="http://schemas.microsoft.com/office/powerpoint/2010/main" val="605144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1CD56-6FA0-44E7-85FB-9F34C1603ACC}"/>
              </a:ext>
            </a:extLst>
          </p:cNvPr>
          <p:cNvSpPr>
            <a:spLocks noGrp="1"/>
          </p:cNvSpPr>
          <p:nvPr>
            <p:ph type="title"/>
          </p:nvPr>
        </p:nvSpPr>
        <p:spPr>
          <a:xfrm>
            <a:off x="76200" y="228401"/>
            <a:ext cx="10058400" cy="553998"/>
          </a:xfrm>
        </p:spPr>
        <p:txBody>
          <a:bodyPr/>
          <a:lstStyle/>
          <a:p>
            <a:r>
              <a:rPr lang="en-US" sz="3600" dirty="0"/>
              <a:t>Proposed System</a:t>
            </a:r>
            <a:endParaRPr lang="en-IN" sz="3600" dirty="0"/>
          </a:p>
        </p:txBody>
      </p:sp>
      <p:sp>
        <p:nvSpPr>
          <p:cNvPr id="3" name="Content Placeholder 2">
            <a:extLst>
              <a:ext uri="{FF2B5EF4-FFF2-40B4-BE49-F238E27FC236}">
                <a16:creationId xmlns:a16="http://schemas.microsoft.com/office/drawing/2014/main" id="{9E156B1D-2501-4092-B494-61EAC2267315}"/>
              </a:ext>
            </a:extLst>
          </p:cNvPr>
          <p:cNvSpPr>
            <a:spLocks noGrp="1"/>
          </p:cNvSpPr>
          <p:nvPr>
            <p:ph idx="1"/>
          </p:nvPr>
        </p:nvSpPr>
        <p:spPr>
          <a:xfrm>
            <a:off x="7503885" y="1371600"/>
            <a:ext cx="4436437" cy="2436915"/>
          </a:xfrm>
        </p:spPr>
        <p:txBody>
          <a:bodyPr>
            <a:noAutofit/>
          </a:bodyPr>
          <a:lstStyle/>
          <a:p>
            <a:pPr marL="342900" indent="-342900" algn="just">
              <a:buFont typeface="Wingdings" pitchFamily="2" charset="2"/>
              <a:buChar char="ü"/>
            </a:pPr>
            <a:r>
              <a:rPr lang="en-US" sz="1800" b="1" i="0" dirty="0">
                <a:solidFill>
                  <a:srgbClr val="00B0F0"/>
                </a:solidFill>
                <a:effectLst/>
                <a:latin typeface="Comic Sans MS" panose="030F0902030302020204" pitchFamily="66" charset="0"/>
                <a:cs typeface="Calibri" panose="020F0502020204030204" pitchFamily="34" charset="0"/>
              </a:rPr>
              <a:t>Taint Semantics Extraction</a:t>
            </a:r>
          </a:p>
          <a:p>
            <a:pPr marL="342900" indent="-342900" algn="just">
              <a:buFont typeface="Wingdings" pitchFamily="2" charset="2"/>
              <a:buChar char="ü"/>
            </a:pPr>
            <a:endParaRPr lang="en-US" sz="1800" b="1" i="0" dirty="0">
              <a:solidFill>
                <a:srgbClr val="00B0F0"/>
              </a:solidFill>
              <a:effectLst/>
              <a:latin typeface="Comic Sans MS" panose="030F0902030302020204" pitchFamily="66" charset="0"/>
              <a:cs typeface="Calibri" panose="020F0502020204030204" pitchFamily="34" charset="0"/>
            </a:endParaRPr>
          </a:p>
          <a:p>
            <a:pPr marL="800100" lvl="1" indent="-342900" algn="just">
              <a:buFont typeface="Wingdings" pitchFamily="2" charset="2"/>
              <a:buChar char="ü"/>
            </a:pPr>
            <a:r>
              <a:rPr lang="en-US" dirty="0">
                <a:solidFill>
                  <a:srgbClr val="000000"/>
                </a:solidFill>
                <a:latin typeface="Comic Sans MS" panose="030F0902030302020204" pitchFamily="66" charset="0"/>
                <a:cs typeface="Calibri" panose="020F0502020204030204" pitchFamily="34" charset="0"/>
              </a:rPr>
              <a:t>T</a:t>
            </a:r>
            <a:r>
              <a:rPr lang="en-US" b="0" i="0" dirty="0">
                <a:solidFill>
                  <a:srgbClr val="000000"/>
                </a:solidFill>
                <a:effectLst/>
                <a:latin typeface="Comic Sans MS" panose="030F0902030302020204" pitchFamily="66" charset="0"/>
                <a:cs typeface="Calibri" panose="020F0502020204030204" pitchFamily="34" charset="0"/>
              </a:rPr>
              <a:t>he TSIR Translator extracts taint semantics from the LLVM IR of the target program at compile-time and translates</a:t>
            </a:r>
          </a:p>
          <a:p>
            <a:pPr lvl="1" algn="just"/>
            <a:endParaRPr lang="en-US" b="0" i="0" dirty="0">
              <a:solidFill>
                <a:srgbClr val="000000"/>
              </a:solidFill>
              <a:effectLst/>
              <a:latin typeface="Comic Sans MS" panose="030F0902030302020204" pitchFamily="66" charset="0"/>
              <a:cs typeface="Calibri" panose="020F0502020204030204" pitchFamily="34" charset="0"/>
            </a:endParaRPr>
          </a:p>
          <a:p>
            <a:pPr marL="800100" lvl="1" indent="-342900" algn="just">
              <a:buFont typeface="Wingdings" pitchFamily="2" charset="2"/>
              <a:buChar char="ü"/>
            </a:pPr>
            <a:r>
              <a:rPr lang="en-US" dirty="0">
                <a:solidFill>
                  <a:srgbClr val="000000"/>
                </a:solidFill>
                <a:latin typeface="Comic Sans MS" panose="030F0902030302020204" pitchFamily="66" charset="0"/>
                <a:cs typeface="Calibri" panose="020F0502020204030204" pitchFamily="34" charset="0"/>
              </a:rPr>
              <a:t>I</a:t>
            </a:r>
            <a:r>
              <a:rPr lang="en-US" b="0" i="0" dirty="0">
                <a:solidFill>
                  <a:srgbClr val="000000"/>
                </a:solidFill>
                <a:effectLst/>
                <a:latin typeface="Comic Sans MS" panose="030F0902030302020204" pitchFamily="66" charset="0"/>
                <a:cs typeface="Calibri" panose="020F0502020204030204" pitchFamily="34" charset="0"/>
              </a:rPr>
              <a:t>ntermediate representation for information flow tracking (</a:t>
            </a:r>
            <a:r>
              <a:rPr lang="en-US" b="0" i="1" dirty="0">
                <a:solidFill>
                  <a:srgbClr val="000000"/>
                </a:solidFill>
                <a:effectLst/>
                <a:latin typeface="Comic Sans MS" panose="030F0902030302020204" pitchFamily="66" charset="0"/>
                <a:cs typeface="Calibri" panose="020F0502020204030204" pitchFamily="34" charset="0"/>
              </a:rPr>
              <a:t>i.e. </a:t>
            </a:r>
            <a:r>
              <a:rPr lang="en-US" b="0" i="0" dirty="0">
                <a:solidFill>
                  <a:srgbClr val="000000"/>
                </a:solidFill>
                <a:effectLst/>
                <a:latin typeface="Comic Sans MS" panose="030F0902030302020204" pitchFamily="66" charset="0"/>
                <a:cs typeface="Calibri" panose="020F0502020204030204" pitchFamily="34" charset="0"/>
              </a:rPr>
              <a:t>the TSIR)</a:t>
            </a:r>
          </a:p>
        </p:txBody>
      </p:sp>
      <p:pic>
        <p:nvPicPr>
          <p:cNvPr id="5" name="Picture 4">
            <a:extLst>
              <a:ext uri="{FF2B5EF4-FFF2-40B4-BE49-F238E27FC236}">
                <a16:creationId xmlns:a16="http://schemas.microsoft.com/office/drawing/2014/main" id="{1991D6C4-2C17-49A7-974F-494EC92F05FC}"/>
              </a:ext>
            </a:extLst>
          </p:cNvPr>
          <p:cNvPicPr>
            <a:picLocks noChangeAspect="1"/>
          </p:cNvPicPr>
          <p:nvPr/>
        </p:nvPicPr>
        <p:blipFill>
          <a:blip r:embed="rId3"/>
          <a:stretch>
            <a:fillRect/>
          </a:stretch>
        </p:blipFill>
        <p:spPr>
          <a:xfrm>
            <a:off x="364717" y="1245731"/>
            <a:ext cx="7026684" cy="3188473"/>
          </a:xfrm>
          <a:prstGeom prst="rect">
            <a:avLst/>
          </a:prstGeom>
        </p:spPr>
      </p:pic>
      <p:sp>
        <p:nvSpPr>
          <p:cNvPr id="7" name="Slide Number Placeholder 6">
            <a:extLst>
              <a:ext uri="{FF2B5EF4-FFF2-40B4-BE49-F238E27FC236}">
                <a16:creationId xmlns:a16="http://schemas.microsoft.com/office/drawing/2014/main" id="{4503787B-0F38-4D91-AAE9-FB76A34E9E1A}"/>
              </a:ext>
            </a:extLst>
          </p:cNvPr>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5</a:t>
            </a:fld>
            <a:endParaRPr lang="en-US" dirty="0"/>
          </a:p>
        </p:txBody>
      </p:sp>
      <p:sp>
        <p:nvSpPr>
          <p:cNvPr id="4" name="TextBox 3">
            <a:extLst>
              <a:ext uri="{FF2B5EF4-FFF2-40B4-BE49-F238E27FC236}">
                <a16:creationId xmlns:a16="http://schemas.microsoft.com/office/drawing/2014/main" id="{69C1640B-2987-45EB-96CD-B96116837FFE}"/>
              </a:ext>
            </a:extLst>
          </p:cNvPr>
          <p:cNvSpPr txBox="1"/>
          <p:nvPr/>
        </p:nvSpPr>
        <p:spPr>
          <a:xfrm>
            <a:off x="2057400" y="4548032"/>
            <a:ext cx="4800600" cy="307777"/>
          </a:xfrm>
          <a:prstGeom prst="rect">
            <a:avLst/>
          </a:prstGeom>
          <a:noFill/>
        </p:spPr>
        <p:txBody>
          <a:bodyPr wrap="square" rtlCol="0">
            <a:spAutoFit/>
          </a:bodyPr>
          <a:lstStyle/>
          <a:p>
            <a:r>
              <a:rPr lang="en-US" sz="1400" b="1" i="0" dirty="0">
                <a:solidFill>
                  <a:srgbClr val="000000"/>
                </a:solidFill>
                <a:effectLst/>
                <a:latin typeface="Comic Sans MS" panose="030F0902030302020204" pitchFamily="66" charset="0"/>
              </a:rPr>
              <a:t>Fig.: Mixed-mode Information Flow Tracking</a:t>
            </a:r>
            <a:r>
              <a:rPr lang="en-US" sz="1400" b="1" dirty="0">
                <a:latin typeface="Comic Sans MS" panose="030F0902030302020204" pitchFamily="66" charset="0"/>
              </a:rPr>
              <a:t> </a:t>
            </a:r>
            <a:endParaRPr lang="en-IN" b="1" dirty="0">
              <a:latin typeface="Comic Sans MS" panose="030F0902030302020204" pitchFamily="66" charset="0"/>
            </a:endParaRPr>
          </a:p>
        </p:txBody>
      </p:sp>
      <p:sp>
        <p:nvSpPr>
          <p:cNvPr id="8" name="Rectangle 7">
            <a:extLst>
              <a:ext uri="{FF2B5EF4-FFF2-40B4-BE49-F238E27FC236}">
                <a16:creationId xmlns:a16="http://schemas.microsoft.com/office/drawing/2014/main" id="{0D1E1AA5-2D78-F54D-8BDC-FC59ACE2B4B9}"/>
              </a:ext>
            </a:extLst>
          </p:cNvPr>
          <p:cNvSpPr/>
          <p:nvPr/>
        </p:nvSpPr>
        <p:spPr>
          <a:xfrm>
            <a:off x="35230" y="4875273"/>
            <a:ext cx="12039600" cy="1754326"/>
          </a:xfrm>
          <a:prstGeom prst="rect">
            <a:avLst/>
          </a:prstGeom>
        </p:spPr>
        <p:txBody>
          <a:bodyPr wrap="square">
            <a:spAutoFit/>
          </a:bodyPr>
          <a:lstStyle/>
          <a:p>
            <a:pPr marL="285750" indent="-285750">
              <a:buFont typeface="Wingdings" pitchFamily="2" charset="2"/>
              <a:buChar char="ü"/>
            </a:pPr>
            <a:r>
              <a:rPr lang="en-US" b="1" dirty="0">
                <a:solidFill>
                  <a:srgbClr val="00B0F0"/>
                </a:solidFill>
                <a:latin typeface="Comic Sans MS" panose="030F0902030302020204" pitchFamily="66" charset="0"/>
              </a:rPr>
              <a:t>Taint Semantics Replay</a:t>
            </a:r>
          </a:p>
          <a:p>
            <a:pPr marL="285750" indent="-285750">
              <a:buFont typeface="Wingdings" pitchFamily="2" charset="2"/>
              <a:buChar char="ü"/>
            </a:pPr>
            <a:endParaRPr lang="en-US" b="1" dirty="0">
              <a:solidFill>
                <a:srgbClr val="00B0F0"/>
              </a:solidFill>
              <a:latin typeface="Comic Sans MS" panose="030F0902030302020204" pitchFamily="66" charset="0"/>
            </a:endParaRPr>
          </a:p>
          <a:p>
            <a:pPr marL="742950" lvl="1" indent="-285750">
              <a:buFont typeface="Wingdings" pitchFamily="2" charset="2"/>
              <a:buChar char="ü"/>
            </a:pPr>
            <a:r>
              <a:rPr lang="en-US" dirty="0">
                <a:solidFill>
                  <a:srgbClr val="000000"/>
                </a:solidFill>
                <a:latin typeface="Comic Sans MS" panose="030F0902030302020204" pitchFamily="66" charset="0"/>
              </a:rPr>
              <a:t>Dynamic information flow tracking (DIFT) is instantiated by reconstructing the control flows and the data flows of the target program</a:t>
            </a:r>
          </a:p>
          <a:p>
            <a:pPr marL="742950" lvl="1" indent="-285750">
              <a:buFont typeface="Wingdings" pitchFamily="2" charset="2"/>
              <a:buChar char="ü"/>
            </a:pPr>
            <a:r>
              <a:rPr lang="en-US" dirty="0">
                <a:solidFill>
                  <a:srgbClr val="000000"/>
                </a:solidFill>
                <a:latin typeface="Comic Sans MS" panose="030F0902030302020204" pitchFamily="66" charset="0"/>
              </a:rPr>
              <a:t>Replays the TSIR with respect to the basic block ID log and the runtime value log on the TSIR VM</a:t>
            </a:r>
            <a:br>
              <a:rPr lang="en-US" dirty="0">
                <a:latin typeface="Comic Sans MS" panose="030F0902030302020204" pitchFamily="66" charset="0"/>
              </a:rPr>
            </a:br>
            <a:endParaRPr lang="en-US" dirty="0">
              <a:solidFill>
                <a:srgbClr val="000000"/>
              </a:solidFill>
              <a:latin typeface="Comic Sans MS" panose="030F0902030302020204" pitchFamily="66" charset="0"/>
              <a:cs typeface="Calibri" panose="020F0502020204030204" pitchFamily="34" charset="0"/>
            </a:endParaRPr>
          </a:p>
        </p:txBody>
      </p:sp>
    </p:spTree>
    <p:extLst>
      <p:ext uri="{BB962C8B-B14F-4D97-AF65-F5344CB8AC3E}">
        <p14:creationId xmlns:p14="http://schemas.microsoft.com/office/powerpoint/2010/main" val="2100056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橢圓 1"/>
          <p:cNvSpPr/>
          <p:nvPr/>
        </p:nvSpPr>
        <p:spPr>
          <a:xfrm>
            <a:off x="1767874" y="4765136"/>
            <a:ext cx="1390041" cy="690434"/>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a:t>
            </a:r>
          </a:p>
          <a:p>
            <a:pPr algn="ctr"/>
            <a:r>
              <a:rPr kumimoji="1" lang="en-US" altLang="zh-TW" sz="900" dirty="0">
                <a:solidFill>
                  <a:schemeClr val="tx1"/>
                </a:solidFill>
                <a:latin typeface="CMU Serif Roman" charset="0"/>
                <a:ea typeface="CMU Serif Roman" charset="0"/>
                <a:cs typeface="CMU Serif Roman" charset="0"/>
              </a:rPr>
              <a:t>of</a:t>
            </a:r>
          </a:p>
          <a:p>
            <a:pPr algn="ctr"/>
            <a:r>
              <a:rPr kumimoji="1" lang="en-US" altLang="zh-TW" sz="900" dirty="0">
                <a:solidFill>
                  <a:schemeClr val="tx1"/>
                </a:solidFill>
                <a:latin typeface="CMU Serif Roman" charset="0"/>
                <a:ea typeface="CMU Serif Roman" charset="0"/>
                <a:cs typeface="CMU Serif Roman" charset="0"/>
              </a:rPr>
              <a:t>Target Program</a:t>
            </a:r>
          </a:p>
        </p:txBody>
      </p:sp>
      <p:sp>
        <p:nvSpPr>
          <p:cNvPr id="3" name="矩形 2"/>
          <p:cNvSpPr/>
          <p:nvPr/>
        </p:nvSpPr>
        <p:spPr>
          <a:xfrm>
            <a:off x="1896801" y="2966883"/>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Extraction</a:t>
            </a:r>
          </a:p>
        </p:txBody>
      </p:sp>
      <p:sp>
        <p:nvSpPr>
          <p:cNvPr id="5" name="橢圓 4"/>
          <p:cNvSpPr/>
          <p:nvPr/>
        </p:nvSpPr>
        <p:spPr>
          <a:xfrm>
            <a:off x="4837891" y="2559106"/>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Instrumented</a:t>
            </a:r>
          </a:p>
          <a:p>
            <a:pPr algn="ctr"/>
            <a:r>
              <a:rPr kumimoji="1" lang="en-US" altLang="zh-TW" sz="900" dirty="0">
                <a:solidFill>
                  <a:schemeClr val="tx1"/>
                </a:solidFill>
                <a:latin typeface="CMU Serif Roman" charset="0"/>
                <a:ea typeface="CMU Serif Roman" charset="0"/>
                <a:cs typeface="CMU Serif Roman" charset="0"/>
              </a:rPr>
              <a:t>LLVM IR</a:t>
            </a:r>
          </a:p>
        </p:txBody>
      </p:sp>
      <p:sp>
        <p:nvSpPr>
          <p:cNvPr id="6" name="橢圓 5"/>
          <p:cNvSpPr/>
          <p:nvPr/>
        </p:nvSpPr>
        <p:spPr>
          <a:xfrm>
            <a:off x="4837891" y="3732129"/>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Intermediate Representation</a:t>
            </a:r>
          </a:p>
        </p:txBody>
      </p:sp>
      <p:sp>
        <p:nvSpPr>
          <p:cNvPr id="7" name="矩形 6"/>
          <p:cNvSpPr/>
          <p:nvPr/>
        </p:nvSpPr>
        <p:spPr>
          <a:xfrm>
            <a:off x="8124010" y="3147666"/>
            <a:ext cx="987334"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Replay</a:t>
            </a:r>
          </a:p>
        </p:txBody>
      </p:sp>
      <p:sp>
        <p:nvSpPr>
          <p:cNvPr id="8" name="矩形 7"/>
          <p:cNvSpPr/>
          <p:nvPr/>
        </p:nvSpPr>
        <p:spPr>
          <a:xfrm>
            <a:off x="3453056" y="2559107"/>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 Instrumentation</a:t>
            </a:r>
          </a:p>
        </p:txBody>
      </p:sp>
      <p:cxnSp>
        <p:nvCxnSpPr>
          <p:cNvPr id="27" name="肘形接點 26"/>
          <p:cNvCxnSpPr>
            <a:stCxn id="3" idx="3"/>
            <a:endCxn id="8" idx="1"/>
          </p:cNvCxnSpPr>
          <p:nvPr/>
        </p:nvCxnSpPr>
        <p:spPr>
          <a:xfrm flipV="1">
            <a:off x="3028987" y="2883472"/>
            <a:ext cx="424068" cy="40777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1" name="肘形接點 30"/>
          <p:cNvCxnSpPr>
            <a:stCxn id="8" idx="3"/>
            <a:endCxn id="5" idx="2"/>
          </p:cNvCxnSpPr>
          <p:nvPr/>
        </p:nvCxnSpPr>
        <p:spPr>
          <a:xfrm flipV="1">
            <a:off x="4585242" y="2883472"/>
            <a:ext cx="252650" cy="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9" name="直線接點 38"/>
          <p:cNvCxnSpPr/>
          <p:nvPr/>
        </p:nvCxnSpPr>
        <p:spPr>
          <a:xfrm>
            <a:off x="6504926" y="1025509"/>
            <a:ext cx="0" cy="4765673"/>
          </a:xfrm>
          <a:prstGeom prst="line">
            <a:avLst/>
          </a:prstGeom>
          <a:ln>
            <a:solidFill>
              <a:schemeClr val="bg2">
                <a:lumMod val="50000"/>
              </a:schemeClr>
            </a:solidFill>
            <a:prstDash val="sysDot"/>
          </a:ln>
        </p:spPr>
        <p:style>
          <a:lnRef idx="1">
            <a:schemeClr val="dk1"/>
          </a:lnRef>
          <a:fillRef idx="0">
            <a:schemeClr val="dk1"/>
          </a:fillRef>
          <a:effectRef idx="0">
            <a:schemeClr val="dk1"/>
          </a:effectRef>
          <a:fontRef idx="minor">
            <a:schemeClr val="tx1"/>
          </a:fontRef>
        </p:style>
      </p:cxnSp>
      <p:sp>
        <p:nvSpPr>
          <p:cNvPr id="40" name="文字方塊 39"/>
          <p:cNvSpPr txBox="1"/>
          <p:nvPr/>
        </p:nvSpPr>
        <p:spPr>
          <a:xfrm>
            <a:off x="3557164" y="1040345"/>
            <a:ext cx="1116011"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Extraction Phase</a:t>
            </a:r>
            <a:endParaRPr kumimoji="1" lang="zh-TW" altLang="en-US" sz="1050" b="1" dirty="0">
              <a:latin typeface="CMU Serif Roman" charset="0"/>
              <a:ea typeface="CMU Serif Roman" charset="0"/>
              <a:cs typeface="CMU Serif Roman" charset="0"/>
            </a:endParaRPr>
          </a:p>
        </p:txBody>
      </p:sp>
      <p:sp>
        <p:nvSpPr>
          <p:cNvPr id="41" name="文字方塊 40"/>
          <p:cNvSpPr txBox="1"/>
          <p:nvPr/>
        </p:nvSpPr>
        <p:spPr>
          <a:xfrm>
            <a:off x="6775722" y="1040345"/>
            <a:ext cx="938077"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Record Phase</a:t>
            </a:r>
            <a:endParaRPr kumimoji="1" lang="zh-TW" altLang="en-US" sz="1050" b="1" dirty="0">
              <a:latin typeface="CMU Serif Roman" charset="0"/>
              <a:ea typeface="CMU Serif Roman" charset="0"/>
              <a:cs typeface="CMU Serif Roman" charset="0"/>
            </a:endParaRPr>
          </a:p>
        </p:txBody>
      </p:sp>
      <p:sp>
        <p:nvSpPr>
          <p:cNvPr id="42" name="文字方塊 41"/>
          <p:cNvSpPr txBox="1"/>
          <p:nvPr/>
        </p:nvSpPr>
        <p:spPr>
          <a:xfrm>
            <a:off x="8845043" y="1038668"/>
            <a:ext cx="925253"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Replay Phase</a:t>
            </a:r>
            <a:endParaRPr kumimoji="1" lang="zh-TW" altLang="en-US" sz="1050" b="1" dirty="0">
              <a:latin typeface="CMU Serif Roman" charset="0"/>
              <a:ea typeface="CMU Serif Roman" charset="0"/>
              <a:cs typeface="CMU Serif Roman" charset="0"/>
            </a:endParaRPr>
          </a:p>
        </p:txBody>
      </p:sp>
      <p:sp>
        <p:nvSpPr>
          <p:cNvPr id="30" name="橢圓 29"/>
          <p:cNvSpPr/>
          <p:nvPr/>
        </p:nvSpPr>
        <p:spPr>
          <a:xfrm>
            <a:off x="4837891" y="1771257"/>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Information Flow Tracking Runtime Library</a:t>
            </a:r>
          </a:p>
        </p:txBody>
      </p:sp>
      <p:sp>
        <p:nvSpPr>
          <p:cNvPr id="44" name="矩形 43"/>
          <p:cNvSpPr/>
          <p:nvPr/>
        </p:nvSpPr>
        <p:spPr>
          <a:xfrm>
            <a:off x="3453056" y="3732129"/>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 to TSIR</a:t>
            </a:r>
          </a:p>
          <a:p>
            <a:pPr algn="ctr"/>
            <a:r>
              <a:rPr kumimoji="1" lang="en-US" altLang="zh-TW" sz="900" dirty="0">
                <a:solidFill>
                  <a:schemeClr val="tx1"/>
                </a:solidFill>
                <a:latin typeface="CMU Serif Roman" charset="0"/>
                <a:ea typeface="CMU Serif Roman" charset="0"/>
                <a:cs typeface="CMU Serif Roman" charset="0"/>
              </a:rPr>
              <a:t>Translation</a:t>
            </a:r>
          </a:p>
        </p:txBody>
      </p:sp>
      <p:cxnSp>
        <p:nvCxnSpPr>
          <p:cNvPr id="46" name="肘形接點 45"/>
          <p:cNvCxnSpPr>
            <a:stCxn id="3" idx="3"/>
            <a:endCxn id="44" idx="1"/>
          </p:cNvCxnSpPr>
          <p:nvPr/>
        </p:nvCxnSpPr>
        <p:spPr>
          <a:xfrm>
            <a:off x="3028987" y="3291249"/>
            <a:ext cx="424068" cy="76524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2" name="直線箭頭接點 51"/>
          <p:cNvCxnSpPr>
            <a:stCxn id="44" idx="3"/>
            <a:endCxn id="6" idx="2"/>
          </p:cNvCxnSpPr>
          <p:nvPr/>
        </p:nvCxnSpPr>
        <p:spPr>
          <a:xfrm>
            <a:off x="4585242" y="4056494"/>
            <a:ext cx="2526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橢圓 52"/>
          <p:cNvSpPr/>
          <p:nvPr/>
        </p:nvSpPr>
        <p:spPr>
          <a:xfrm>
            <a:off x="6664604" y="2200563"/>
            <a:ext cx="1208190"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Instrumented Target Program</a:t>
            </a:r>
          </a:p>
        </p:txBody>
      </p:sp>
      <p:cxnSp>
        <p:nvCxnSpPr>
          <p:cNvPr id="58" name="肘形接點 57"/>
          <p:cNvCxnSpPr>
            <a:stCxn id="30" idx="6"/>
            <a:endCxn id="53" idx="2"/>
          </p:cNvCxnSpPr>
          <p:nvPr/>
        </p:nvCxnSpPr>
        <p:spPr>
          <a:xfrm>
            <a:off x="6334858" y="2095624"/>
            <a:ext cx="329747" cy="42930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0" name="肘形接點 59"/>
          <p:cNvCxnSpPr>
            <a:stCxn id="5" idx="6"/>
            <a:endCxn id="53" idx="2"/>
          </p:cNvCxnSpPr>
          <p:nvPr/>
        </p:nvCxnSpPr>
        <p:spPr>
          <a:xfrm flipV="1">
            <a:off x="6334858" y="2524927"/>
            <a:ext cx="329747" cy="35854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線箭頭接點 61"/>
          <p:cNvCxnSpPr>
            <a:stCxn id="2" idx="0"/>
            <a:endCxn id="3" idx="2"/>
          </p:cNvCxnSpPr>
          <p:nvPr/>
        </p:nvCxnSpPr>
        <p:spPr>
          <a:xfrm flipV="1">
            <a:off x="2462894" y="3615612"/>
            <a:ext cx="0" cy="11495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矩形 67"/>
          <p:cNvSpPr/>
          <p:nvPr/>
        </p:nvSpPr>
        <p:spPr>
          <a:xfrm>
            <a:off x="1767874" y="2419987"/>
            <a:ext cx="2943693" cy="2109224"/>
          </a:xfrm>
          <a:prstGeom prst="rect">
            <a:avLst/>
          </a:prstGeom>
          <a:noFill/>
          <a:ln>
            <a:solidFill>
              <a:srgbClr val="767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sp>
        <p:nvSpPr>
          <p:cNvPr id="69" name="文字方塊 68"/>
          <p:cNvSpPr txBox="1"/>
          <p:nvPr/>
        </p:nvSpPr>
        <p:spPr>
          <a:xfrm>
            <a:off x="1747092" y="2198150"/>
            <a:ext cx="888385" cy="2308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TSIR Translator</a:t>
            </a:r>
            <a:endParaRPr kumimoji="1" lang="zh-TW" altLang="en-US" sz="900" dirty="0">
              <a:latin typeface="CMU Serif Roman" charset="0"/>
              <a:ea typeface="CMU Serif Roman" charset="0"/>
              <a:cs typeface="CMU Serif Roman" charset="0"/>
            </a:endParaRPr>
          </a:p>
        </p:txBody>
      </p:sp>
      <p:sp>
        <p:nvSpPr>
          <p:cNvPr id="71" name="矩形 70"/>
          <p:cNvSpPr/>
          <p:nvPr/>
        </p:nvSpPr>
        <p:spPr>
          <a:xfrm>
            <a:off x="9197285" y="3147666"/>
            <a:ext cx="987334"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Request Handling</a:t>
            </a:r>
          </a:p>
        </p:txBody>
      </p:sp>
      <p:cxnSp>
        <p:nvCxnSpPr>
          <p:cNvPr id="73" name="肘形接點 72"/>
          <p:cNvCxnSpPr>
            <a:stCxn id="53" idx="6"/>
            <a:endCxn id="7" idx="0"/>
          </p:cNvCxnSpPr>
          <p:nvPr/>
        </p:nvCxnSpPr>
        <p:spPr>
          <a:xfrm>
            <a:off x="7872793" y="2524928"/>
            <a:ext cx="744884" cy="62273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75" name="肘形接點 74"/>
          <p:cNvCxnSpPr>
            <a:stCxn id="53" idx="6"/>
            <a:endCxn id="71" idx="0"/>
          </p:cNvCxnSpPr>
          <p:nvPr/>
        </p:nvCxnSpPr>
        <p:spPr>
          <a:xfrm>
            <a:off x="7872794" y="2524928"/>
            <a:ext cx="1818158" cy="622738"/>
          </a:xfrm>
          <a:prstGeom prst="bentConnector2">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77" name="肘形接點 76"/>
          <p:cNvCxnSpPr>
            <a:stCxn id="6" idx="6"/>
            <a:endCxn id="7" idx="1"/>
          </p:cNvCxnSpPr>
          <p:nvPr/>
        </p:nvCxnSpPr>
        <p:spPr>
          <a:xfrm flipV="1">
            <a:off x="6334858" y="3472031"/>
            <a:ext cx="1789153" cy="58446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78" name="矩形 77"/>
          <p:cNvSpPr/>
          <p:nvPr/>
        </p:nvSpPr>
        <p:spPr>
          <a:xfrm>
            <a:off x="7989323" y="3028949"/>
            <a:ext cx="2314991" cy="872837"/>
          </a:xfrm>
          <a:prstGeom prst="rect">
            <a:avLst/>
          </a:prstGeom>
          <a:noFill/>
          <a:ln>
            <a:solidFill>
              <a:srgbClr val="767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sp>
        <p:nvSpPr>
          <p:cNvPr id="79" name="文字方塊 78"/>
          <p:cNvSpPr txBox="1"/>
          <p:nvPr/>
        </p:nvSpPr>
        <p:spPr>
          <a:xfrm>
            <a:off x="7989343" y="3918209"/>
            <a:ext cx="994183" cy="3693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Information Flow</a:t>
            </a:r>
          </a:p>
          <a:p>
            <a:r>
              <a:rPr kumimoji="1" lang="en-US" altLang="zh-TW" sz="900" dirty="0">
                <a:latin typeface="CMU Serif Roman" charset="0"/>
                <a:ea typeface="CMU Serif Roman" charset="0"/>
                <a:cs typeface="CMU Serif Roman" charset="0"/>
              </a:rPr>
              <a:t>Tracking Engine</a:t>
            </a:r>
            <a:endParaRPr kumimoji="1" lang="zh-TW" altLang="en-US" sz="900" dirty="0">
              <a:latin typeface="CMU Serif Roman" charset="0"/>
              <a:ea typeface="CMU Serif Roman" charset="0"/>
              <a:cs typeface="CMU Serif Roman" charset="0"/>
            </a:endParaRPr>
          </a:p>
        </p:txBody>
      </p:sp>
      <p:cxnSp>
        <p:nvCxnSpPr>
          <p:cNvPr id="81" name="肘形接點 80"/>
          <p:cNvCxnSpPr>
            <a:stCxn id="71" idx="3"/>
            <a:endCxn id="53" idx="0"/>
          </p:cNvCxnSpPr>
          <p:nvPr/>
        </p:nvCxnSpPr>
        <p:spPr>
          <a:xfrm flipH="1" flipV="1">
            <a:off x="7268699" y="2200563"/>
            <a:ext cx="2915920" cy="1271468"/>
          </a:xfrm>
          <a:prstGeom prst="bentConnector4">
            <a:avLst>
              <a:gd name="adj1" fmla="val -7306"/>
              <a:gd name="adj2" fmla="val 113484"/>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83" name="文字方塊 82"/>
          <p:cNvSpPr txBox="1"/>
          <p:nvPr/>
        </p:nvSpPr>
        <p:spPr>
          <a:xfrm>
            <a:off x="8054354" y="2629598"/>
            <a:ext cx="582212" cy="369332"/>
          </a:xfrm>
          <a:prstGeom prst="rect">
            <a:avLst/>
          </a:prstGeom>
          <a:noFill/>
        </p:spPr>
        <p:txBody>
          <a:bodyPr wrap="none" rtlCol="0">
            <a:spAutoFit/>
          </a:bodyPr>
          <a:lstStyle/>
          <a:p>
            <a:pPr algn="r"/>
            <a:r>
              <a:rPr kumimoji="1" lang="en-US" altLang="zh-TW" sz="900" dirty="0">
                <a:latin typeface="CMU Serif Roman" charset="0"/>
                <a:ea typeface="CMU Serif Roman" charset="0"/>
                <a:cs typeface="CMU Serif Roman" charset="0"/>
              </a:rPr>
              <a:t>runtime</a:t>
            </a:r>
          </a:p>
          <a:p>
            <a:pPr algn="r"/>
            <a:r>
              <a:rPr kumimoji="1" lang="en-US" altLang="zh-TW" sz="900" dirty="0">
                <a:latin typeface="CMU Serif Roman" charset="0"/>
                <a:ea typeface="CMU Serif Roman" charset="0"/>
                <a:cs typeface="CMU Serif Roman" charset="0"/>
              </a:rPr>
              <a:t>log</a:t>
            </a:r>
            <a:endParaRPr kumimoji="1" lang="zh-TW" altLang="en-US" sz="900" dirty="0">
              <a:latin typeface="CMU Serif Roman" charset="0"/>
              <a:ea typeface="CMU Serif Roman" charset="0"/>
              <a:cs typeface="CMU Serif Roman" charset="0"/>
            </a:endParaRPr>
          </a:p>
        </p:txBody>
      </p:sp>
      <p:sp>
        <p:nvSpPr>
          <p:cNvPr id="84" name="文字方塊 83"/>
          <p:cNvSpPr txBox="1"/>
          <p:nvPr/>
        </p:nvSpPr>
        <p:spPr>
          <a:xfrm>
            <a:off x="8685607" y="2317178"/>
            <a:ext cx="1016625" cy="230832"/>
          </a:xfrm>
          <a:prstGeom prst="rect">
            <a:avLst/>
          </a:prstGeom>
          <a:noFill/>
        </p:spPr>
        <p:txBody>
          <a:bodyPr wrap="none" rtlCol="0">
            <a:spAutoFit/>
          </a:bodyPr>
          <a:lstStyle/>
          <a:p>
            <a:r>
              <a:rPr kumimoji="1" lang="en-US" altLang="zh-TW" sz="900">
                <a:latin typeface="CMU Serif Roman" charset="0"/>
                <a:ea typeface="CMU Serif Roman" charset="0"/>
                <a:cs typeface="CMU Serif Roman" charset="0"/>
              </a:rPr>
              <a:t>tag query request</a:t>
            </a:r>
            <a:endParaRPr kumimoji="1" lang="zh-TW" altLang="en-US" sz="900" dirty="0">
              <a:latin typeface="CMU Serif Roman" charset="0"/>
              <a:ea typeface="CMU Serif Roman" charset="0"/>
              <a:cs typeface="CMU Serif Roman" charset="0"/>
            </a:endParaRPr>
          </a:p>
        </p:txBody>
      </p:sp>
      <p:sp>
        <p:nvSpPr>
          <p:cNvPr id="85" name="文字方塊 84"/>
          <p:cNvSpPr txBox="1"/>
          <p:nvPr/>
        </p:nvSpPr>
        <p:spPr>
          <a:xfrm>
            <a:off x="8385501" y="1819892"/>
            <a:ext cx="1083951" cy="2308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tag query response</a:t>
            </a:r>
            <a:endParaRPr kumimoji="1" lang="zh-TW" altLang="en-US" sz="900" dirty="0">
              <a:latin typeface="CMU Serif Roman" charset="0"/>
              <a:ea typeface="CMU Serif Roman" charset="0"/>
              <a:cs typeface="CMU Serif Roman" charset="0"/>
            </a:endParaRPr>
          </a:p>
        </p:txBody>
      </p:sp>
      <p:cxnSp>
        <p:nvCxnSpPr>
          <p:cNvPr id="87" name="直線接點 86"/>
          <p:cNvCxnSpPr/>
          <p:nvPr/>
        </p:nvCxnSpPr>
        <p:spPr>
          <a:xfrm>
            <a:off x="7989322" y="1025509"/>
            <a:ext cx="0" cy="4765673"/>
          </a:xfrm>
          <a:prstGeom prst="line">
            <a:avLst/>
          </a:prstGeom>
          <a:ln>
            <a:solidFill>
              <a:schemeClr val="bg2">
                <a:lumMod val="50000"/>
              </a:schemeClr>
            </a:solidFill>
            <a:prstDash val="sysDot"/>
          </a:ln>
        </p:spPr>
        <p:style>
          <a:lnRef idx="1">
            <a:schemeClr val="dk1"/>
          </a:lnRef>
          <a:fillRef idx="0">
            <a:schemeClr val="dk1"/>
          </a:fillRef>
          <a:effectRef idx="0">
            <a:schemeClr val="dk1"/>
          </a:effectRef>
          <a:fontRef idx="minor">
            <a:schemeClr val="tx1"/>
          </a:fontRef>
        </p:style>
      </p:cxnSp>
      <p:grpSp>
        <p:nvGrpSpPr>
          <p:cNvPr id="114" name="群組 113"/>
          <p:cNvGrpSpPr/>
          <p:nvPr/>
        </p:nvGrpSpPr>
        <p:grpSpPr>
          <a:xfrm>
            <a:off x="8117240" y="4665012"/>
            <a:ext cx="766360" cy="707431"/>
            <a:chOff x="9180237" y="4785425"/>
            <a:chExt cx="1021813" cy="943241"/>
          </a:xfrm>
        </p:grpSpPr>
        <p:sp>
          <p:nvSpPr>
            <p:cNvPr id="90" name="橢圓 89"/>
            <p:cNvSpPr/>
            <p:nvPr/>
          </p:nvSpPr>
          <p:spPr>
            <a:xfrm>
              <a:off x="9180237" y="5308405"/>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2" name="橢圓 91"/>
            <p:cNvSpPr/>
            <p:nvPr/>
          </p:nvSpPr>
          <p:spPr>
            <a:xfrm>
              <a:off x="9544298" y="5076772"/>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3" name="橢圓 92"/>
            <p:cNvSpPr/>
            <p:nvPr/>
          </p:nvSpPr>
          <p:spPr>
            <a:xfrm>
              <a:off x="9566581" y="5516190"/>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4" name="橢圓 93"/>
            <p:cNvSpPr/>
            <p:nvPr/>
          </p:nvSpPr>
          <p:spPr>
            <a:xfrm>
              <a:off x="9973257" y="4785425"/>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5" name="橢圓 94"/>
            <p:cNvSpPr/>
            <p:nvPr/>
          </p:nvSpPr>
          <p:spPr>
            <a:xfrm>
              <a:off x="9989574" y="5236557"/>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cxnSp>
          <p:nvCxnSpPr>
            <p:cNvPr id="97" name="曲線接點 96"/>
            <p:cNvCxnSpPr>
              <a:stCxn id="90" idx="4"/>
              <a:endCxn id="93" idx="2"/>
            </p:cNvCxnSpPr>
            <p:nvPr/>
          </p:nvCxnSpPr>
          <p:spPr>
            <a:xfrm rot="16200000" flipH="1">
              <a:off x="9375755" y="5431601"/>
              <a:ext cx="101547" cy="280106"/>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99" name="曲線接點 98"/>
            <p:cNvCxnSpPr>
              <a:stCxn id="90" idx="0"/>
              <a:endCxn id="92" idx="2"/>
            </p:cNvCxnSpPr>
            <p:nvPr/>
          </p:nvCxnSpPr>
          <p:spPr>
            <a:xfrm rot="5400000" flipH="1" flipV="1">
              <a:off x="9352689" y="5116797"/>
              <a:ext cx="125395" cy="257823"/>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03" name="曲線接點 102"/>
            <p:cNvCxnSpPr>
              <a:stCxn id="93" idx="6"/>
              <a:endCxn id="95" idx="4"/>
            </p:cNvCxnSpPr>
            <p:nvPr/>
          </p:nvCxnSpPr>
          <p:spPr>
            <a:xfrm flipV="1">
              <a:off x="9779057" y="5449033"/>
              <a:ext cx="316755" cy="173395"/>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09" name="曲線接點 108"/>
            <p:cNvCxnSpPr>
              <a:stCxn id="93" idx="0"/>
              <a:endCxn id="95" idx="2"/>
            </p:cNvCxnSpPr>
            <p:nvPr/>
          </p:nvCxnSpPr>
          <p:spPr>
            <a:xfrm rot="5400000" flipH="1" flipV="1">
              <a:off x="9744499" y="5271116"/>
              <a:ext cx="173395" cy="316755"/>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11" name="曲線接點 110"/>
            <p:cNvCxnSpPr>
              <a:stCxn id="92" idx="7"/>
              <a:endCxn id="94" idx="2"/>
            </p:cNvCxnSpPr>
            <p:nvPr/>
          </p:nvCxnSpPr>
          <p:spPr>
            <a:xfrm rot="5400000" flipH="1" flipV="1">
              <a:off x="9741345" y="4875977"/>
              <a:ext cx="216225" cy="247599"/>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13" name="曲線接點 112"/>
            <p:cNvCxnSpPr>
              <a:stCxn id="94" idx="6"/>
              <a:endCxn id="95" idx="6"/>
            </p:cNvCxnSpPr>
            <p:nvPr/>
          </p:nvCxnSpPr>
          <p:spPr>
            <a:xfrm>
              <a:off x="10185733" y="4891663"/>
              <a:ext cx="16317" cy="451132"/>
            </a:xfrm>
            <a:prstGeom prst="curvedConnector3">
              <a:avLst>
                <a:gd name="adj1" fmla="val 1500993"/>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grpSp>
      <p:cxnSp>
        <p:nvCxnSpPr>
          <p:cNvPr id="116" name="直線箭頭接點 115"/>
          <p:cNvCxnSpPr>
            <a:stCxn id="78" idx="2"/>
          </p:cNvCxnSpPr>
          <p:nvPr/>
        </p:nvCxnSpPr>
        <p:spPr>
          <a:xfrm flipH="1">
            <a:off x="9146818" y="3901785"/>
            <a:ext cx="1" cy="627426"/>
          </a:xfrm>
          <a:prstGeom prst="straightConnector1">
            <a:avLst/>
          </a:prstGeom>
          <a:ln w="6350">
            <a:solidFill>
              <a:schemeClr val="tx1"/>
            </a:solidFill>
            <a:prstDash val="sysDot"/>
            <a:tailEnd type="triangle"/>
          </a:ln>
        </p:spPr>
        <p:style>
          <a:lnRef idx="1">
            <a:schemeClr val="dk1"/>
          </a:lnRef>
          <a:fillRef idx="0">
            <a:schemeClr val="dk1"/>
          </a:fillRef>
          <a:effectRef idx="0">
            <a:schemeClr val="dk1"/>
          </a:effectRef>
          <a:fontRef idx="minor">
            <a:schemeClr val="tx1"/>
          </a:fontRef>
        </p:style>
      </p:cxnSp>
      <p:sp>
        <p:nvSpPr>
          <p:cNvPr id="117" name="文字方塊 116"/>
          <p:cNvSpPr txBox="1"/>
          <p:nvPr/>
        </p:nvSpPr>
        <p:spPr>
          <a:xfrm>
            <a:off x="9121166" y="4700875"/>
            <a:ext cx="1494878" cy="698589"/>
          </a:xfrm>
          <a:prstGeom prst="rect">
            <a:avLst/>
          </a:prstGeom>
          <a:noFill/>
        </p:spPr>
        <p:txBody>
          <a:bodyPr wrap="square" rtlCol="0">
            <a:spAutoFit/>
          </a:bodyPr>
          <a:lstStyle/>
          <a:p>
            <a:r>
              <a:rPr kumimoji="1" lang="en-US" altLang="zh-TW" sz="788" dirty="0">
                <a:latin typeface="CMU Serif Roman" charset="0"/>
                <a:ea typeface="CMU Serif Roman" charset="0"/>
                <a:cs typeface="CMU Serif Roman" charset="0"/>
              </a:rPr>
              <a:t>Further Analysis</a:t>
            </a:r>
          </a:p>
          <a:p>
            <a:pPr marL="128588" indent="-128588">
              <a:buFont typeface="Arial" charset="0"/>
              <a:buChar char="•"/>
            </a:pPr>
            <a:r>
              <a:rPr kumimoji="1" lang="en-US" altLang="zh-TW" sz="788" dirty="0">
                <a:latin typeface="CMU Serif Roman" charset="0"/>
                <a:ea typeface="CMU Serif Roman" charset="0"/>
                <a:cs typeface="CMU Serif Roman" charset="0"/>
              </a:rPr>
              <a:t>Whole-system Information Flow Tracking</a:t>
            </a:r>
          </a:p>
          <a:p>
            <a:pPr marL="128588" indent="-128588">
              <a:buFont typeface="Arial" charset="0"/>
              <a:buChar char="•"/>
            </a:pPr>
            <a:r>
              <a:rPr kumimoji="1" lang="en-US" altLang="zh-TW" sz="788" dirty="0">
                <a:latin typeface="CMU Serif Roman" charset="0"/>
                <a:ea typeface="CMU Serif Roman" charset="0"/>
                <a:cs typeface="CMU Serif Roman" charset="0"/>
              </a:rPr>
              <a:t>Data Provenance</a:t>
            </a:r>
          </a:p>
          <a:p>
            <a:pPr marL="128588" indent="-128588">
              <a:buFont typeface="Arial" charset="0"/>
              <a:buChar char="•"/>
            </a:pPr>
            <a:r>
              <a:rPr kumimoji="1" lang="en-US" altLang="zh-TW" sz="788" dirty="0">
                <a:latin typeface="CMU Serif Roman" charset="0"/>
                <a:ea typeface="CMU Serif Roman" charset="0"/>
                <a:cs typeface="CMU Serif Roman" charset="0"/>
              </a:rPr>
              <a:t>Data Leakage Detection</a:t>
            </a:r>
            <a:endParaRPr kumimoji="1" lang="zh-TW" altLang="en-US" sz="788" dirty="0">
              <a:latin typeface="CMU Serif Roman" charset="0"/>
              <a:ea typeface="CMU Serif Roman" charset="0"/>
              <a:cs typeface="CMU Serif Roman" charset="0"/>
            </a:endParaRPr>
          </a:p>
        </p:txBody>
      </p:sp>
      <p:sp>
        <p:nvSpPr>
          <p:cNvPr id="49" name="橢圓 48"/>
          <p:cNvSpPr/>
          <p:nvPr/>
        </p:nvSpPr>
        <p:spPr>
          <a:xfrm>
            <a:off x="3523185" y="4765136"/>
            <a:ext cx="1390041" cy="690434"/>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Source Code</a:t>
            </a:r>
          </a:p>
          <a:p>
            <a:pPr algn="ctr"/>
            <a:r>
              <a:rPr kumimoji="1" lang="en-US" altLang="zh-TW" sz="900" dirty="0">
                <a:solidFill>
                  <a:schemeClr val="tx1"/>
                </a:solidFill>
                <a:latin typeface="CMU Serif Roman" charset="0"/>
                <a:ea typeface="CMU Serif Roman" charset="0"/>
                <a:cs typeface="CMU Serif Roman" charset="0"/>
              </a:rPr>
              <a:t>of</a:t>
            </a:r>
          </a:p>
          <a:p>
            <a:pPr algn="ctr"/>
            <a:r>
              <a:rPr kumimoji="1" lang="en-US" altLang="zh-TW" sz="900" dirty="0">
                <a:solidFill>
                  <a:schemeClr val="tx1"/>
                </a:solidFill>
                <a:latin typeface="CMU Serif Roman" charset="0"/>
                <a:ea typeface="CMU Serif Roman" charset="0"/>
                <a:cs typeface="CMU Serif Roman" charset="0"/>
              </a:rPr>
              <a:t>Target Program</a:t>
            </a:r>
          </a:p>
        </p:txBody>
      </p:sp>
      <p:cxnSp>
        <p:nvCxnSpPr>
          <p:cNvPr id="9" name="直線箭頭接點 8"/>
          <p:cNvCxnSpPr>
            <a:stCxn id="49" idx="2"/>
            <a:endCxn id="2" idx="6"/>
          </p:cNvCxnSpPr>
          <p:nvPr/>
        </p:nvCxnSpPr>
        <p:spPr>
          <a:xfrm flipH="1">
            <a:off x="3157915" y="5110353"/>
            <a:ext cx="3652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投影片編號版面配置區 9"/>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6</a:t>
            </a:fld>
            <a:endParaRPr kumimoji="1" lang="zh-TW" altLang="en-US"/>
          </a:p>
        </p:txBody>
      </p:sp>
      <p:sp>
        <p:nvSpPr>
          <p:cNvPr id="54" name="Title 1">
            <a:extLst>
              <a:ext uri="{FF2B5EF4-FFF2-40B4-BE49-F238E27FC236}">
                <a16:creationId xmlns:a16="http://schemas.microsoft.com/office/drawing/2014/main" id="{C5D4808D-FE37-4E50-9AEC-7FB5628F744A}"/>
              </a:ext>
            </a:extLst>
          </p:cNvPr>
          <p:cNvSpPr txBox="1">
            <a:spLocks/>
          </p:cNvSpPr>
          <p:nvPr/>
        </p:nvSpPr>
        <p:spPr>
          <a:xfrm>
            <a:off x="5506" y="232330"/>
            <a:ext cx="4642694" cy="735758"/>
          </a:xfrm>
          <a:prstGeom prst="rect">
            <a:avLst/>
          </a:prstGeom>
        </p:spPr>
        <p:txBody>
          <a:bodyPr>
            <a:normAutofit/>
          </a:bodyPr>
          <a:lstStyle>
            <a:lvl1pPr>
              <a:defRPr>
                <a:latin typeface="+mj-lt"/>
                <a:ea typeface="+mj-ea"/>
                <a:cs typeface="+mj-cs"/>
              </a:defRPr>
            </a:lvl1pPr>
          </a:lstStyle>
          <a:p>
            <a:r>
              <a:rPr lang="en-US" sz="3600" b="1" dirty="0">
                <a:latin typeface="Comic Sans MS"/>
              </a:rPr>
              <a:t>Work Flow</a:t>
            </a:r>
            <a:endParaRPr lang="en-IN" sz="3600" b="1" dirty="0">
              <a:latin typeface="Comic Sans MS"/>
            </a:endParaRPr>
          </a:p>
        </p:txBody>
      </p:sp>
      <p:sp>
        <p:nvSpPr>
          <p:cNvPr id="4" name="TextBox 3">
            <a:extLst>
              <a:ext uri="{FF2B5EF4-FFF2-40B4-BE49-F238E27FC236}">
                <a16:creationId xmlns:a16="http://schemas.microsoft.com/office/drawing/2014/main" id="{359BE77D-4CE9-43B1-9BB3-8ACC4B6CFA83}"/>
              </a:ext>
            </a:extLst>
          </p:cNvPr>
          <p:cNvSpPr txBox="1"/>
          <p:nvPr/>
        </p:nvSpPr>
        <p:spPr>
          <a:xfrm>
            <a:off x="5388415" y="5985587"/>
            <a:ext cx="2002983" cy="307777"/>
          </a:xfrm>
          <a:prstGeom prst="rect">
            <a:avLst/>
          </a:prstGeom>
          <a:noFill/>
        </p:spPr>
        <p:txBody>
          <a:bodyPr wrap="square" rtlCol="0">
            <a:spAutoFit/>
          </a:bodyPr>
          <a:lstStyle/>
          <a:p>
            <a:pPr algn="ctr"/>
            <a:r>
              <a:rPr lang="en-US" sz="1400" b="1" dirty="0">
                <a:solidFill>
                  <a:srgbClr val="000000"/>
                </a:solidFill>
                <a:latin typeface="Comic Sans MS" panose="030F0902030302020204" pitchFamily="66" charset="0"/>
              </a:rPr>
              <a:t>Fig.: Phases of MIT</a:t>
            </a:r>
            <a:endParaRPr lang="en-IN" sz="1400" b="1" dirty="0">
              <a:solidFill>
                <a:srgbClr val="000000"/>
              </a:solidFill>
              <a:latin typeface="Comic Sans MS" panose="030F0902030302020204" pitchFamily="66" charset="0"/>
            </a:endParaRPr>
          </a:p>
        </p:txBody>
      </p:sp>
    </p:spTree>
    <p:extLst>
      <p:ext uri="{BB962C8B-B14F-4D97-AF65-F5344CB8AC3E}">
        <p14:creationId xmlns:p14="http://schemas.microsoft.com/office/powerpoint/2010/main" val="1500765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橢圓 1"/>
          <p:cNvSpPr/>
          <p:nvPr/>
        </p:nvSpPr>
        <p:spPr>
          <a:xfrm>
            <a:off x="1767874" y="4765136"/>
            <a:ext cx="1390041" cy="690434"/>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a:t>
            </a:r>
          </a:p>
          <a:p>
            <a:pPr algn="ctr"/>
            <a:r>
              <a:rPr kumimoji="1" lang="en-US" altLang="zh-TW" sz="900" dirty="0">
                <a:solidFill>
                  <a:schemeClr val="tx1"/>
                </a:solidFill>
                <a:latin typeface="CMU Serif Roman" charset="0"/>
                <a:ea typeface="CMU Serif Roman" charset="0"/>
                <a:cs typeface="CMU Serif Roman" charset="0"/>
              </a:rPr>
              <a:t>of</a:t>
            </a:r>
          </a:p>
          <a:p>
            <a:pPr algn="ctr"/>
            <a:r>
              <a:rPr kumimoji="1" lang="en-US" altLang="zh-TW" sz="900" dirty="0">
                <a:solidFill>
                  <a:schemeClr val="tx1"/>
                </a:solidFill>
                <a:latin typeface="CMU Serif Roman" charset="0"/>
                <a:ea typeface="CMU Serif Roman" charset="0"/>
                <a:cs typeface="CMU Serif Roman" charset="0"/>
              </a:rPr>
              <a:t>Target Program</a:t>
            </a:r>
          </a:p>
        </p:txBody>
      </p:sp>
      <p:sp>
        <p:nvSpPr>
          <p:cNvPr id="3" name="矩形 2"/>
          <p:cNvSpPr/>
          <p:nvPr/>
        </p:nvSpPr>
        <p:spPr>
          <a:xfrm>
            <a:off x="1896801" y="2966883"/>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Extraction</a:t>
            </a:r>
          </a:p>
        </p:txBody>
      </p:sp>
      <p:sp>
        <p:nvSpPr>
          <p:cNvPr id="5" name="橢圓 4"/>
          <p:cNvSpPr/>
          <p:nvPr/>
        </p:nvSpPr>
        <p:spPr>
          <a:xfrm>
            <a:off x="4837891" y="2559106"/>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Instrumented</a:t>
            </a:r>
          </a:p>
          <a:p>
            <a:pPr algn="ctr"/>
            <a:r>
              <a:rPr kumimoji="1" lang="en-US" altLang="zh-TW" sz="900" dirty="0">
                <a:solidFill>
                  <a:schemeClr val="tx1"/>
                </a:solidFill>
                <a:latin typeface="CMU Serif Roman" charset="0"/>
                <a:ea typeface="CMU Serif Roman" charset="0"/>
                <a:cs typeface="CMU Serif Roman" charset="0"/>
              </a:rPr>
              <a:t>LLVM IR</a:t>
            </a:r>
          </a:p>
        </p:txBody>
      </p:sp>
      <p:sp>
        <p:nvSpPr>
          <p:cNvPr id="6" name="橢圓 5"/>
          <p:cNvSpPr/>
          <p:nvPr/>
        </p:nvSpPr>
        <p:spPr>
          <a:xfrm>
            <a:off x="4837891" y="3732129"/>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Intermediate Representation</a:t>
            </a:r>
          </a:p>
        </p:txBody>
      </p:sp>
      <p:sp>
        <p:nvSpPr>
          <p:cNvPr id="7" name="矩形 6"/>
          <p:cNvSpPr/>
          <p:nvPr/>
        </p:nvSpPr>
        <p:spPr>
          <a:xfrm>
            <a:off x="8124010" y="3147666"/>
            <a:ext cx="987334"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Replay</a:t>
            </a:r>
          </a:p>
        </p:txBody>
      </p:sp>
      <p:sp>
        <p:nvSpPr>
          <p:cNvPr id="8" name="矩形 7"/>
          <p:cNvSpPr/>
          <p:nvPr/>
        </p:nvSpPr>
        <p:spPr>
          <a:xfrm>
            <a:off x="3453056" y="2559107"/>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 Instrumentation</a:t>
            </a:r>
          </a:p>
        </p:txBody>
      </p:sp>
      <p:cxnSp>
        <p:nvCxnSpPr>
          <p:cNvPr id="27" name="肘形接點 26"/>
          <p:cNvCxnSpPr>
            <a:stCxn id="3" idx="3"/>
            <a:endCxn id="8" idx="1"/>
          </p:cNvCxnSpPr>
          <p:nvPr/>
        </p:nvCxnSpPr>
        <p:spPr>
          <a:xfrm flipV="1">
            <a:off x="3028987" y="2883472"/>
            <a:ext cx="424068" cy="40777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1" name="肘形接點 30"/>
          <p:cNvCxnSpPr>
            <a:stCxn id="8" idx="3"/>
            <a:endCxn id="5" idx="2"/>
          </p:cNvCxnSpPr>
          <p:nvPr/>
        </p:nvCxnSpPr>
        <p:spPr>
          <a:xfrm flipV="1">
            <a:off x="4585242" y="2883472"/>
            <a:ext cx="252650" cy="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9" name="直線接點 38"/>
          <p:cNvCxnSpPr/>
          <p:nvPr/>
        </p:nvCxnSpPr>
        <p:spPr>
          <a:xfrm>
            <a:off x="6504926" y="1025509"/>
            <a:ext cx="0" cy="4765673"/>
          </a:xfrm>
          <a:prstGeom prst="line">
            <a:avLst/>
          </a:prstGeom>
          <a:ln>
            <a:solidFill>
              <a:schemeClr val="bg2">
                <a:lumMod val="50000"/>
              </a:schemeClr>
            </a:solidFill>
            <a:prstDash val="sysDot"/>
          </a:ln>
        </p:spPr>
        <p:style>
          <a:lnRef idx="1">
            <a:schemeClr val="dk1"/>
          </a:lnRef>
          <a:fillRef idx="0">
            <a:schemeClr val="dk1"/>
          </a:fillRef>
          <a:effectRef idx="0">
            <a:schemeClr val="dk1"/>
          </a:effectRef>
          <a:fontRef idx="minor">
            <a:schemeClr val="tx1"/>
          </a:fontRef>
        </p:style>
      </p:cxnSp>
      <p:sp>
        <p:nvSpPr>
          <p:cNvPr id="40" name="文字方塊 39"/>
          <p:cNvSpPr txBox="1"/>
          <p:nvPr/>
        </p:nvSpPr>
        <p:spPr>
          <a:xfrm>
            <a:off x="3557164" y="1040345"/>
            <a:ext cx="1116011" cy="253916"/>
          </a:xfrm>
          <a:prstGeom prst="rect">
            <a:avLst/>
          </a:prstGeom>
          <a:noFill/>
        </p:spPr>
        <p:txBody>
          <a:bodyPr wrap="none" rtlCol="0">
            <a:spAutoFit/>
          </a:bodyPr>
          <a:lstStyle/>
          <a:p>
            <a:r>
              <a:rPr kumimoji="1" lang="en-US" altLang="zh-TW" sz="1050" b="1" dirty="0">
                <a:solidFill>
                  <a:srgbClr val="FF0000"/>
                </a:solidFill>
                <a:latin typeface="CMU Serif Roman" charset="0"/>
                <a:ea typeface="CMU Serif Roman" charset="0"/>
                <a:cs typeface="CMU Serif Roman" charset="0"/>
              </a:rPr>
              <a:t>Extraction Phase</a:t>
            </a:r>
            <a:endParaRPr kumimoji="1" lang="zh-TW" altLang="en-US" sz="1050" b="1" dirty="0">
              <a:solidFill>
                <a:srgbClr val="FF0000"/>
              </a:solidFill>
              <a:latin typeface="CMU Serif Roman" charset="0"/>
              <a:ea typeface="CMU Serif Roman" charset="0"/>
              <a:cs typeface="CMU Serif Roman" charset="0"/>
            </a:endParaRPr>
          </a:p>
        </p:txBody>
      </p:sp>
      <p:sp>
        <p:nvSpPr>
          <p:cNvPr id="41" name="文字方塊 40"/>
          <p:cNvSpPr txBox="1"/>
          <p:nvPr/>
        </p:nvSpPr>
        <p:spPr>
          <a:xfrm>
            <a:off x="6775722" y="1040345"/>
            <a:ext cx="938077"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Record Phase</a:t>
            </a:r>
            <a:endParaRPr kumimoji="1" lang="zh-TW" altLang="en-US" sz="1050" b="1" dirty="0">
              <a:latin typeface="CMU Serif Roman" charset="0"/>
              <a:ea typeface="CMU Serif Roman" charset="0"/>
              <a:cs typeface="CMU Serif Roman" charset="0"/>
            </a:endParaRPr>
          </a:p>
        </p:txBody>
      </p:sp>
      <p:sp>
        <p:nvSpPr>
          <p:cNvPr id="42" name="文字方塊 41"/>
          <p:cNvSpPr txBox="1"/>
          <p:nvPr/>
        </p:nvSpPr>
        <p:spPr>
          <a:xfrm>
            <a:off x="8845043" y="1038668"/>
            <a:ext cx="925253"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Replay Phase</a:t>
            </a:r>
            <a:endParaRPr kumimoji="1" lang="zh-TW" altLang="en-US" sz="1050" b="1" dirty="0">
              <a:latin typeface="CMU Serif Roman" charset="0"/>
              <a:ea typeface="CMU Serif Roman" charset="0"/>
              <a:cs typeface="CMU Serif Roman" charset="0"/>
            </a:endParaRPr>
          </a:p>
        </p:txBody>
      </p:sp>
      <p:sp>
        <p:nvSpPr>
          <p:cNvPr id="30" name="橢圓 29"/>
          <p:cNvSpPr/>
          <p:nvPr/>
        </p:nvSpPr>
        <p:spPr>
          <a:xfrm>
            <a:off x="4837891" y="1771257"/>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Information Flow Tracking Runtime Library</a:t>
            </a:r>
          </a:p>
        </p:txBody>
      </p:sp>
      <p:sp>
        <p:nvSpPr>
          <p:cNvPr id="44" name="矩形 43"/>
          <p:cNvSpPr/>
          <p:nvPr/>
        </p:nvSpPr>
        <p:spPr>
          <a:xfrm>
            <a:off x="3453056" y="3732129"/>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 to TSIR</a:t>
            </a:r>
          </a:p>
          <a:p>
            <a:pPr algn="ctr"/>
            <a:r>
              <a:rPr kumimoji="1" lang="en-US" altLang="zh-TW" sz="900" dirty="0">
                <a:solidFill>
                  <a:schemeClr val="tx1"/>
                </a:solidFill>
                <a:latin typeface="CMU Serif Roman" charset="0"/>
                <a:ea typeface="CMU Serif Roman" charset="0"/>
                <a:cs typeface="CMU Serif Roman" charset="0"/>
              </a:rPr>
              <a:t>Translation</a:t>
            </a:r>
          </a:p>
        </p:txBody>
      </p:sp>
      <p:cxnSp>
        <p:nvCxnSpPr>
          <p:cNvPr id="46" name="肘形接點 45"/>
          <p:cNvCxnSpPr>
            <a:stCxn id="3" idx="3"/>
            <a:endCxn id="44" idx="1"/>
          </p:cNvCxnSpPr>
          <p:nvPr/>
        </p:nvCxnSpPr>
        <p:spPr>
          <a:xfrm>
            <a:off x="3028987" y="3291249"/>
            <a:ext cx="424068" cy="76524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2" name="直線箭頭接點 51"/>
          <p:cNvCxnSpPr>
            <a:stCxn id="44" idx="3"/>
            <a:endCxn id="6" idx="2"/>
          </p:cNvCxnSpPr>
          <p:nvPr/>
        </p:nvCxnSpPr>
        <p:spPr>
          <a:xfrm>
            <a:off x="4585242" y="4056494"/>
            <a:ext cx="2526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橢圓 52"/>
          <p:cNvSpPr/>
          <p:nvPr/>
        </p:nvSpPr>
        <p:spPr>
          <a:xfrm>
            <a:off x="6664604" y="2200563"/>
            <a:ext cx="1208190"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Instrumented Target Program</a:t>
            </a:r>
          </a:p>
        </p:txBody>
      </p:sp>
      <p:cxnSp>
        <p:nvCxnSpPr>
          <p:cNvPr id="58" name="肘形接點 57"/>
          <p:cNvCxnSpPr>
            <a:stCxn id="30" idx="6"/>
            <a:endCxn id="53" idx="2"/>
          </p:cNvCxnSpPr>
          <p:nvPr/>
        </p:nvCxnSpPr>
        <p:spPr>
          <a:xfrm>
            <a:off x="6334858" y="2095624"/>
            <a:ext cx="329747" cy="42930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0" name="肘形接點 59"/>
          <p:cNvCxnSpPr>
            <a:stCxn id="5" idx="6"/>
            <a:endCxn id="53" idx="2"/>
          </p:cNvCxnSpPr>
          <p:nvPr/>
        </p:nvCxnSpPr>
        <p:spPr>
          <a:xfrm flipV="1">
            <a:off x="6334858" y="2524927"/>
            <a:ext cx="329747" cy="35854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線箭頭接點 61"/>
          <p:cNvCxnSpPr>
            <a:stCxn id="2" idx="0"/>
            <a:endCxn id="3" idx="2"/>
          </p:cNvCxnSpPr>
          <p:nvPr/>
        </p:nvCxnSpPr>
        <p:spPr>
          <a:xfrm flipV="1">
            <a:off x="2462894" y="3615612"/>
            <a:ext cx="0" cy="11495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矩形 67"/>
          <p:cNvSpPr/>
          <p:nvPr/>
        </p:nvSpPr>
        <p:spPr>
          <a:xfrm>
            <a:off x="1767874" y="2419987"/>
            <a:ext cx="2943693" cy="2109224"/>
          </a:xfrm>
          <a:prstGeom prst="rect">
            <a:avLst/>
          </a:prstGeom>
          <a:noFill/>
          <a:ln>
            <a:solidFill>
              <a:srgbClr val="767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sp>
        <p:nvSpPr>
          <p:cNvPr id="69" name="文字方塊 68"/>
          <p:cNvSpPr txBox="1"/>
          <p:nvPr/>
        </p:nvSpPr>
        <p:spPr>
          <a:xfrm>
            <a:off x="1747092" y="2198150"/>
            <a:ext cx="888385" cy="2308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TSIR Translator</a:t>
            </a:r>
            <a:endParaRPr kumimoji="1" lang="zh-TW" altLang="en-US" sz="900" dirty="0">
              <a:latin typeface="CMU Serif Roman" charset="0"/>
              <a:ea typeface="CMU Serif Roman" charset="0"/>
              <a:cs typeface="CMU Serif Roman" charset="0"/>
            </a:endParaRPr>
          </a:p>
        </p:txBody>
      </p:sp>
      <p:sp>
        <p:nvSpPr>
          <p:cNvPr id="71" name="矩形 70"/>
          <p:cNvSpPr/>
          <p:nvPr/>
        </p:nvSpPr>
        <p:spPr>
          <a:xfrm>
            <a:off x="9197285" y="3147666"/>
            <a:ext cx="987334"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Request Handling</a:t>
            </a:r>
          </a:p>
        </p:txBody>
      </p:sp>
      <p:cxnSp>
        <p:nvCxnSpPr>
          <p:cNvPr id="73" name="肘形接點 72"/>
          <p:cNvCxnSpPr>
            <a:stCxn id="53" idx="6"/>
            <a:endCxn id="7" idx="0"/>
          </p:cNvCxnSpPr>
          <p:nvPr/>
        </p:nvCxnSpPr>
        <p:spPr>
          <a:xfrm>
            <a:off x="7872793" y="2524928"/>
            <a:ext cx="744884" cy="622738"/>
          </a:xfrm>
          <a:prstGeom prst="bentConnector2">
            <a:avLst/>
          </a:prstGeom>
          <a:ln>
            <a:prstDash val="solid"/>
            <a:tailEnd type="triangle"/>
          </a:ln>
        </p:spPr>
        <p:style>
          <a:lnRef idx="1">
            <a:schemeClr val="dk1"/>
          </a:lnRef>
          <a:fillRef idx="0">
            <a:schemeClr val="dk1"/>
          </a:fillRef>
          <a:effectRef idx="0">
            <a:schemeClr val="dk1"/>
          </a:effectRef>
          <a:fontRef idx="minor">
            <a:schemeClr val="tx1"/>
          </a:fontRef>
        </p:style>
      </p:cxnSp>
      <p:cxnSp>
        <p:nvCxnSpPr>
          <p:cNvPr id="75" name="肘形接點 74"/>
          <p:cNvCxnSpPr>
            <a:stCxn id="53" idx="6"/>
            <a:endCxn id="71" idx="0"/>
          </p:cNvCxnSpPr>
          <p:nvPr/>
        </p:nvCxnSpPr>
        <p:spPr>
          <a:xfrm>
            <a:off x="7872794" y="2524928"/>
            <a:ext cx="1818158" cy="622738"/>
          </a:xfrm>
          <a:prstGeom prst="bentConnector2">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77" name="肘形接點 76"/>
          <p:cNvCxnSpPr>
            <a:stCxn id="6" idx="6"/>
            <a:endCxn id="7" idx="1"/>
          </p:cNvCxnSpPr>
          <p:nvPr/>
        </p:nvCxnSpPr>
        <p:spPr>
          <a:xfrm flipV="1">
            <a:off x="6334858" y="3472031"/>
            <a:ext cx="1789153" cy="58446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78" name="矩形 77"/>
          <p:cNvSpPr/>
          <p:nvPr/>
        </p:nvSpPr>
        <p:spPr>
          <a:xfrm>
            <a:off x="7989323" y="3028949"/>
            <a:ext cx="2314991" cy="872837"/>
          </a:xfrm>
          <a:prstGeom prst="rect">
            <a:avLst/>
          </a:prstGeom>
          <a:noFill/>
          <a:ln>
            <a:solidFill>
              <a:srgbClr val="767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sp>
        <p:nvSpPr>
          <p:cNvPr id="79" name="文字方塊 78"/>
          <p:cNvSpPr txBox="1"/>
          <p:nvPr/>
        </p:nvSpPr>
        <p:spPr>
          <a:xfrm>
            <a:off x="7989343" y="3918209"/>
            <a:ext cx="994183" cy="3693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Information Flow</a:t>
            </a:r>
          </a:p>
          <a:p>
            <a:r>
              <a:rPr kumimoji="1" lang="en-US" altLang="zh-TW" sz="900" dirty="0">
                <a:latin typeface="CMU Serif Roman" charset="0"/>
                <a:ea typeface="CMU Serif Roman" charset="0"/>
                <a:cs typeface="CMU Serif Roman" charset="0"/>
              </a:rPr>
              <a:t>Tracking Engine</a:t>
            </a:r>
            <a:endParaRPr kumimoji="1" lang="zh-TW" altLang="en-US" sz="900" dirty="0">
              <a:latin typeface="CMU Serif Roman" charset="0"/>
              <a:ea typeface="CMU Serif Roman" charset="0"/>
              <a:cs typeface="CMU Serif Roman" charset="0"/>
            </a:endParaRPr>
          </a:p>
        </p:txBody>
      </p:sp>
      <p:cxnSp>
        <p:nvCxnSpPr>
          <p:cNvPr id="81" name="肘形接點 80"/>
          <p:cNvCxnSpPr>
            <a:stCxn id="71" idx="3"/>
            <a:endCxn id="53" idx="0"/>
          </p:cNvCxnSpPr>
          <p:nvPr/>
        </p:nvCxnSpPr>
        <p:spPr>
          <a:xfrm flipH="1" flipV="1">
            <a:off x="7268699" y="2200563"/>
            <a:ext cx="2915920" cy="1271468"/>
          </a:xfrm>
          <a:prstGeom prst="bentConnector4">
            <a:avLst>
              <a:gd name="adj1" fmla="val -7306"/>
              <a:gd name="adj2" fmla="val 113484"/>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83" name="文字方塊 82"/>
          <p:cNvSpPr txBox="1"/>
          <p:nvPr/>
        </p:nvSpPr>
        <p:spPr>
          <a:xfrm>
            <a:off x="8054354" y="2629598"/>
            <a:ext cx="582212" cy="369332"/>
          </a:xfrm>
          <a:prstGeom prst="rect">
            <a:avLst/>
          </a:prstGeom>
          <a:noFill/>
        </p:spPr>
        <p:txBody>
          <a:bodyPr wrap="none" rtlCol="0">
            <a:spAutoFit/>
          </a:bodyPr>
          <a:lstStyle/>
          <a:p>
            <a:pPr algn="r"/>
            <a:r>
              <a:rPr kumimoji="1" lang="en-US" altLang="zh-TW" sz="900" dirty="0">
                <a:latin typeface="CMU Serif Roman" charset="0"/>
                <a:ea typeface="CMU Serif Roman" charset="0"/>
                <a:cs typeface="CMU Serif Roman" charset="0"/>
              </a:rPr>
              <a:t>runtime</a:t>
            </a:r>
          </a:p>
          <a:p>
            <a:pPr algn="r"/>
            <a:r>
              <a:rPr kumimoji="1" lang="en-US" altLang="zh-TW" sz="900" dirty="0">
                <a:latin typeface="CMU Serif Roman" charset="0"/>
                <a:ea typeface="CMU Serif Roman" charset="0"/>
                <a:cs typeface="CMU Serif Roman" charset="0"/>
              </a:rPr>
              <a:t>log</a:t>
            </a:r>
            <a:endParaRPr kumimoji="1" lang="zh-TW" altLang="en-US" sz="900" dirty="0">
              <a:latin typeface="CMU Serif Roman" charset="0"/>
              <a:ea typeface="CMU Serif Roman" charset="0"/>
              <a:cs typeface="CMU Serif Roman" charset="0"/>
            </a:endParaRPr>
          </a:p>
        </p:txBody>
      </p:sp>
      <p:sp>
        <p:nvSpPr>
          <p:cNvPr id="84" name="文字方塊 83"/>
          <p:cNvSpPr txBox="1"/>
          <p:nvPr/>
        </p:nvSpPr>
        <p:spPr>
          <a:xfrm>
            <a:off x="8685607" y="2317178"/>
            <a:ext cx="1016625" cy="230832"/>
          </a:xfrm>
          <a:prstGeom prst="rect">
            <a:avLst/>
          </a:prstGeom>
          <a:noFill/>
        </p:spPr>
        <p:txBody>
          <a:bodyPr wrap="none" rtlCol="0">
            <a:spAutoFit/>
          </a:bodyPr>
          <a:lstStyle/>
          <a:p>
            <a:r>
              <a:rPr kumimoji="1" lang="en-US" altLang="zh-TW" sz="900">
                <a:latin typeface="CMU Serif Roman" charset="0"/>
                <a:ea typeface="CMU Serif Roman" charset="0"/>
                <a:cs typeface="CMU Serif Roman" charset="0"/>
              </a:rPr>
              <a:t>tag query request</a:t>
            </a:r>
            <a:endParaRPr kumimoji="1" lang="zh-TW" altLang="en-US" sz="900" dirty="0">
              <a:latin typeface="CMU Serif Roman" charset="0"/>
              <a:ea typeface="CMU Serif Roman" charset="0"/>
              <a:cs typeface="CMU Serif Roman" charset="0"/>
            </a:endParaRPr>
          </a:p>
        </p:txBody>
      </p:sp>
      <p:sp>
        <p:nvSpPr>
          <p:cNvPr id="85" name="文字方塊 84"/>
          <p:cNvSpPr txBox="1"/>
          <p:nvPr/>
        </p:nvSpPr>
        <p:spPr>
          <a:xfrm>
            <a:off x="8385501" y="1819892"/>
            <a:ext cx="1083951" cy="2308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tag query response</a:t>
            </a:r>
            <a:endParaRPr kumimoji="1" lang="zh-TW" altLang="en-US" sz="900" dirty="0">
              <a:latin typeface="CMU Serif Roman" charset="0"/>
              <a:ea typeface="CMU Serif Roman" charset="0"/>
              <a:cs typeface="CMU Serif Roman" charset="0"/>
            </a:endParaRPr>
          </a:p>
        </p:txBody>
      </p:sp>
      <p:cxnSp>
        <p:nvCxnSpPr>
          <p:cNvPr id="87" name="直線接點 86"/>
          <p:cNvCxnSpPr/>
          <p:nvPr/>
        </p:nvCxnSpPr>
        <p:spPr>
          <a:xfrm>
            <a:off x="7989322" y="1025509"/>
            <a:ext cx="0" cy="4765673"/>
          </a:xfrm>
          <a:prstGeom prst="line">
            <a:avLst/>
          </a:prstGeom>
          <a:ln>
            <a:solidFill>
              <a:schemeClr val="bg2">
                <a:lumMod val="50000"/>
              </a:schemeClr>
            </a:solidFill>
            <a:prstDash val="sysDot"/>
          </a:ln>
        </p:spPr>
        <p:style>
          <a:lnRef idx="1">
            <a:schemeClr val="dk1"/>
          </a:lnRef>
          <a:fillRef idx="0">
            <a:schemeClr val="dk1"/>
          </a:fillRef>
          <a:effectRef idx="0">
            <a:schemeClr val="dk1"/>
          </a:effectRef>
          <a:fontRef idx="minor">
            <a:schemeClr val="tx1"/>
          </a:fontRef>
        </p:style>
      </p:cxnSp>
      <p:grpSp>
        <p:nvGrpSpPr>
          <p:cNvPr id="114" name="群組 113"/>
          <p:cNvGrpSpPr/>
          <p:nvPr/>
        </p:nvGrpSpPr>
        <p:grpSpPr>
          <a:xfrm>
            <a:off x="8117240" y="4665012"/>
            <a:ext cx="766360" cy="707431"/>
            <a:chOff x="9180237" y="4785425"/>
            <a:chExt cx="1021813" cy="943241"/>
          </a:xfrm>
        </p:grpSpPr>
        <p:sp>
          <p:nvSpPr>
            <p:cNvPr id="90" name="橢圓 89"/>
            <p:cNvSpPr/>
            <p:nvPr/>
          </p:nvSpPr>
          <p:spPr>
            <a:xfrm>
              <a:off x="9180237" y="5308405"/>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2" name="橢圓 91"/>
            <p:cNvSpPr/>
            <p:nvPr/>
          </p:nvSpPr>
          <p:spPr>
            <a:xfrm>
              <a:off x="9544298" y="5076772"/>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3" name="橢圓 92"/>
            <p:cNvSpPr/>
            <p:nvPr/>
          </p:nvSpPr>
          <p:spPr>
            <a:xfrm>
              <a:off x="9566581" y="5516190"/>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4" name="橢圓 93"/>
            <p:cNvSpPr/>
            <p:nvPr/>
          </p:nvSpPr>
          <p:spPr>
            <a:xfrm>
              <a:off x="9973257" y="4785425"/>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5" name="橢圓 94"/>
            <p:cNvSpPr/>
            <p:nvPr/>
          </p:nvSpPr>
          <p:spPr>
            <a:xfrm>
              <a:off x="9989574" y="5236557"/>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cxnSp>
          <p:nvCxnSpPr>
            <p:cNvPr id="97" name="曲線接點 96"/>
            <p:cNvCxnSpPr>
              <a:stCxn id="90" idx="4"/>
              <a:endCxn id="93" idx="2"/>
            </p:cNvCxnSpPr>
            <p:nvPr/>
          </p:nvCxnSpPr>
          <p:spPr>
            <a:xfrm rot="16200000" flipH="1">
              <a:off x="9375755" y="5431601"/>
              <a:ext cx="101547" cy="280106"/>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99" name="曲線接點 98"/>
            <p:cNvCxnSpPr>
              <a:stCxn id="90" idx="0"/>
              <a:endCxn id="92" idx="2"/>
            </p:cNvCxnSpPr>
            <p:nvPr/>
          </p:nvCxnSpPr>
          <p:spPr>
            <a:xfrm rot="5400000" flipH="1" flipV="1">
              <a:off x="9352689" y="5116797"/>
              <a:ext cx="125395" cy="257823"/>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03" name="曲線接點 102"/>
            <p:cNvCxnSpPr>
              <a:stCxn id="93" idx="6"/>
              <a:endCxn id="95" idx="4"/>
            </p:cNvCxnSpPr>
            <p:nvPr/>
          </p:nvCxnSpPr>
          <p:spPr>
            <a:xfrm flipV="1">
              <a:off x="9779057" y="5449033"/>
              <a:ext cx="316755" cy="173395"/>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09" name="曲線接點 108"/>
            <p:cNvCxnSpPr>
              <a:stCxn id="93" idx="0"/>
              <a:endCxn id="95" idx="2"/>
            </p:cNvCxnSpPr>
            <p:nvPr/>
          </p:nvCxnSpPr>
          <p:spPr>
            <a:xfrm rot="5400000" flipH="1" flipV="1">
              <a:off x="9744499" y="5271116"/>
              <a:ext cx="173395" cy="316755"/>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11" name="曲線接點 110"/>
            <p:cNvCxnSpPr>
              <a:stCxn id="92" idx="7"/>
              <a:endCxn id="94" idx="2"/>
            </p:cNvCxnSpPr>
            <p:nvPr/>
          </p:nvCxnSpPr>
          <p:spPr>
            <a:xfrm rot="5400000" flipH="1" flipV="1">
              <a:off x="9741345" y="4875977"/>
              <a:ext cx="216225" cy="247599"/>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13" name="曲線接點 112"/>
            <p:cNvCxnSpPr>
              <a:stCxn id="94" idx="6"/>
              <a:endCxn id="95" idx="6"/>
            </p:cNvCxnSpPr>
            <p:nvPr/>
          </p:nvCxnSpPr>
          <p:spPr>
            <a:xfrm>
              <a:off x="10185733" y="4891663"/>
              <a:ext cx="16317" cy="451132"/>
            </a:xfrm>
            <a:prstGeom prst="curvedConnector3">
              <a:avLst>
                <a:gd name="adj1" fmla="val 1500993"/>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grpSp>
      <p:cxnSp>
        <p:nvCxnSpPr>
          <p:cNvPr id="116" name="直線箭頭接點 115"/>
          <p:cNvCxnSpPr>
            <a:stCxn id="78" idx="2"/>
          </p:cNvCxnSpPr>
          <p:nvPr/>
        </p:nvCxnSpPr>
        <p:spPr>
          <a:xfrm flipH="1">
            <a:off x="9146818" y="3901785"/>
            <a:ext cx="1" cy="627426"/>
          </a:xfrm>
          <a:prstGeom prst="straightConnector1">
            <a:avLst/>
          </a:prstGeom>
          <a:ln>
            <a:prstDash val="sysDot"/>
            <a:tailEnd type="triangle"/>
          </a:ln>
        </p:spPr>
        <p:style>
          <a:lnRef idx="1">
            <a:schemeClr val="dk1"/>
          </a:lnRef>
          <a:fillRef idx="0">
            <a:schemeClr val="dk1"/>
          </a:fillRef>
          <a:effectRef idx="0">
            <a:schemeClr val="dk1"/>
          </a:effectRef>
          <a:fontRef idx="minor">
            <a:schemeClr val="tx1"/>
          </a:fontRef>
        </p:style>
      </p:cxnSp>
      <p:sp>
        <p:nvSpPr>
          <p:cNvPr id="117" name="文字方塊 116"/>
          <p:cNvSpPr txBox="1"/>
          <p:nvPr/>
        </p:nvSpPr>
        <p:spPr>
          <a:xfrm>
            <a:off x="9121166" y="4700875"/>
            <a:ext cx="1494878" cy="698589"/>
          </a:xfrm>
          <a:prstGeom prst="rect">
            <a:avLst/>
          </a:prstGeom>
          <a:noFill/>
        </p:spPr>
        <p:txBody>
          <a:bodyPr wrap="square" rtlCol="0">
            <a:spAutoFit/>
          </a:bodyPr>
          <a:lstStyle/>
          <a:p>
            <a:r>
              <a:rPr kumimoji="1" lang="en-US" altLang="zh-TW" sz="788" dirty="0">
                <a:latin typeface="CMU Serif Roman" charset="0"/>
                <a:ea typeface="CMU Serif Roman" charset="0"/>
                <a:cs typeface="CMU Serif Roman" charset="0"/>
              </a:rPr>
              <a:t>Further Analysis</a:t>
            </a:r>
          </a:p>
          <a:p>
            <a:pPr marL="128588" indent="-128588">
              <a:buFont typeface="Arial" charset="0"/>
              <a:buChar char="•"/>
            </a:pPr>
            <a:r>
              <a:rPr kumimoji="1" lang="en-US" altLang="zh-TW" sz="788" dirty="0">
                <a:latin typeface="CMU Serif Roman" charset="0"/>
                <a:ea typeface="CMU Serif Roman" charset="0"/>
                <a:cs typeface="CMU Serif Roman" charset="0"/>
              </a:rPr>
              <a:t>Whole-system Information Flow Tracking</a:t>
            </a:r>
          </a:p>
          <a:p>
            <a:pPr marL="128588" indent="-128588">
              <a:buFont typeface="Arial" charset="0"/>
              <a:buChar char="•"/>
            </a:pPr>
            <a:r>
              <a:rPr kumimoji="1" lang="en-US" altLang="zh-TW" sz="788" dirty="0">
                <a:latin typeface="CMU Serif Roman" charset="0"/>
                <a:ea typeface="CMU Serif Roman" charset="0"/>
                <a:cs typeface="CMU Serif Roman" charset="0"/>
              </a:rPr>
              <a:t>Data Provenance</a:t>
            </a:r>
          </a:p>
          <a:p>
            <a:pPr marL="128588" indent="-128588">
              <a:buFont typeface="Arial" charset="0"/>
              <a:buChar char="•"/>
            </a:pPr>
            <a:r>
              <a:rPr kumimoji="1" lang="en-US" altLang="zh-TW" sz="788" dirty="0">
                <a:latin typeface="CMU Serif Roman" charset="0"/>
                <a:ea typeface="CMU Serif Roman" charset="0"/>
                <a:cs typeface="CMU Serif Roman" charset="0"/>
              </a:rPr>
              <a:t>Data Leakage Detection</a:t>
            </a:r>
            <a:endParaRPr kumimoji="1" lang="zh-TW" altLang="en-US" sz="788" dirty="0">
              <a:latin typeface="CMU Serif Roman" charset="0"/>
              <a:ea typeface="CMU Serif Roman" charset="0"/>
              <a:cs typeface="CMU Serif Roman" charset="0"/>
            </a:endParaRPr>
          </a:p>
        </p:txBody>
      </p:sp>
      <p:sp>
        <p:nvSpPr>
          <p:cNvPr id="49" name="橢圓 48"/>
          <p:cNvSpPr/>
          <p:nvPr/>
        </p:nvSpPr>
        <p:spPr>
          <a:xfrm>
            <a:off x="3523185" y="4765136"/>
            <a:ext cx="1390041" cy="690434"/>
          </a:xfrm>
          <a:prstGeom prst="ellipse">
            <a:avLst/>
          </a:prstGeom>
          <a:solidFill>
            <a:srgbClr val="FFC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Source Code</a:t>
            </a:r>
          </a:p>
          <a:p>
            <a:pPr algn="ctr"/>
            <a:r>
              <a:rPr kumimoji="1" lang="en-US" altLang="zh-TW" sz="900" dirty="0">
                <a:solidFill>
                  <a:schemeClr val="tx1"/>
                </a:solidFill>
                <a:latin typeface="CMU Serif Roman" charset="0"/>
                <a:ea typeface="CMU Serif Roman" charset="0"/>
                <a:cs typeface="CMU Serif Roman" charset="0"/>
              </a:rPr>
              <a:t>of</a:t>
            </a:r>
          </a:p>
          <a:p>
            <a:pPr algn="ctr"/>
            <a:r>
              <a:rPr kumimoji="1" lang="en-US" altLang="zh-TW" sz="900" dirty="0">
                <a:solidFill>
                  <a:schemeClr val="tx1"/>
                </a:solidFill>
                <a:latin typeface="CMU Serif Roman" charset="0"/>
                <a:ea typeface="CMU Serif Roman" charset="0"/>
                <a:cs typeface="CMU Serif Roman" charset="0"/>
              </a:rPr>
              <a:t>Target Program</a:t>
            </a:r>
          </a:p>
        </p:txBody>
      </p:sp>
      <p:cxnSp>
        <p:nvCxnSpPr>
          <p:cNvPr id="9" name="直線箭頭接點 8"/>
          <p:cNvCxnSpPr>
            <a:stCxn id="49" idx="2"/>
            <a:endCxn id="2" idx="6"/>
          </p:cNvCxnSpPr>
          <p:nvPr/>
        </p:nvCxnSpPr>
        <p:spPr>
          <a:xfrm flipH="1">
            <a:off x="3157915" y="5110353"/>
            <a:ext cx="3652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摺角紙張 9"/>
          <p:cNvSpPr/>
          <p:nvPr/>
        </p:nvSpPr>
        <p:spPr>
          <a:xfrm>
            <a:off x="4712776" y="5553882"/>
            <a:ext cx="1527858" cy="773715"/>
          </a:xfrm>
          <a:prstGeom prst="foldedCorner">
            <a:avLst/>
          </a:prstGeom>
        </p:spPr>
        <p:style>
          <a:lnRef idx="2">
            <a:schemeClr val="dk1"/>
          </a:lnRef>
          <a:fillRef idx="1">
            <a:schemeClr val="lt1"/>
          </a:fillRef>
          <a:effectRef idx="0">
            <a:schemeClr val="dk1"/>
          </a:effectRef>
          <a:fontRef idx="minor">
            <a:schemeClr val="dk1"/>
          </a:fontRef>
        </p:style>
        <p:txBody>
          <a:bodyPr rtlCol="0" anchor="ctr"/>
          <a:lstStyle/>
          <a:p>
            <a:r>
              <a:rPr kumimoji="1" lang="en-US" altLang="zh-TW" sz="1400" dirty="0" err="1">
                <a:solidFill>
                  <a:srgbClr val="FF0000"/>
                </a:solidFill>
                <a:latin typeface="Consolas" charset="0"/>
                <a:ea typeface="Consolas" charset="0"/>
                <a:cs typeface="Consolas" charset="0"/>
              </a:rPr>
              <a:t>int</a:t>
            </a:r>
            <a:r>
              <a:rPr kumimoji="1" lang="en-US" altLang="zh-TW" sz="1400" dirty="0">
                <a:solidFill>
                  <a:srgbClr val="FF0000"/>
                </a:solidFill>
                <a:latin typeface="Consolas" charset="0"/>
                <a:ea typeface="Consolas" charset="0"/>
                <a:cs typeface="Consolas" charset="0"/>
              </a:rPr>
              <a:t> c;</a:t>
            </a:r>
          </a:p>
          <a:p>
            <a:r>
              <a:rPr kumimoji="1" lang="en-US" altLang="zh-TW" sz="1400" dirty="0">
                <a:solidFill>
                  <a:srgbClr val="FF0000"/>
                </a:solidFill>
                <a:latin typeface="Consolas" charset="0"/>
                <a:ea typeface="Consolas" charset="0"/>
                <a:cs typeface="Consolas" charset="0"/>
              </a:rPr>
              <a:t>c = a[2] + b;</a:t>
            </a:r>
            <a:endParaRPr kumimoji="1" lang="zh-TW" altLang="en-US" sz="1400" dirty="0">
              <a:solidFill>
                <a:srgbClr val="FF0000"/>
              </a:solidFill>
              <a:latin typeface="Consolas" charset="0"/>
              <a:ea typeface="Consolas" charset="0"/>
              <a:cs typeface="Consolas" charset="0"/>
            </a:endParaRPr>
          </a:p>
        </p:txBody>
      </p:sp>
      <p:cxnSp>
        <p:nvCxnSpPr>
          <p:cNvPr id="12" name="直線接點 11"/>
          <p:cNvCxnSpPr>
            <a:stCxn id="49" idx="4"/>
            <a:endCxn id="10" idx="1"/>
          </p:cNvCxnSpPr>
          <p:nvPr/>
        </p:nvCxnSpPr>
        <p:spPr>
          <a:xfrm>
            <a:off x="4218206" y="5455571"/>
            <a:ext cx="494571" cy="485169"/>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4" name="文字方塊 13"/>
          <p:cNvSpPr txBox="1"/>
          <p:nvPr/>
        </p:nvSpPr>
        <p:spPr>
          <a:xfrm>
            <a:off x="3039160" y="5144156"/>
            <a:ext cx="668773" cy="338554"/>
          </a:xfrm>
          <a:prstGeom prst="rect">
            <a:avLst/>
          </a:prstGeom>
          <a:noFill/>
        </p:spPr>
        <p:txBody>
          <a:bodyPr wrap="none" rtlCol="0">
            <a:spAutoFit/>
          </a:bodyPr>
          <a:lstStyle/>
          <a:p>
            <a:r>
              <a:rPr kumimoji="1" lang="en-US" altLang="zh-TW" sz="1600" dirty="0">
                <a:solidFill>
                  <a:srgbClr val="FF0000"/>
                </a:solidFill>
              </a:rPr>
              <a:t>clang</a:t>
            </a:r>
            <a:endParaRPr kumimoji="1" lang="zh-TW" altLang="en-US" sz="1600" dirty="0">
              <a:solidFill>
                <a:srgbClr val="FF0000"/>
              </a:solidFill>
            </a:endParaRPr>
          </a:p>
        </p:txBody>
      </p:sp>
      <p:sp>
        <p:nvSpPr>
          <p:cNvPr id="16" name="投影片編號版面配置區 15"/>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7</a:t>
            </a:fld>
            <a:endParaRPr kumimoji="1" lang="zh-TW" altLang="en-US"/>
          </a:p>
        </p:txBody>
      </p:sp>
      <p:sp>
        <p:nvSpPr>
          <p:cNvPr id="55" name="TextBox 54">
            <a:extLst>
              <a:ext uri="{FF2B5EF4-FFF2-40B4-BE49-F238E27FC236}">
                <a16:creationId xmlns:a16="http://schemas.microsoft.com/office/drawing/2014/main" id="{22EB7990-83D4-4623-831A-A7A8F5E538E7}"/>
              </a:ext>
            </a:extLst>
          </p:cNvPr>
          <p:cNvSpPr txBox="1"/>
          <p:nvPr/>
        </p:nvSpPr>
        <p:spPr>
          <a:xfrm>
            <a:off x="6573676" y="5970174"/>
            <a:ext cx="3525275" cy="307777"/>
          </a:xfrm>
          <a:prstGeom prst="rect">
            <a:avLst/>
          </a:prstGeom>
          <a:noFill/>
        </p:spPr>
        <p:txBody>
          <a:bodyPr wrap="square" rtlCol="0">
            <a:spAutoFit/>
          </a:bodyPr>
          <a:lstStyle/>
          <a:p>
            <a:r>
              <a:rPr lang="en-US" sz="1400" b="1" dirty="0">
                <a:solidFill>
                  <a:srgbClr val="000000"/>
                </a:solidFill>
                <a:latin typeface="Comic Sans MS" panose="030F0902030302020204" pitchFamily="66" charset="0"/>
              </a:rPr>
              <a:t>Fig.: TSIR Translator extraction  phase </a:t>
            </a:r>
            <a:endParaRPr lang="en-IN" sz="1400" b="1" dirty="0">
              <a:solidFill>
                <a:srgbClr val="000000"/>
              </a:solidFill>
              <a:latin typeface="Comic Sans MS" panose="030F0902030302020204" pitchFamily="66" charset="0"/>
            </a:endParaRPr>
          </a:p>
        </p:txBody>
      </p:sp>
      <p:sp>
        <p:nvSpPr>
          <p:cNvPr id="56" name="Title 1">
            <a:extLst>
              <a:ext uri="{FF2B5EF4-FFF2-40B4-BE49-F238E27FC236}">
                <a16:creationId xmlns:a16="http://schemas.microsoft.com/office/drawing/2014/main" id="{D141DC69-482C-4BD5-85E7-D7451B24E820}"/>
              </a:ext>
            </a:extLst>
          </p:cNvPr>
          <p:cNvSpPr txBox="1">
            <a:spLocks/>
          </p:cNvSpPr>
          <p:nvPr/>
        </p:nvSpPr>
        <p:spPr>
          <a:xfrm>
            <a:off x="-76200" y="231583"/>
            <a:ext cx="4642694" cy="735758"/>
          </a:xfrm>
          <a:prstGeom prst="rect">
            <a:avLst/>
          </a:prstGeom>
        </p:spPr>
        <p:txBody>
          <a:bodyPr>
            <a:normAutofit/>
          </a:bodyPr>
          <a:lstStyle>
            <a:lvl1pPr>
              <a:defRPr>
                <a:latin typeface="+mj-lt"/>
                <a:ea typeface="+mj-ea"/>
                <a:cs typeface="+mj-cs"/>
              </a:defRPr>
            </a:lvl1pPr>
          </a:lstStyle>
          <a:p>
            <a:r>
              <a:rPr lang="en-US" sz="3600" b="1" dirty="0">
                <a:latin typeface="Comic Sans MS"/>
              </a:rPr>
              <a:t>Extraction Phase</a:t>
            </a:r>
            <a:endParaRPr lang="en-IN" sz="3600" b="1" dirty="0">
              <a:latin typeface="Comic Sans MS"/>
            </a:endParaRPr>
          </a:p>
        </p:txBody>
      </p:sp>
    </p:spTree>
    <p:extLst>
      <p:ext uri="{BB962C8B-B14F-4D97-AF65-F5344CB8AC3E}">
        <p14:creationId xmlns:p14="http://schemas.microsoft.com/office/powerpoint/2010/main" val="1172912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橢圓 1"/>
          <p:cNvSpPr/>
          <p:nvPr/>
        </p:nvSpPr>
        <p:spPr>
          <a:xfrm>
            <a:off x="1767874" y="4765136"/>
            <a:ext cx="1390041" cy="690434"/>
          </a:xfrm>
          <a:prstGeom prst="ellipse">
            <a:avLst/>
          </a:prstGeom>
          <a:solidFill>
            <a:srgbClr val="FFC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a:t>
            </a:r>
          </a:p>
          <a:p>
            <a:pPr algn="ctr"/>
            <a:r>
              <a:rPr kumimoji="1" lang="en-US" altLang="zh-TW" sz="900" dirty="0">
                <a:solidFill>
                  <a:schemeClr val="tx1"/>
                </a:solidFill>
                <a:latin typeface="CMU Serif Roman" charset="0"/>
                <a:ea typeface="CMU Serif Roman" charset="0"/>
                <a:cs typeface="CMU Serif Roman" charset="0"/>
              </a:rPr>
              <a:t>of</a:t>
            </a:r>
          </a:p>
          <a:p>
            <a:pPr algn="ctr"/>
            <a:r>
              <a:rPr kumimoji="1" lang="en-US" altLang="zh-TW" sz="900" dirty="0">
                <a:solidFill>
                  <a:schemeClr val="tx1"/>
                </a:solidFill>
                <a:latin typeface="CMU Serif Roman" charset="0"/>
                <a:ea typeface="CMU Serif Roman" charset="0"/>
                <a:cs typeface="CMU Serif Roman" charset="0"/>
              </a:rPr>
              <a:t>Target Program</a:t>
            </a:r>
          </a:p>
        </p:txBody>
      </p:sp>
      <p:sp>
        <p:nvSpPr>
          <p:cNvPr id="3" name="矩形 2"/>
          <p:cNvSpPr/>
          <p:nvPr/>
        </p:nvSpPr>
        <p:spPr>
          <a:xfrm>
            <a:off x="1896801" y="2966883"/>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Extraction</a:t>
            </a:r>
          </a:p>
        </p:txBody>
      </p:sp>
      <p:sp>
        <p:nvSpPr>
          <p:cNvPr id="5" name="橢圓 4"/>
          <p:cNvSpPr/>
          <p:nvPr/>
        </p:nvSpPr>
        <p:spPr>
          <a:xfrm>
            <a:off x="4837891" y="2559106"/>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Instrumented</a:t>
            </a:r>
          </a:p>
          <a:p>
            <a:pPr algn="ctr"/>
            <a:r>
              <a:rPr kumimoji="1" lang="en-US" altLang="zh-TW" sz="900" dirty="0">
                <a:solidFill>
                  <a:schemeClr val="tx1"/>
                </a:solidFill>
                <a:latin typeface="CMU Serif Roman" charset="0"/>
                <a:ea typeface="CMU Serif Roman" charset="0"/>
                <a:cs typeface="CMU Serif Roman" charset="0"/>
              </a:rPr>
              <a:t>LLVM IR</a:t>
            </a:r>
          </a:p>
        </p:txBody>
      </p:sp>
      <p:sp>
        <p:nvSpPr>
          <p:cNvPr id="6" name="橢圓 5"/>
          <p:cNvSpPr/>
          <p:nvPr/>
        </p:nvSpPr>
        <p:spPr>
          <a:xfrm>
            <a:off x="4837891" y="3732129"/>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Intermediate Representation</a:t>
            </a:r>
          </a:p>
        </p:txBody>
      </p:sp>
      <p:sp>
        <p:nvSpPr>
          <p:cNvPr id="7" name="矩形 6"/>
          <p:cNvSpPr/>
          <p:nvPr/>
        </p:nvSpPr>
        <p:spPr>
          <a:xfrm>
            <a:off x="8124010" y="3147666"/>
            <a:ext cx="987334"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Replay</a:t>
            </a:r>
          </a:p>
        </p:txBody>
      </p:sp>
      <p:sp>
        <p:nvSpPr>
          <p:cNvPr id="8" name="矩形 7"/>
          <p:cNvSpPr/>
          <p:nvPr/>
        </p:nvSpPr>
        <p:spPr>
          <a:xfrm>
            <a:off x="3453056" y="2559107"/>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 Instrumentation</a:t>
            </a:r>
          </a:p>
        </p:txBody>
      </p:sp>
      <p:cxnSp>
        <p:nvCxnSpPr>
          <p:cNvPr id="27" name="肘形接點 26"/>
          <p:cNvCxnSpPr>
            <a:stCxn id="3" idx="3"/>
            <a:endCxn id="8" idx="1"/>
          </p:cNvCxnSpPr>
          <p:nvPr/>
        </p:nvCxnSpPr>
        <p:spPr>
          <a:xfrm flipV="1">
            <a:off x="3028987" y="2883472"/>
            <a:ext cx="424068" cy="40777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1" name="肘形接點 30"/>
          <p:cNvCxnSpPr>
            <a:stCxn id="8" idx="3"/>
            <a:endCxn id="5" idx="2"/>
          </p:cNvCxnSpPr>
          <p:nvPr/>
        </p:nvCxnSpPr>
        <p:spPr>
          <a:xfrm flipV="1">
            <a:off x="4585242" y="2883472"/>
            <a:ext cx="252650" cy="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9" name="直線接點 38"/>
          <p:cNvCxnSpPr/>
          <p:nvPr/>
        </p:nvCxnSpPr>
        <p:spPr>
          <a:xfrm>
            <a:off x="6504926" y="1025509"/>
            <a:ext cx="0" cy="4765673"/>
          </a:xfrm>
          <a:prstGeom prst="line">
            <a:avLst/>
          </a:prstGeom>
          <a:ln>
            <a:solidFill>
              <a:schemeClr val="bg2">
                <a:lumMod val="50000"/>
              </a:schemeClr>
            </a:solidFill>
            <a:prstDash val="sysDot"/>
          </a:ln>
        </p:spPr>
        <p:style>
          <a:lnRef idx="1">
            <a:schemeClr val="dk1"/>
          </a:lnRef>
          <a:fillRef idx="0">
            <a:schemeClr val="dk1"/>
          </a:fillRef>
          <a:effectRef idx="0">
            <a:schemeClr val="dk1"/>
          </a:effectRef>
          <a:fontRef idx="minor">
            <a:schemeClr val="tx1"/>
          </a:fontRef>
        </p:style>
      </p:cxnSp>
      <p:sp>
        <p:nvSpPr>
          <p:cNvPr id="40" name="文字方塊 39"/>
          <p:cNvSpPr txBox="1"/>
          <p:nvPr/>
        </p:nvSpPr>
        <p:spPr>
          <a:xfrm>
            <a:off x="3557164" y="1040345"/>
            <a:ext cx="1116011" cy="253916"/>
          </a:xfrm>
          <a:prstGeom prst="rect">
            <a:avLst/>
          </a:prstGeom>
          <a:noFill/>
        </p:spPr>
        <p:txBody>
          <a:bodyPr wrap="none" rtlCol="0">
            <a:spAutoFit/>
          </a:bodyPr>
          <a:lstStyle/>
          <a:p>
            <a:r>
              <a:rPr kumimoji="1" lang="en-US" altLang="zh-TW" sz="1050" b="1" dirty="0">
                <a:solidFill>
                  <a:srgbClr val="FF0000"/>
                </a:solidFill>
                <a:latin typeface="CMU Serif Roman" charset="0"/>
                <a:ea typeface="CMU Serif Roman" charset="0"/>
                <a:cs typeface="CMU Serif Roman" charset="0"/>
              </a:rPr>
              <a:t>Extraction Phase</a:t>
            </a:r>
            <a:endParaRPr kumimoji="1" lang="zh-TW" altLang="en-US" sz="1050" b="1" dirty="0">
              <a:solidFill>
                <a:srgbClr val="FF0000"/>
              </a:solidFill>
              <a:latin typeface="CMU Serif Roman" charset="0"/>
              <a:ea typeface="CMU Serif Roman" charset="0"/>
              <a:cs typeface="CMU Serif Roman" charset="0"/>
            </a:endParaRPr>
          </a:p>
        </p:txBody>
      </p:sp>
      <p:sp>
        <p:nvSpPr>
          <p:cNvPr id="41" name="文字方塊 40"/>
          <p:cNvSpPr txBox="1"/>
          <p:nvPr/>
        </p:nvSpPr>
        <p:spPr>
          <a:xfrm>
            <a:off x="6775722" y="1040345"/>
            <a:ext cx="938077"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Record Phase</a:t>
            </a:r>
            <a:endParaRPr kumimoji="1" lang="zh-TW" altLang="en-US" sz="1050" b="1" dirty="0">
              <a:latin typeface="CMU Serif Roman" charset="0"/>
              <a:ea typeface="CMU Serif Roman" charset="0"/>
              <a:cs typeface="CMU Serif Roman" charset="0"/>
            </a:endParaRPr>
          </a:p>
        </p:txBody>
      </p:sp>
      <p:sp>
        <p:nvSpPr>
          <p:cNvPr id="42" name="文字方塊 41"/>
          <p:cNvSpPr txBox="1"/>
          <p:nvPr/>
        </p:nvSpPr>
        <p:spPr>
          <a:xfrm>
            <a:off x="8845043" y="1038668"/>
            <a:ext cx="925253"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Replay Phase</a:t>
            </a:r>
            <a:endParaRPr kumimoji="1" lang="zh-TW" altLang="en-US" sz="1050" b="1" dirty="0">
              <a:latin typeface="CMU Serif Roman" charset="0"/>
              <a:ea typeface="CMU Serif Roman" charset="0"/>
              <a:cs typeface="CMU Serif Roman" charset="0"/>
            </a:endParaRPr>
          </a:p>
        </p:txBody>
      </p:sp>
      <p:sp>
        <p:nvSpPr>
          <p:cNvPr id="30" name="橢圓 29"/>
          <p:cNvSpPr/>
          <p:nvPr/>
        </p:nvSpPr>
        <p:spPr>
          <a:xfrm>
            <a:off x="4837891" y="1771257"/>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Information Flow Tracking Runtime Library</a:t>
            </a:r>
          </a:p>
        </p:txBody>
      </p:sp>
      <p:sp>
        <p:nvSpPr>
          <p:cNvPr id="44" name="矩形 43"/>
          <p:cNvSpPr/>
          <p:nvPr/>
        </p:nvSpPr>
        <p:spPr>
          <a:xfrm>
            <a:off x="3453056" y="3732129"/>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 to TSIR</a:t>
            </a:r>
          </a:p>
          <a:p>
            <a:pPr algn="ctr"/>
            <a:r>
              <a:rPr kumimoji="1" lang="en-US" altLang="zh-TW" sz="900" dirty="0">
                <a:solidFill>
                  <a:schemeClr val="tx1"/>
                </a:solidFill>
                <a:latin typeface="CMU Serif Roman" charset="0"/>
                <a:ea typeface="CMU Serif Roman" charset="0"/>
                <a:cs typeface="CMU Serif Roman" charset="0"/>
              </a:rPr>
              <a:t>Translation</a:t>
            </a:r>
          </a:p>
        </p:txBody>
      </p:sp>
      <p:cxnSp>
        <p:nvCxnSpPr>
          <p:cNvPr id="46" name="肘形接點 45"/>
          <p:cNvCxnSpPr>
            <a:stCxn id="3" idx="3"/>
            <a:endCxn id="44" idx="1"/>
          </p:cNvCxnSpPr>
          <p:nvPr/>
        </p:nvCxnSpPr>
        <p:spPr>
          <a:xfrm>
            <a:off x="3028987" y="3291249"/>
            <a:ext cx="424068" cy="76524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2" name="直線箭頭接點 51"/>
          <p:cNvCxnSpPr>
            <a:stCxn id="44" idx="3"/>
            <a:endCxn id="6" idx="2"/>
          </p:cNvCxnSpPr>
          <p:nvPr/>
        </p:nvCxnSpPr>
        <p:spPr>
          <a:xfrm>
            <a:off x="4585242" y="4056494"/>
            <a:ext cx="2526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橢圓 52"/>
          <p:cNvSpPr/>
          <p:nvPr/>
        </p:nvSpPr>
        <p:spPr>
          <a:xfrm>
            <a:off x="6664604" y="2200563"/>
            <a:ext cx="1208190"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Instrumented Target Program</a:t>
            </a:r>
          </a:p>
        </p:txBody>
      </p:sp>
      <p:cxnSp>
        <p:nvCxnSpPr>
          <p:cNvPr id="58" name="肘形接點 57"/>
          <p:cNvCxnSpPr>
            <a:stCxn id="30" idx="6"/>
            <a:endCxn id="53" idx="2"/>
          </p:cNvCxnSpPr>
          <p:nvPr/>
        </p:nvCxnSpPr>
        <p:spPr>
          <a:xfrm>
            <a:off x="6334858" y="2095624"/>
            <a:ext cx="329747" cy="42930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0" name="肘形接點 59"/>
          <p:cNvCxnSpPr>
            <a:stCxn id="5" idx="6"/>
            <a:endCxn id="53" idx="2"/>
          </p:cNvCxnSpPr>
          <p:nvPr/>
        </p:nvCxnSpPr>
        <p:spPr>
          <a:xfrm flipV="1">
            <a:off x="6334858" y="2524927"/>
            <a:ext cx="329747" cy="35854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線箭頭接點 61"/>
          <p:cNvCxnSpPr>
            <a:stCxn id="2" idx="0"/>
            <a:endCxn id="3" idx="2"/>
          </p:cNvCxnSpPr>
          <p:nvPr/>
        </p:nvCxnSpPr>
        <p:spPr>
          <a:xfrm flipV="1">
            <a:off x="2462894" y="3615612"/>
            <a:ext cx="0" cy="11495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矩形 67"/>
          <p:cNvSpPr/>
          <p:nvPr/>
        </p:nvSpPr>
        <p:spPr>
          <a:xfrm>
            <a:off x="1767874" y="2419987"/>
            <a:ext cx="2943693" cy="2109224"/>
          </a:xfrm>
          <a:prstGeom prst="rect">
            <a:avLst/>
          </a:prstGeom>
          <a:noFill/>
          <a:ln>
            <a:solidFill>
              <a:srgbClr val="767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sp>
        <p:nvSpPr>
          <p:cNvPr id="69" name="文字方塊 68"/>
          <p:cNvSpPr txBox="1"/>
          <p:nvPr/>
        </p:nvSpPr>
        <p:spPr>
          <a:xfrm>
            <a:off x="1747092" y="2198150"/>
            <a:ext cx="888385" cy="2308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TSIR Translator</a:t>
            </a:r>
            <a:endParaRPr kumimoji="1" lang="zh-TW" altLang="en-US" sz="900" dirty="0">
              <a:latin typeface="CMU Serif Roman" charset="0"/>
              <a:ea typeface="CMU Serif Roman" charset="0"/>
              <a:cs typeface="CMU Serif Roman" charset="0"/>
            </a:endParaRPr>
          </a:p>
        </p:txBody>
      </p:sp>
      <p:sp>
        <p:nvSpPr>
          <p:cNvPr id="71" name="矩形 70"/>
          <p:cNvSpPr/>
          <p:nvPr/>
        </p:nvSpPr>
        <p:spPr>
          <a:xfrm>
            <a:off x="9197285" y="3147666"/>
            <a:ext cx="987334"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Request Handling</a:t>
            </a:r>
          </a:p>
        </p:txBody>
      </p:sp>
      <p:cxnSp>
        <p:nvCxnSpPr>
          <p:cNvPr id="73" name="肘形接點 72"/>
          <p:cNvCxnSpPr>
            <a:stCxn id="53" idx="6"/>
            <a:endCxn id="7" idx="0"/>
          </p:cNvCxnSpPr>
          <p:nvPr/>
        </p:nvCxnSpPr>
        <p:spPr>
          <a:xfrm>
            <a:off x="7872793" y="2524928"/>
            <a:ext cx="744884" cy="622738"/>
          </a:xfrm>
          <a:prstGeom prst="bentConnector2">
            <a:avLst/>
          </a:prstGeom>
          <a:ln>
            <a:prstDash val="solid"/>
            <a:tailEnd type="triangle"/>
          </a:ln>
        </p:spPr>
        <p:style>
          <a:lnRef idx="1">
            <a:schemeClr val="dk1"/>
          </a:lnRef>
          <a:fillRef idx="0">
            <a:schemeClr val="dk1"/>
          </a:fillRef>
          <a:effectRef idx="0">
            <a:schemeClr val="dk1"/>
          </a:effectRef>
          <a:fontRef idx="minor">
            <a:schemeClr val="tx1"/>
          </a:fontRef>
        </p:style>
      </p:cxnSp>
      <p:cxnSp>
        <p:nvCxnSpPr>
          <p:cNvPr id="75" name="肘形接點 74"/>
          <p:cNvCxnSpPr>
            <a:stCxn id="53" idx="6"/>
            <a:endCxn id="71" idx="0"/>
          </p:cNvCxnSpPr>
          <p:nvPr/>
        </p:nvCxnSpPr>
        <p:spPr>
          <a:xfrm>
            <a:off x="7872794" y="2524928"/>
            <a:ext cx="1818158" cy="622738"/>
          </a:xfrm>
          <a:prstGeom prst="bentConnector2">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77" name="肘形接點 76"/>
          <p:cNvCxnSpPr>
            <a:stCxn id="6" idx="6"/>
            <a:endCxn id="7" idx="1"/>
          </p:cNvCxnSpPr>
          <p:nvPr/>
        </p:nvCxnSpPr>
        <p:spPr>
          <a:xfrm flipV="1">
            <a:off x="6334858" y="3472031"/>
            <a:ext cx="1789153" cy="58446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78" name="矩形 77"/>
          <p:cNvSpPr/>
          <p:nvPr/>
        </p:nvSpPr>
        <p:spPr>
          <a:xfrm>
            <a:off x="7989323" y="3028949"/>
            <a:ext cx="2314991" cy="872837"/>
          </a:xfrm>
          <a:prstGeom prst="rect">
            <a:avLst/>
          </a:prstGeom>
          <a:noFill/>
          <a:ln>
            <a:solidFill>
              <a:srgbClr val="767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sp>
        <p:nvSpPr>
          <p:cNvPr id="79" name="文字方塊 78"/>
          <p:cNvSpPr txBox="1"/>
          <p:nvPr/>
        </p:nvSpPr>
        <p:spPr>
          <a:xfrm>
            <a:off x="7989343" y="3918209"/>
            <a:ext cx="994183" cy="3693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Information Flow</a:t>
            </a:r>
          </a:p>
          <a:p>
            <a:r>
              <a:rPr kumimoji="1" lang="en-US" altLang="zh-TW" sz="900" dirty="0">
                <a:latin typeface="CMU Serif Roman" charset="0"/>
                <a:ea typeface="CMU Serif Roman" charset="0"/>
                <a:cs typeface="CMU Serif Roman" charset="0"/>
              </a:rPr>
              <a:t>Tracking Engine</a:t>
            </a:r>
            <a:endParaRPr kumimoji="1" lang="zh-TW" altLang="en-US" sz="900" dirty="0">
              <a:latin typeface="CMU Serif Roman" charset="0"/>
              <a:ea typeface="CMU Serif Roman" charset="0"/>
              <a:cs typeface="CMU Serif Roman" charset="0"/>
            </a:endParaRPr>
          </a:p>
        </p:txBody>
      </p:sp>
      <p:cxnSp>
        <p:nvCxnSpPr>
          <p:cNvPr id="81" name="肘形接點 80"/>
          <p:cNvCxnSpPr>
            <a:stCxn id="71" idx="3"/>
            <a:endCxn id="53" idx="0"/>
          </p:cNvCxnSpPr>
          <p:nvPr/>
        </p:nvCxnSpPr>
        <p:spPr>
          <a:xfrm flipH="1" flipV="1">
            <a:off x="7268699" y="2200563"/>
            <a:ext cx="2915920" cy="1271468"/>
          </a:xfrm>
          <a:prstGeom prst="bentConnector4">
            <a:avLst>
              <a:gd name="adj1" fmla="val -7306"/>
              <a:gd name="adj2" fmla="val 113484"/>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83" name="文字方塊 82"/>
          <p:cNvSpPr txBox="1"/>
          <p:nvPr/>
        </p:nvSpPr>
        <p:spPr>
          <a:xfrm>
            <a:off x="8054354" y="2629598"/>
            <a:ext cx="582212" cy="369332"/>
          </a:xfrm>
          <a:prstGeom prst="rect">
            <a:avLst/>
          </a:prstGeom>
          <a:noFill/>
        </p:spPr>
        <p:txBody>
          <a:bodyPr wrap="none" rtlCol="0">
            <a:spAutoFit/>
          </a:bodyPr>
          <a:lstStyle/>
          <a:p>
            <a:pPr algn="r"/>
            <a:r>
              <a:rPr kumimoji="1" lang="en-US" altLang="zh-TW" sz="900" dirty="0">
                <a:latin typeface="CMU Serif Roman" charset="0"/>
                <a:ea typeface="CMU Serif Roman" charset="0"/>
                <a:cs typeface="CMU Serif Roman" charset="0"/>
              </a:rPr>
              <a:t>runtime</a:t>
            </a:r>
          </a:p>
          <a:p>
            <a:pPr algn="r"/>
            <a:r>
              <a:rPr kumimoji="1" lang="en-US" altLang="zh-TW" sz="900" dirty="0">
                <a:latin typeface="CMU Serif Roman" charset="0"/>
                <a:ea typeface="CMU Serif Roman" charset="0"/>
                <a:cs typeface="CMU Serif Roman" charset="0"/>
              </a:rPr>
              <a:t>log</a:t>
            </a:r>
            <a:endParaRPr kumimoji="1" lang="zh-TW" altLang="en-US" sz="900" dirty="0">
              <a:latin typeface="CMU Serif Roman" charset="0"/>
              <a:ea typeface="CMU Serif Roman" charset="0"/>
              <a:cs typeface="CMU Serif Roman" charset="0"/>
            </a:endParaRPr>
          </a:p>
        </p:txBody>
      </p:sp>
      <p:sp>
        <p:nvSpPr>
          <p:cNvPr id="84" name="文字方塊 83"/>
          <p:cNvSpPr txBox="1"/>
          <p:nvPr/>
        </p:nvSpPr>
        <p:spPr>
          <a:xfrm>
            <a:off x="8685607" y="2317178"/>
            <a:ext cx="1016625" cy="230832"/>
          </a:xfrm>
          <a:prstGeom prst="rect">
            <a:avLst/>
          </a:prstGeom>
          <a:noFill/>
        </p:spPr>
        <p:txBody>
          <a:bodyPr wrap="none" rtlCol="0">
            <a:spAutoFit/>
          </a:bodyPr>
          <a:lstStyle/>
          <a:p>
            <a:r>
              <a:rPr kumimoji="1" lang="en-US" altLang="zh-TW" sz="900">
                <a:latin typeface="CMU Serif Roman" charset="0"/>
                <a:ea typeface="CMU Serif Roman" charset="0"/>
                <a:cs typeface="CMU Serif Roman" charset="0"/>
              </a:rPr>
              <a:t>tag query request</a:t>
            </a:r>
            <a:endParaRPr kumimoji="1" lang="zh-TW" altLang="en-US" sz="900" dirty="0">
              <a:latin typeface="CMU Serif Roman" charset="0"/>
              <a:ea typeface="CMU Serif Roman" charset="0"/>
              <a:cs typeface="CMU Serif Roman" charset="0"/>
            </a:endParaRPr>
          </a:p>
        </p:txBody>
      </p:sp>
      <p:sp>
        <p:nvSpPr>
          <p:cNvPr id="85" name="文字方塊 84"/>
          <p:cNvSpPr txBox="1"/>
          <p:nvPr/>
        </p:nvSpPr>
        <p:spPr>
          <a:xfrm>
            <a:off x="8385501" y="1819892"/>
            <a:ext cx="1083951" cy="2308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tag query response</a:t>
            </a:r>
            <a:endParaRPr kumimoji="1" lang="zh-TW" altLang="en-US" sz="900" dirty="0">
              <a:latin typeface="CMU Serif Roman" charset="0"/>
              <a:ea typeface="CMU Serif Roman" charset="0"/>
              <a:cs typeface="CMU Serif Roman" charset="0"/>
            </a:endParaRPr>
          </a:p>
        </p:txBody>
      </p:sp>
      <p:cxnSp>
        <p:nvCxnSpPr>
          <p:cNvPr id="87" name="直線接點 86"/>
          <p:cNvCxnSpPr/>
          <p:nvPr/>
        </p:nvCxnSpPr>
        <p:spPr>
          <a:xfrm>
            <a:off x="7989322" y="1025509"/>
            <a:ext cx="0" cy="4765673"/>
          </a:xfrm>
          <a:prstGeom prst="line">
            <a:avLst/>
          </a:prstGeom>
          <a:ln>
            <a:solidFill>
              <a:schemeClr val="bg2">
                <a:lumMod val="50000"/>
              </a:schemeClr>
            </a:solidFill>
            <a:prstDash val="sysDot"/>
          </a:ln>
        </p:spPr>
        <p:style>
          <a:lnRef idx="1">
            <a:schemeClr val="dk1"/>
          </a:lnRef>
          <a:fillRef idx="0">
            <a:schemeClr val="dk1"/>
          </a:fillRef>
          <a:effectRef idx="0">
            <a:schemeClr val="dk1"/>
          </a:effectRef>
          <a:fontRef idx="minor">
            <a:schemeClr val="tx1"/>
          </a:fontRef>
        </p:style>
      </p:cxnSp>
      <p:grpSp>
        <p:nvGrpSpPr>
          <p:cNvPr id="114" name="群組 113"/>
          <p:cNvGrpSpPr/>
          <p:nvPr/>
        </p:nvGrpSpPr>
        <p:grpSpPr>
          <a:xfrm>
            <a:off x="8117240" y="4665012"/>
            <a:ext cx="766360" cy="707431"/>
            <a:chOff x="9180237" y="4785425"/>
            <a:chExt cx="1021813" cy="943241"/>
          </a:xfrm>
        </p:grpSpPr>
        <p:sp>
          <p:nvSpPr>
            <p:cNvPr id="90" name="橢圓 89"/>
            <p:cNvSpPr/>
            <p:nvPr/>
          </p:nvSpPr>
          <p:spPr>
            <a:xfrm>
              <a:off x="9180237" y="5308405"/>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2" name="橢圓 91"/>
            <p:cNvSpPr/>
            <p:nvPr/>
          </p:nvSpPr>
          <p:spPr>
            <a:xfrm>
              <a:off x="9544298" y="5076772"/>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3" name="橢圓 92"/>
            <p:cNvSpPr/>
            <p:nvPr/>
          </p:nvSpPr>
          <p:spPr>
            <a:xfrm>
              <a:off x="9566581" y="5516190"/>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4" name="橢圓 93"/>
            <p:cNvSpPr/>
            <p:nvPr/>
          </p:nvSpPr>
          <p:spPr>
            <a:xfrm>
              <a:off x="9973257" y="4785425"/>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5" name="橢圓 94"/>
            <p:cNvSpPr/>
            <p:nvPr/>
          </p:nvSpPr>
          <p:spPr>
            <a:xfrm>
              <a:off x="9989574" y="5236557"/>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cxnSp>
          <p:nvCxnSpPr>
            <p:cNvPr id="97" name="曲線接點 96"/>
            <p:cNvCxnSpPr>
              <a:stCxn id="90" idx="4"/>
              <a:endCxn id="93" idx="2"/>
            </p:cNvCxnSpPr>
            <p:nvPr/>
          </p:nvCxnSpPr>
          <p:spPr>
            <a:xfrm rot="16200000" flipH="1">
              <a:off x="9375755" y="5431601"/>
              <a:ext cx="101547" cy="280106"/>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99" name="曲線接點 98"/>
            <p:cNvCxnSpPr>
              <a:stCxn id="90" idx="0"/>
              <a:endCxn id="92" idx="2"/>
            </p:cNvCxnSpPr>
            <p:nvPr/>
          </p:nvCxnSpPr>
          <p:spPr>
            <a:xfrm rot="5400000" flipH="1" flipV="1">
              <a:off x="9352689" y="5116797"/>
              <a:ext cx="125395" cy="257823"/>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03" name="曲線接點 102"/>
            <p:cNvCxnSpPr>
              <a:stCxn id="93" idx="6"/>
              <a:endCxn id="95" idx="4"/>
            </p:cNvCxnSpPr>
            <p:nvPr/>
          </p:nvCxnSpPr>
          <p:spPr>
            <a:xfrm flipV="1">
              <a:off x="9779057" y="5449033"/>
              <a:ext cx="316755" cy="173395"/>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09" name="曲線接點 108"/>
            <p:cNvCxnSpPr>
              <a:stCxn id="93" idx="0"/>
              <a:endCxn id="95" idx="2"/>
            </p:cNvCxnSpPr>
            <p:nvPr/>
          </p:nvCxnSpPr>
          <p:spPr>
            <a:xfrm rot="5400000" flipH="1" flipV="1">
              <a:off x="9744499" y="5271116"/>
              <a:ext cx="173395" cy="316755"/>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11" name="曲線接點 110"/>
            <p:cNvCxnSpPr>
              <a:stCxn id="92" idx="7"/>
              <a:endCxn id="94" idx="2"/>
            </p:cNvCxnSpPr>
            <p:nvPr/>
          </p:nvCxnSpPr>
          <p:spPr>
            <a:xfrm rot="5400000" flipH="1" flipV="1">
              <a:off x="9741345" y="4875977"/>
              <a:ext cx="216225" cy="247599"/>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13" name="曲線接點 112"/>
            <p:cNvCxnSpPr>
              <a:stCxn id="94" idx="6"/>
              <a:endCxn id="95" idx="6"/>
            </p:cNvCxnSpPr>
            <p:nvPr/>
          </p:nvCxnSpPr>
          <p:spPr>
            <a:xfrm>
              <a:off x="10185733" y="4891663"/>
              <a:ext cx="16317" cy="451132"/>
            </a:xfrm>
            <a:prstGeom prst="curvedConnector3">
              <a:avLst>
                <a:gd name="adj1" fmla="val 1500993"/>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grpSp>
      <p:cxnSp>
        <p:nvCxnSpPr>
          <p:cNvPr id="116" name="直線箭頭接點 115"/>
          <p:cNvCxnSpPr>
            <a:stCxn id="78" idx="2"/>
          </p:cNvCxnSpPr>
          <p:nvPr/>
        </p:nvCxnSpPr>
        <p:spPr>
          <a:xfrm flipH="1">
            <a:off x="9146818" y="3901785"/>
            <a:ext cx="1" cy="627426"/>
          </a:xfrm>
          <a:prstGeom prst="straightConnector1">
            <a:avLst/>
          </a:prstGeom>
          <a:ln>
            <a:prstDash val="sysDot"/>
            <a:tailEnd type="triangle"/>
          </a:ln>
        </p:spPr>
        <p:style>
          <a:lnRef idx="1">
            <a:schemeClr val="dk1"/>
          </a:lnRef>
          <a:fillRef idx="0">
            <a:schemeClr val="dk1"/>
          </a:fillRef>
          <a:effectRef idx="0">
            <a:schemeClr val="dk1"/>
          </a:effectRef>
          <a:fontRef idx="minor">
            <a:schemeClr val="tx1"/>
          </a:fontRef>
        </p:style>
      </p:cxnSp>
      <p:sp>
        <p:nvSpPr>
          <p:cNvPr id="117" name="文字方塊 116"/>
          <p:cNvSpPr txBox="1"/>
          <p:nvPr/>
        </p:nvSpPr>
        <p:spPr>
          <a:xfrm>
            <a:off x="9121166" y="4700875"/>
            <a:ext cx="1494878" cy="698589"/>
          </a:xfrm>
          <a:prstGeom prst="rect">
            <a:avLst/>
          </a:prstGeom>
          <a:noFill/>
        </p:spPr>
        <p:txBody>
          <a:bodyPr wrap="square" rtlCol="0">
            <a:spAutoFit/>
          </a:bodyPr>
          <a:lstStyle/>
          <a:p>
            <a:r>
              <a:rPr kumimoji="1" lang="en-US" altLang="zh-TW" sz="788" dirty="0">
                <a:latin typeface="CMU Serif Roman" charset="0"/>
                <a:ea typeface="CMU Serif Roman" charset="0"/>
                <a:cs typeface="CMU Serif Roman" charset="0"/>
              </a:rPr>
              <a:t>Further Analysis</a:t>
            </a:r>
          </a:p>
          <a:p>
            <a:pPr marL="128588" indent="-128588">
              <a:buFont typeface="Arial" charset="0"/>
              <a:buChar char="•"/>
            </a:pPr>
            <a:r>
              <a:rPr kumimoji="1" lang="en-US" altLang="zh-TW" sz="788" dirty="0">
                <a:latin typeface="CMU Serif Roman" charset="0"/>
                <a:ea typeface="CMU Serif Roman" charset="0"/>
                <a:cs typeface="CMU Serif Roman" charset="0"/>
              </a:rPr>
              <a:t>Whole-system Information Flow Tracking</a:t>
            </a:r>
          </a:p>
          <a:p>
            <a:pPr marL="128588" indent="-128588">
              <a:buFont typeface="Arial" charset="0"/>
              <a:buChar char="•"/>
            </a:pPr>
            <a:r>
              <a:rPr kumimoji="1" lang="en-US" altLang="zh-TW" sz="788" dirty="0">
                <a:latin typeface="CMU Serif Roman" charset="0"/>
                <a:ea typeface="CMU Serif Roman" charset="0"/>
                <a:cs typeface="CMU Serif Roman" charset="0"/>
              </a:rPr>
              <a:t>Data Provenance</a:t>
            </a:r>
          </a:p>
          <a:p>
            <a:pPr marL="128588" indent="-128588">
              <a:buFont typeface="Arial" charset="0"/>
              <a:buChar char="•"/>
            </a:pPr>
            <a:r>
              <a:rPr kumimoji="1" lang="en-US" altLang="zh-TW" sz="788" dirty="0">
                <a:latin typeface="CMU Serif Roman" charset="0"/>
                <a:ea typeface="CMU Serif Roman" charset="0"/>
                <a:cs typeface="CMU Serif Roman" charset="0"/>
              </a:rPr>
              <a:t>Data Leakage Detection</a:t>
            </a:r>
            <a:endParaRPr kumimoji="1" lang="zh-TW" altLang="en-US" sz="788" dirty="0">
              <a:latin typeface="CMU Serif Roman" charset="0"/>
              <a:ea typeface="CMU Serif Roman" charset="0"/>
              <a:cs typeface="CMU Serif Roman" charset="0"/>
            </a:endParaRPr>
          </a:p>
        </p:txBody>
      </p:sp>
      <p:sp>
        <p:nvSpPr>
          <p:cNvPr id="49" name="橢圓 48"/>
          <p:cNvSpPr/>
          <p:nvPr/>
        </p:nvSpPr>
        <p:spPr>
          <a:xfrm>
            <a:off x="3523185" y="4765136"/>
            <a:ext cx="1390041" cy="690434"/>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Source Code</a:t>
            </a:r>
          </a:p>
          <a:p>
            <a:pPr algn="ctr"/>
            <a:r>
              <a:rPr kumimoji="1" lang="en-US" altLang="zh-TW" sz="900" dirty="0">
                <a:solidFill>
                  <a:schemeClr val="tx1"/>
                </a:solidFill>
                <a:latin typeface="CMU Serif Roman" charset="0"/>
                <a:ea typeface="CMU Serif Roman" charset="0"/>
                <a:cs typeface="CMU Serif Roman" charset="0"/>
              </a:rPr>
              <a:t>of</a:t>
            </a:r>
          </a:p>
          <a:p>
            <a:pPr algn="ctr"/>
            <a:r>
              <a:rPr kumimoji="1" lang="en-US" altLang="zh-TW" sz="900" dirty="0">
                <a:solidFill>
                  <a:schemeClr val="tx1"/>
                </a:solidFill>
                <a:latin typeface="CMU Serif Roman" charset="0"/>
                <a:ea typeface="CMU Serif Roman" charset="0"/>
                <a:cs typeface="CMU Serif Roman" charset="0"/>
              </a:rPr>
              <a:t>Target Program</a:t>
            </a:r>
          </a:p>
        </p:txBody>
      </p:sp>
      <p:cxnSp>
        <p:nvCxnSpPr>
          <p:cNvPr id="9" name="直線箭頭接點 8"/>
          <p:cNvCxnSpPr>
            <a:stCxn id="49" idx="2"/>
            <a:endCxn id="2" idx="6"/>
          </p:cNvCxnSpPr>
          <p:nvPr/>
        </p:nvCxnSpPr>
        <p:spPr>
          <a:xfrm flipH="1">
            <a:off x="3157915" y="5110353"/>
            <a:ext cx="3652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摺角紙張 50"/>
          <p:cNvSpPr/>
          <p:nvPr/>
        </p:nvSpPr>
        <p:spPr>
          <a:xfrm>
            <a:off x="2889205" y="5553882"/>
            <a:ext cx="2953363" cy="1165165"/>
          </a:xfrm>
          <a:prstGeom prst="foldedCorner">
            <a:avLst/>
          </a:prstGeom>
        </p:spPr>
        <p:style>
          <a:lnRef idx="2">
            <a:schemeClr val="dk1"/>
          </a:lnRef>
          <a:fillRef idx="1">
            <a:schemeClr val="lt1"/>
          </a:fillRef>
          <a:effectRef idx="0">
            <a:schemeClr val="dk1"/>
          </a:effectRef>
          <a:fontRef idx="minor">
            <a:schemeClr val="dk1"/>
          </a:fontRef>
        </p:style>
        <p:txBody>
          <a:bodyPr rtlCol="0" anchor="ctr"/>
          <a:lstStyle/>
          <a:p>
            <a:r>
              <a:rPr kumimoji="1" lang="en-US" altLang="zh-TW" sz="1000" dirty="0">
                <a:solidFill>
                  <a:srgbClr val="FF0000"/>
                </a:solidFill>
                <a:latin typeface="Consolas" charset="0"/>
                <a:ea typeface="Consolas" charset="0"/>
                <a:cs typeface="Consolas" charset="0"/>
              </a:rPr>
              <a:t>%2 = </a:t>
            </a:r>
            <a:r>
              <a:rPr kumimoji="1" lang="en-US" altLang="zh-TW" sz="1000" dirty="0" err="1">
                <a:solidFill>
                  <a:srgbClr val="FF0000"/>
                </a:solidFill>
                <a:latin typeface="Consolas" charset="0"/>
                <a:ea typeface="Consolas" charset="0"/>
                <a:cs typeface="Consolas" charset="0"/>
              </a:rPr>
              <a:t>alloca</a:t>
            </a:r>
            <a:r>
              <a:rPr kumimoji="1" lang="en-US" altLang="zh-TW" sz="1000" dirty="0">
                <a:solidFill>
                  <a:srgbClr val="FF0000"/>
                </a:solidFill>
                <a:latin typeface="Consolas" charset="0"/>
                <a:ea typeface="Consolas" charset="0"/>
                <a:cs typeface="Consolas" charset="0"/>
              </a:rPr>
              <a:t> i32</a:t>
            </a:r>
          </a:p>
          <a:p>
            <a:r>
              <a:rPr kumimoji="1" lang="en-US" altLang="zh-TW" sz="1000" dirty="0">
                <a:solidFill>
                  <a:srgbClr val="FF0000"/>
                </a:solidFill>
                <a:latin typeface="Consolas" charset="0"/>
                <a:ea typeface="Consolas" charset="0"/>
                <a:cs typeface="Consolas" charset="0"/>
              </a:rPr>
              <a:t>%3 = </a:t>
            </a:r>
            <a:r>
              <a:rPr kumimoji="1" lang="en-US" altLang="zh-TW" sz="1000" dirty="0" err="1">
                <a:solidFill>
                  <a:srgbClr val="FF0000"/>
                </a:solidFill>
                <a:latin typeface="Consolas" charset="0"/>
                <a:ea typeface="Consolas" charset="0"/>
                <a:cs typeface="Consolas" charset="0"/>
              </a:rPr>
              <a:t>getelementptr</a:t>
            </a:r>
            <a:r>
              <a:rPr kumimoji="1" lang="en-US" altLang="zh-TW" sz="1000" dirty="0">
                <a:solidFill>
                  <a:srgbClr val="FF0000"/>
                </a:solidFill>
                <a:latin typeface="Consolas" charset="0"/>
                <a:ea typeface="Consolas" charset="0"/>
                <a:cs typeface="Consolas" charset="0"/>
              </a:rPr>
              <a:t> i32, i32* %0, i64 2</a:t>
            </a:r>
          </a:p>
          <a:p>
            <a:r>
              <a:rPr kumimoji="1" lang="en-US" altLang="zh-TW" sz="1000" dirty="0">
                <a:solidFill>
                  <a:srgbClr val="FF0000"/>
                </a:solidFill>
                <a:latin typeface="Consolas" charset="0"/>
                <a:ea typeface="Consolas" charset="0"/>
                <a:cs typeface="Consolas" charset="0"/>
              </a:rPr>
              <a:t>%4 = load i32, i32* %3</a:t>
            </a:r>
          </a:p>
          <a:p>
            <a:r>
              <a:rPr kumimoji="1" lang="en-US" altLang="zh-TW" sz="1000" dirty="0">
                <a:solidFill>
                  <a:srgbClr val="FF0000"/>
                </a:solidFill>
                <a:latin typeface="Consolas" charset="0"/>
                <a:ea typeface="Consolas" charset="0"/>
                <a:cs typeface="Consolas" charset="0"/>
              </a:rPr>
              <a:t>%5 = add i32 %4, %1</a:t>
            </a:r>
          </a:p>
          <a:p>
            <a:r>
              <a:rPr kumimoji="1" lang="en-US" altLang="zh-TW" sz="1000" dirty="0">
                <a:solidFill>
                  <a:srgbClr val="FF0000"/>
                </a:solidFill>
                <a:latin typeface="Consolas" charset="0"/>
                <a:ea typeface="Consolas" charset="0"/>
                <a:cs typeface="Consolas" charset="0"/>
              </a:rPr>
              <a:t>store i32 %5, i32* %2 </a:t>
            </a:r>
            <a:endParaRPr kumimoji="1" lang="zh-TW" altLang="en-US" sz="1000" dirty="0">
              <a:solidFill>
                <a:srgbClr val="FF0000"/>
              </a:solidFill>
              <a:latin typeface="Consolas" charset="0"/>
              <a:ea typeface="Consolas" charset="0"/>
              <a:cs typeface="Consolas" charset="0"/>
            </a:endParaRPr>
          </a:p>
        </p:txBody>
      </p:sp>
      <p:cxnSp>
        <p:nvCxnSpPr>
          <p:cNvPr id="10" name="直線接點 9"/>
          <p:cNvCxnSpPr>
            <a:stCxn id="2" idx="4"/>
            <a:endCxn id="51" idx="1"/>
          </p:cNvCxnSpPr>
          <p:nvPr/>
        </p:nvCxnSpPr>
        <p:spPr>
          <a:xfrm>
            <a:off x="2462894" y="5455570"/>
            <a:ext cx="426310" cy="680894"/>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2" name="投影片編號版面配置區 11"/>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8</a:t>
            </a:fld>
            <a:endParaRPr kumimoji="1" lang="zh-TW" altLang="en-US"/>
          </a:p>
        </p:txBody>
      </p:sp>
      <p:sp>
        <p:nvSpPr>
          <p:cNvPr id="54" name="Title 1">
            <a:extLst>
              <a:ext uri="{FF2B5EF4-FFF2-40B4-BE49-F238E27FC236}">
                <a16:creationId xmlns:a16="http://schemas.microsoft.com/office/drawing/2014/main" id="{877BE1A9-6F8D-4910-9E4E-2E89CB5736FF}"/>
              </a:ext>
            </a:extLst>
          </p:cNvPr>
          <p:cNvSpPr txBox="1">
            <a:spLocks/>
          </p:cNvSpPr>
          <p:nvPr/>
        </p:nvSpPr>
        <p:spPr>
          <a:xfrm>
            <a:off x="-76496" y="214187"/>
            <a:ext cx="6172496" cy="735758"/>
          </a:xfrm>
          <a:prstGeom prst="rect">
            <a:avLst/>
          </a:prstGeom>
        </p:spPr>
        <p:txBody>
          <a:bodyPr>
            <a:noAutofit/>
          </a:bodyPr>
          <a:lstStyle>
            <a:lvl1pPr>
              <a:defRPr>
                <a:latin typeface="+mj-lt"/>
                <a:ea typeface="+mj-ea"/>
                <a:cs typeface="+mj-cs"/>
              </a:defRPr>
            </a:lvl1pPr>
          </a:lstStyle>
          <a:p>
            <a:r>
              <a:rPr lang="en-US" sz="3600" b="1" dirty="0">
                <a:latin typeface="Comic Sans MS"/>
              </a:rPr>
              <a:t>Extraction Phase (contd.)</a:t>
            </a:r>
            <a:endParaRPr lang="en-IN" sz="3600" b="1" dirty="0">
              <a:latin typeface="Comic Sans MS"/>
            </a:endParaRPr>
          </a:p>
        </p:txBody>
      </p:sp>
      <p:sp>
        <p:nvSpPr>
          <p:cNvPr id="55" name="TextBox 54">
            <a:extLst>
              <a:ext uri="{FF2B5EF4-FFF2-40B4-BE49-F238E27FC236}">
                <a16:creationId xmlns:a16="http://schemas.microsoft.com/office/drawing/2014/main" id="{0918D1A7-6AA3-407F-B580-EFC992F87200}"/>
              </a:ext>
            </a:extLst>
          </p:cNvPr>
          <p:cNvSpPr txBox="1"/>
          <p:nvPr/>
        </p:nvSpPr>
        <p:spPr>
          <a:xfrm>
            <a:off x="6793991" y="5851693"/>
            <a:ext cx="3785338" cy="307777"/>
          </a:xfrm>
          <a:prstGeom prst="rect">
            <a:avLst/>
          </a:prstGeom>
          <a:noFill/>
        </p:spPr>
        <p:txBody>
          <a:bodyPr wrap="square" rtlCol="0">
            <a:spAutoFit/>
          </a:bodyPr>
          <a:lstStyle/>
          <a:p>
            <a:r>
              <a:rPr lang="en-US" sz="1400" b="1" dirty="0">
                <a:solidFill>
                  <a:srgbClr val="000000"/>
                </a:solidFill>
                <a:latin typeface="Comic Sans MS" panose="030F0902030302020204" pitchFamily="66" charset="0"/>
              </a:rPr>
              <a:t>Fig.: TSIR Translator extraction  phase </a:t>
            </a:r>
            <a:endParaRPr lang="en-IN" sz="1400" b="1" dirty="0">
              <a:solidFill>
                <a:srgbClr val="000000"/>
              </a:solidFill>
              <a:latin typeface="Comic Sans MS" panose="030F0902030302020204" pitchFamily="66" charset="0"/>
            </a:endParaRPr>
          </a:p>
        </p:txBody>
      </p:sp>
    </p:spTree>
    <p:extLst>
      <p:ext uri="{BB962C8B-B14F-4D97-AF65-F5344CB8AC3E}">
        <p14:creationId xmlns:p14="http://schemas.microsoft.com/office/powerpoint/2010/main" val="1392411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橢圓 1"/>
          <p:cNvSpPr/>
          <p:nvPr/>
        </p:nvSpPr>
        <p:spPr>
          <a:xfrm>
            <a:off x="1767874" y="4765136"/>
            <a:ext cx="1390041" cy="690434"/>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a:t>
            </a:r>
          </a:p>
          <a:p>
            <a:pPr algn="ctr"/>
            <a:r>
              <a:rPr kumimoji="1" lang="en-US" altLang="zh-TW" sz="900" dirty="0">
                <a:solidFill>
                  <a:schemeClr val="tx1"/>
                </a:solidFill>
                <a:latin typeface="CMU Serif Roman" charset="0"/>
                <a:ea typeface="CMU Serif Roman" charset="0"/>
                <a:cs typeface="CMU Serif Roman" charset="0"/>
              </a:rPr>
              <a:t>of</a:t>
            </a:r>
          </a:p>
          <a:p>
            <a:pPr algn="ctr"/>
            <a:r>
              <a:rPr kumimoji="1" lang="en-US" altLang="zh-TW" sz="900" dirty="0">
                <a:solidFill>
                  <a:schemeClr val="tx1"/>
                </a:solidFill>
                <a:latin typeface="CMU Serif Roman" charset="0"/>
                <a:ea typeface="CMU Serif Roman" charset="0"/>
                <a:cs typeface="CMU Serif Roman" charset="0"/>
              </a:rPr>
              <a:t>Target Program</a:t>
            </a:r>
          </a:p>
        </p:txBody>
      </p:sp>
      <p:sp>
        <p:nvSpPr>
          <p:cNvPr id="3" name="矩形 2"/>
          <p:cNvSpPr/>
          <p:nvPr/>
        </p:nvSpPr>
        <p:spPr>
          <a:xfrm>
            <a:off x="1896801" y="2966883"/>
            <a:ext cx="1132187" cy="648730"/>
          </a:xfrm>
          <a:prstGeom prst="rect">
            <a:avLst/>
          </a:prstGeom>
          <a:solidFill>
            <a:srgbClr val="FFC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Extraction</a:t>
            </a:r>
          </a:p>
        </p:txBody>
      </p:sp>
      <p:sp>
        <p:nvSpPr>
          <p:cNvPr id="5" name="橢圓 4"/>
          <p:cNvSpPr/>
          <p:nvPr/>
        </p:nvSpPr>
        <p:spPr>
          <a:xfrm>
            <a:off x="4837891" y="2559106"/>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Instrumented</a:t>
            </a:r>
          </a:p>
          <a:p>
            <a:pPr algn="ctr"/>
            <a:r>
              <a:rPr kumimoji="1" lang="en-US" altLang="zh-TW" sz="900" dirty="0">
                <a:solidFill>
                  <a:schemeClr val="tx1"/>
                </a:solidFill>
                <a:latin typeface="CMU Serif Roman" charset="0"/>
                <a:ea typeface="CMU Serif Roman" charset="0"/>
                <a:cs typeface="CMU Serif Roman" charset="0"/>
              </a:rPr>
              <a:t>LLVM IR</a:t>
            </a:r>
          </a:p>
        </p:txBody>
      </p:sp>
      <p:sp>
        <p:nvSpPr>
          <p:cNvPr id="6" name="橢圓 5"/>
          <p:cNvSpPr/>
          <p:nvPr/>
        </p:nvSpPr>
        <p:spPr>
          <a:xfrm>
            <a:off x="4837891" y="3732129"/>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Intermediate Representation</a:t>
            </a:r>
          </a:p>
        </p:txBody>
      </p:sp>
      <p:sp>
        <p:nvSpPr>
          <p:cNvPr id="7" name="矩形 6"/>
          <p:cNvSpPr/>
          <p:nvPr/>
        </p:nvSpPr>
        <p:spPr>
          <a:xfrm>
            <a:off x="8124010" y="3147666"/>
            <a:ext cx="987334"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Replay</a:t>
            </a:r>
          </a:p>
        </p:txBody>
      </p:sp>
      <p:sp>
        <p:nvSpPr>
          <p:cNvPr id="8" name="矩形 7"/>
          <p:cNvSpPr/>
          <p:nvPr/>
        </p:nvSpPr>
        <p:spPr>
          <a:xfrm>
            <a:off x="3453056" y="2559107"/>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 Instrumentation</a:t>
            </a:r>
          </a:p>
        </p:txBody>
      </p:sp>
      <p:cxnSp>
        <p:nvCxnSpPr>
          <p:cNvPr id="27" name="肘形接點 26"/>
          <p:cNvCxnSpPr>
            <a:stCxn id="3" idx="3"/>
            <a:endCxn id="8" idx="1"/>
          </p:cNvCxnSpPr>
          <p:nvPr/>
        </p:nvCxnSpPr>
        <p:spPr>
          <a:xfrm flipV="1">
            <a:off x="3028987" y="2883472"/>
            <a:ext cx="424068" cy="40777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1" name="肘形接點 30"/>
          <p:cNvCxnSpPr>
            <a:stCxn id="8" idx="3"/>
            <a:endCxn id="5" idx="2"/>
          </p:cNvCxnSpPr>
          <p:nvPr/>
        </p:nvCxnSpPr>
        <p:spPr>
          <a:xfrm flipV="1">
            <a:off x="4585242" y="2883472"/>
            <a:ext cx="252650" cy="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9" name="直線接點 38"/>
          <p:cNvCxnSpPr/>
          <p:nvPr/>
        </p:nvCxnSpPr>
        <p:spPr>
          <a:xfrm>
            <a:off x="6504926" y="1025509"/>
            <a:ext cx="0" cy="4765673"/>
          </a:xfrm>
          <a:prstGeom prst="line">
            <a:avLst/>
          </a:prstGeom>
          <a:ln>
            <a:solidFill>
              <a:schemeClr val="bg2">
                <a:lumMod val="50000"/>
              </a:schemeClr>
            </a:solidFill>
            <a:prstDash val="sysDot"/>
          </a:ln>
        </p:spPr>
        <p:style>
          <a:lnRef idx="1">
            <a:schemeClr val="dk1"/>
          </a:lnRef>
          <a:fillRef idx="0">
            <a:schemeClr val="dk1"/>
          </a:fillRef>
          <a:effectRef idx="0">
            <a:schemeClr val="dk1"/>
          </a:effectRef>
          <a:fontRef idx="minor">
            <a:schemeClr val="tx1"/>
          </a:fontRef>
        </p:style>
      </p:cxnSp>
      <p:sp>
        <p:nvSpPr>
          <p:cNvPr id="40" name="文字方塊 39"/>
          <p:cNvSpPr txBox="1"/>
          <p:nvPr/>
        </p:nvSpPr>
        <p:spPr>
          <a:xfrm>
            <a:off x="3557164" y="1040345"/>
            <a:ext cx="1116011" cy="253916"/>
          </a:xfrm>
          <a:prstGeom prst="rect">
            <a:avLst/>
          </a:prstGeom>
          <a:noFill/>
        </p:spPr>
        <p:txBody>
          <a:bodyPr wrap="none" rtlCol="0">
            <a:spAutoFit/>
          </a:bodyPr>
          <a:lstStyle/>
          <a:p>
            <a:r>
              <a:rPr kumimoji="1" lang="en-US" altLang="zh-TW" sz="1050" b="1" dirty="0">
                <a:solidFill>
                  <a:srgbClr val="FF0000"/>
                </a:solidFill>
                <a:latin typeface="CMU Serif Roman" charset="0"/>
                <a:ea typeface="CMU Serif Roman" charset="0"/>
                <a:cs typeface="CMU Serif Roman" charset="0"/>
              </a:rPr>
              <a:t>Extraction Phase</a:t>
            </a:r>
            <a:endParaRPr kumimoji="1" lang="zh-TW" altLang="en-US" sz="1050" b="1" dirty="0">
              <a:solidFill>
                <a:srgbClr val="FF0000"/>
              </a:solidFill>
              <a:latin typeface="CMU Serif Roman" charset="0"/>
              <a:ea typeface="CMU Serif Roman" charset="0"/>
              <a:cs typeface="CMU Serif Roman" charset="0"/>
            </a:endParaRPr>
          </a:p>
        </p:txBody>
      </p:sp>
      <p:sp>
        <p:nvSpPr>
          <p:cNvPr id="41" name="文字方塊 40"/>
          <p:cNvSpPr txBox="1"/>
          <p:nvPr/>
        </p:nvSpPr>
        <p:spPr>
          <a:xfrm>
            <a:off x="6775722" y="1040345"/>
            <a:ext cx="938077"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Record Phase</a:t>
            </a:r>
            <a:endParaRPr kumimoji="1" lang="zh-TW" altLang="en-US" sz="1050" b="1" dirty="0">
              <a:latin typeface="CMU Serif Roman" charset="0"/>
              <a:ea typeface="CMU Serif Roman" charset="0"/>
              <a:cs typeface="CMU Serif Roman" charset="0"/>
            </a:endParaRPr>
          </a:p>
        </p:txBody>
      </p:sp>
      <p:sp>
        <p:nvSpPr>
          <p:cNvPr id="42" name="文字方塊 41"/>
          <p:cNvSpPr txBox="1"/>
          <p:nvPr/>
        </p:nvSpPr>
        <p:spPr>
          <a:xfrm>
            <a:off x="8845043" y="1038668"/>
            <a:ext cx="925253"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Replay Phase</a:t>
            </a:r>
            <a:endParaRPr kumimoji="1" lang="zh-TW" altLang="en-US" sz="1050" b="1" dirty="0">
              <a:latin typeface="CMU Serif Roman" charset="0"/>
              <a:ea typeface="CMU Serif Roman" charset="0"/>
              <a:cs typeface="CMU Serif Roman" charset="0"/>
            </a:endParaRPr>
          </a:p>
        </p:txBody>
      </p:sp>
      <p:sp>
        <p:nvSpPr>
          <p:cNvPr id="30" name="橢圓 29"/>
          <p:cNvSpPr/>
          <p:nvPr/>
        </p:nvSpPr>
        <p:spPr>
          <a:xfrm>
            <a:off x="4837891" y="1771257"/>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Information Flow Tracking Runtime Library</a:t>
            </a:r>
          </a:p>
        </p:txBody>
      </p:sp>
      <p:sp>
        <p:nvSpPr>
          <p:cNvPr id="44" name="矩形 43"/>
          <p:cNvSpPr/>
          <p:nvPr/>
        </p:nvSpPr>
        <p:spPr>
          <a:xfrm>
            <a:off x="3453056" y="3732129"/>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 to TSIR</a:t>
            </a:r>
          </a:p>
          <a:p>
            <a:pPr algn="ctr"/>
            <a:r>
              <a:rPr kumimoji="1" lang="en-US" altLang="zh-TW" sz="900" dirty="0">
                <a:solidFill>
                  <a:schemeClr val="tx1"/>
                </a:solidFill>
                <a:latin typeface="CMU Serif Roman" charset="0"/>
                <a:ea typeface="CMU Serif Roman" charset="0"/>
                <a:cs typeface="CMU Serif Roman" charset="0"/>
              </a:rPr>
              <a:t>Translation</a:t>
            </a:r>
          </a:p>
        </p:txBody>
      </p:sp>
      <p:cxnSp>
        <p:nvCxnSpPr>
          <p:cNvPr id="46" name="肘形接點 45"/>
          <p:cNvCxnSpPr>
            <a:stCxn id="3" idx="3"/>
            <a:endCxn id="44" idx="1"/>
          </p:cNvCxnSpPr>
          <p:nvPr/>
        </p:nvCxnSpPr>
        <p:spPr>
          <a:xfrm>
            <a:off x="3028987" y="3291249"/>
            <a:ext cx="424068" cy="76524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2" name="直線箭頭接點 51"/>
          <p:cNvCxnSpPr>
            <a:stCxn id="44" idx="3"/>
            <a:endCxn id="6" idx="2"/>
          </p:cNvCxnSpPr>
          <p:nvPr/>
        </p:nvCxnSpPr>
        <p:spPr>
          <a:xfrm>
            <a:off x="4585242" y="4056494"/>
            <a:ext cx="2526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橢圓 52"/>
          <p:cNvSpPr/>
          <p:nvPr/>
        </p:nvSpPr>
        <p:spPr>
          <a:xfrm>
            <a:off x="6664604" y="2200563"/>
            <a:ext cx="1208190"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Instrumented Target Program</a:t>
            </a:r>
          </a:p>
        </p:txBody>
      </p:sp>
      <p:cxnSp>
        <p:nvCxnSpPr>
          <p:cNvPr id="58" name="肘形接點 57"/>
          <p:cNvCxnSpPr>
            <a:stCxn id="30" idx="6"/>
            <a:endCxn id="53" idx="2"/>
          </p:cNvCxnSpPr>
          <p:nvPr/>
        </p:nvCxnSpPr>
        <p:spPr>
          <a:xfrm>
            <a:off x="6334858" y="2095624"/>
            <a:ext cx="329747" cy="42930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0" name="肘形接點 59"/>
          <p:cNvCxnSpPr>
            <a:stCxn id="5" idx="6"/>
            <a:endCxn id="53" idx="2"/>
          </p:cNvCxnSpPr>
          <p:nvPr/>
        </p:nvCxnSpPr>
        <p:spPr>
          <a:xfrm flipV="1">
            <a:off x="6334858" y="2524927"/>
            <a:ext cx="329747" cy="35854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線箭頭接點 61"/>
          <p:cNvCxnSpPr>
            <a:stCxn id="2" idx="0"/>
            <a:endCxn id="3" idx="2"/>
          </p:cNvCxnSpPr>
          <p:nvPr/>
        </p:nvCxnSpPr>
        <p:spPr>
          <a:xfrm flipV="1">
            <a:off x="2462894" y="3615612"/>
            <a:ext cx="0" cy="11495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矩形 67"/>
          <p:cNvSpPr/>
          <p:nvPr/>
        </p:nvSpPr>
        <p:spPr>
          <a:xfrm>
            <a:off x="1767874" y="2419987"/>
            <a:ext cx="2943693" cy="2109224"/>
          </a:xfrm>
          <a:prstGeom prst="rect">
            <a:avLst/>
          </a:prstGeom>
          <a:noFill/>
          <a:ln>
            <a:solidFill>
              <a:srgbClr val="767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sp>
        <p:nvSpPr>
          <p:cNvPr id="69" name="文字方塊 68"/>
          <p:cNvSpPr txBox="1"/>
          <p:nvPr/>
        </p:nvSpPr>
        <p:spPr>
          <a:xfrm>
            <a:off x="1747092" y="2198150"/>
            <a:ext cx="888385" cy="2308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TSIR Translator</a:t>
            </a:r>
            <a:endParaRPr kumimoji="1" lang="zh-TW" altLang="en-US" sz="900" dirty="0">
              <a:latin typeface="CMU Serif Roman" charset="0"/>
              <a:ea typeface="CMU Serif Roman" charset="0"/>
              <a:cs typeface="CMU Serif Roman" charset="0"/>
            </a:endParaRPr>
          </a:p>
        </p:txBody>
      </p:sp>
      <p:sp>
        <p:nvSpPr>
          <p:cNvPr id="71" name="矩形 70"/>
          <p:cNvSpPr/>
          <p:nvPr/>
        </p:nvSpPr>
        <p:spPr>
          <a:xfrm>
            <a:off x="9197285" y="3147666"/>
            <a:ext cx="987334"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Request Handling</a:t>
            </a:r>
          </a:p>
        </p:txBody>
      </p:sp>
      <p:cxnSp>
        <p:nvCxnSpPr>
          <p:cNvPr id="73" name="肘形接點 72"/>
          <p:cNvCxnSpPr>
            <a:stCxn id="53" idx="6"/>
            <a:endCxn id="7" idx="0"/>
          </p:cNvCxnSpPr>
          <p:nvPr/>
        </p:nvCxnSpPr>
        <p:spPr>
          <a:xfrm>
            <a:off x="7872793" y="2524928"/>
            <a:ext cx="744884" cy="622738"/>
          </a:xfrm>
          <a:prstGeom prst="bentConnector2">
            <a:avLst/>
          </a:prstGeom>
          <a:ln>
            <a:prstDash val="solid"/>
            <a:tailEnd type="triangle"/>
          </a:ln>
        </p:spPr>
        <p:style>
          <a:lnRef idx="1">
            <a:schemeClr val="dk1"/>
          </a:lnRef>
          <a:fillRef idx="0">
            <a:schemeClr val="dk1"/>
          </a:fillRef>
          <a:effectRef idx="0">
            <a:schemeClr val="dk1"/>
          </a:effectRef>
          <a:fontRef idx="minor">
            <a:schemeClr val="tx1"/>
          </a:fontRef>
        </p:style>
      </p:cxnSp>
      <p:cxnSp>
        <p:nvCxnSpPr>
          <p:cNvPr id="75" name="肘形接點 74"/>
          <p:cNvCxnSpPr>
            <a:stCxn id="53" idx="6"/>
            <a:endCxn id="71" idx="0"/>
          </p:cNvCxnSpPr>
          <p:nvPr/>
        </p:nvCxnSpPr>
        <p:spPr>
          <a:xfrm>
            <a:off x="7872794" y="2524928"/>
            <a:ext cx="1818158" cy="622738"/>
          </a:xfrm>
          <a:prstGeom prst="bentConnector2">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77" name="肘形接點 76"/>
          <p:cNvCxnSpPr>
            <a:stCxn id="6" idx="6"/>
            <a:endCxn id="7" idx="1"/>
          </p:cNvCxnSpPr>
          <p:nvPr/>
        </p:nvCxnSpPr>
        <p:spPr>
          <a:xfrm flipV="1">
            <a:off x="6334858" y="3472031"/>
            <a:ext cx="1789153" cy="58446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78" name="矩形 77"/>
          <p:cNvSpPr/>
          <p:nvPr/>
        </p:nvSpPr>
        <p:spPr>
          <a:xfrm>
            <a:off x="7989323" y="3028949"/>
            <a:ext cx="2314991" cy="872837"/>
          </a:xfrm>
          <a:prstGeom prst="rect">
            <a:avLst/>
          </a:prstGeom>
          <a:noFill/>
          <a:ln>
            <a:solidFill>
              <a:srgbClr val="767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sp>
        <p:nvSpPr>
          <p:cNvPr id="79" name="文字方塊 78"/>
          <p:cNvSpPr txBox="1"/>
          <p:nvPr/>
        </p:nvSpPr>
        <p:spPr>
          <a:xfrm>
            <a:off x="7989343" y="3918209"/>
            <a:ext cx="994183" cy="3693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Information Flow</a:t>
            </a:r>
          </a:p>
          <a:p>
            <a:r>
              <a:rPr kumimoji="1" lang="en-US" altLang="zh-TW" sz="900" dirty="0">
                <a:latin typeface="CMU Serif Roman" charset="0"/>
                <a:ea typeface="CMU Serif Roman" charset="0"/>
                <a:cs typeface="CMU Serif Roman" charset="0"/>
              </a:rPr>
              <a:t>Tracking Engine</a:t>
            </a:r>
            <a:endParaRPr kumimoji="1" lang="zh-TW" altLang="en-US" sz="900" dirty="0">
              <a:latin typeface="CMU Serif Roman" charset="0"/>
              <a:ea typeface="CMU Serif Roman" charset="0"/>
              <a:cs typeface="CMU Serif Roman" charset="0"/>
            </a:endParaRPr>
          </a:p>
        </p:txBody>
      </p:sp>
      <p:cxnSp>
        <p:nvCxnSpPr>
          <p:cNvPr id="81" name="肘形接點 80"/>
          <p:cNvCxnSpPr>
            <a:stCxn id="71" idx="3"/>
            <a:endCxn id="53" idx="0"/>
          </p:cNvCxnSpPr>
          <p:nvPr/>
        </p:nvCxnSpPr>
        <p:spPr>
          <a:xfrm flipH="1" flipV="1">
            <a:off x="7268699" y="2200563"/>
            <a:ext cx="2915920" cy="1271468"/>
          </a:xfrm>
          <a:prstGeom prst="bentConnector4">
            <a:avLst>
              <a:gd name="adj1" fmla="val -7306"/>
              <a:gd name="adj2" fmla="val 113484"/>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83" name="文字方塊 82"/>
          <p:cNvSpPr txBox="1"/>
          <p:nvPr/>
        </p:nvSpPr>
        <p:spPr>
          <a:xfrm>
            <a:off x="8054354" y="2629598"/>
            <a:ext cx="582212" cy="369332"/>
          </a:xfrm>
          <a:prstGeom prst="rect">
            <a:avLst/>
          </a:prstGeom>
          <a:noFill/>
        </p:spPr>
        <p:txBody>
          <a:bodyPr wrap="none" rtlCol="0">
            <a:spAutoFit/>
          </a:bodyPr>
          <a:lstStyle/>
          <a:p>
            <a:pPr algn="r"/>
            <a:r>
              <a:rPr kumimoji="1" lang="en-US" altLang="zh-TW" sz="900" dirty="0">
                <a:latin typeface="CMU Serif Roman" charset="0"/>
                <a:ea typeface="CMU Serif Roman" charset="0"/>
                <a:cs typeface="CMU Serif Roman" charset="0"/>
              </a:rPr>
              <a:t>runtime</a:t>
            </a:r>
          </a:p>
          <a:p>
            <a:pPr algn="r"/>
            <a:r>
              <a:rPr kumimoji="1" lang="en-US" altLang="zh-TW" sz="900" dirty="0">
                <a:latin typeface="CMU Serif Roman" charset="0"/>
                <a:ea typeface="CMU Serif Roman" charset="0"/>
                <a:cs typeface="CMU Serif Roman" charset="0"/>
              </a:rPr>
              <a:t>log</a:t>
            </a:r>
            <a:endParaRPr kumimoji="1" lang="zh-TW" altLang="en-US" sz="900" dirty="0">
              <a:latin typeface="CMU Serif Roman" charset="0"/>
              <a:ea typeface="CMU Serif Roman" charset="0"/>
              <a:cs typeface="CMU Serif Roman" charset="0"/>
            </a:endParaRPr>
          </a:p>
        </p:txBody>
      </p:sp>
      <p:sp>
        <p:nvSpPr>
          <p:cNvPr id="84" name="文字方塊 83"/>
          <p:cNvSpPr txBox="1"/>
          <p:nvPr/>
        </p:nvSpPr>
        <p:spPr>
          <a:xfrm>
            <a:off x="8685607" y="2317178"/>
            <a:ext cx="1016625" cy="230832"/>
          </a:xfrm>
          <a:prstGeom prst="rect">
            <a:avLst/>
          </a:prstGeom>
          <a:noFill/>
        </p:spPr>
        <p:txBody>
          <a:bodyPr wrap="none" rtlCol="0">
            <a:spAutoFit/>
          </a:bodyPr>
          <a:lstStyle/>
          <a:p>
            <a:r>
              <a:rPr kumimoji="1" lang="en-US" altLang="zh-TW" sz="900">
                <a:latin typeface="CMU Serif Roman" charset="0"/>
                <a:ea typeface="CMU Serif Roman" charset="0"/>
                <a:cs typeface="CMU Serif Roman" charset="0"/>
              </a:rPr>
              <a:t>tag query request</a:t>
            </a:r>
            <a:endParaRPr kumimoji="1" lang="zh-TW" altLang="en-US" sz="900" dirty="0">
              <a:latin typeface="CMU Serif Roman" charset="0"/>
              <a:ea typeface="CMU Serif Roman" charset="0"/>
              <a:cs typeface="CMU Serif Roman" charset="0"/>
            </a:endParaRPr>
          </a:p>
        </p:txBody>
      </p:sp>
      <p:sp>
        <p:nvSpPr>
          <p:cNvPr id="85" name="文字方塊 84"/>
          <p:cNvSpPr txBox="1"/>
          <p:nvPr/>
        </p:nvSpPr>
        <p:spPr>
          <a:xfrm>
            <a:off x="8385501" y="1819892"/>
            <a:ext cx="1083951" cy="2308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tag query response</a:t>
            </a:r>
            <a:endParaRPr kumimoji="1" lang="zh-TW" altLang="en-US" sz="900" dirty="0">
              <a:latin typeface="CMU Serif Roman" charset="0"/>
              <a:ea typeface="CMU Serif Roman" charset="0"/>
              <a:cs typeface="CMU Serif Roman" charset="0"/>
            </a:endParaRPr>
          </a:p>
        </p:txBody>
      </p:sp>
      <p:cxnSp>
        <p:nvCxnSpPr>
          <p:cNvPr id="87" name="直線接點 86"/>
          <p:cNvCxnSpPr/>
          <p:nvPr/>
        </p:nvCxnSpPr>
        <p:spPr>
          <a:xfrm>
            <a:off x="7989322" y="1025509"/>
            <a:ext cx="0" cy="4765673"/>
          </a:xfrm>
          <a:prstGeom prst="line">
            <a:avLst/>
          </a:prstGeom>
          <a:ln>
            <a:solidFill>
              <a:schemeClr val="bg2">
                <a:lumMod val="50000"/>
              </a:schemeClr>
            </a:solidFill>
            <a:prstDash val="sysDot"/>
          </a:ln>
        </p:spPr>
        <p:style>
          <a:lnRef idx="1">
            <a:schemeClr val="dk1"/>
          </a:lnRef>
          <a:fillRef idx="0">
            <a:schemeClr val="dk1"/>
          </a:fillRef>
          <a:effectRef idx="0">
            <a:schemeClr val="dk1"/>
          </a:effectRef>
          <a:fontRef idx="minor">
            <a:schemeClr val="tx1"/>
          </a:fontRef>
        </p:style>
      </p:cxnSp>
      <p:grpSp>
        <p:nvGrpSpPr>
          <p:cNvPr id="114" name="群組 113"/>
          <p:cNvGrpSpPr/>
          <p:nvPr/>
        </p:nvGrpSpPr>
        <p:grpSpPr>
          <a:xfrm>
            <a:off x="8117240" y="4665012"/>
            <a:ext cx="766360" cy="707431"/>
            <a:chOff x="9180237" y="4785425"/>
            <a:chExt cx="1021813" cy="943241"/>
          </a:xfrm>
        </p:grpSpPr>
        <p:sp>
          <p:nvSpPr>
            <p:cNvPr id="90" name="橢圓 89"/>
            <p:cNvSpPr/>
            <p:nvPr/>
          </p:nvSpPr>
          <p:spPr>
            <a:xfrm>
              <a:off x="9180237" y="5308405"/>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2" name="橢圓 91"/>
            <p:cNvSpPr/>
            <p:nvPr/>
          </p:nvSpPr>
          <p:spPr>
            <a:xfrm>
              <a:off x="9544298" y="5076772"/>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3" name="橢圓 92"/>
            <p:cNvSpPr/>
            <p:nvPr/>
          </p:nvSpPr>
          <p:spPr>
            <a:xfrm>
              <a:off x="9566581" y="5516190"/>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4" name="橢圓 93"/>
            <p:cNvSpPr/>
            <p:nvPr/>
          </p:nvSpPr>
          <p:spPr>
            <a:xfrm>
              <a:off x="9973257" y="4785425"/>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5" name="橢圓 94"/>
            <p:cNvSpPr/>
            <p:nvPr/>
          </p:nvSpPr>
          <p:spPr>
            <a:xfrm>
              <a:off x="9989574" y="5236557"/>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cxnSp>
          <p:nvCxnSpPr>
            <p:cNvPr id="97" name="曲線接點 96"/>
            <p:cNvCxnSpPr>
              <a:stCxn id="90" idx="4"/>
              <a:endCxn id="93" idx="2"/>
            </p:cNvCxnSpPr>
            <p:nvPr/>
          </p:nvCxnSpPr>
          <p:spPr>
            <a:xfrm rot="16200000" flipH="1">
              <a:off x="9375755" y="5431601"/>
              <a:ext cx="101547" cy="280106"/>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99" name="曲線接點 98"/>
            <p:cNvCxnSpPr>
              <a:stCxn id="90" idx="0"/>
              <a:endCxn id="92" idx="2"/>
            </p:cNvCxnSpPr>
            <p:nvPr/>
          </p:nvCxnSpPr>
          <p:spPr>
            <a:xfrm rot="5400000" flipH="1" flipV="1">
              <a:off x="9352689" y="5116797"/>
              <a:ext cx="125395" cy="257823"/>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03" name="曲線接點 102"/>
            <p:cNvCxnSpPr>
              <a:stCxn id="93" idx="6"/>
              <a:endCxn id="95" idx="4"/>
            </p:cNvCxnSpPr>
            <p:nvPr/>
          </p:nvCxnSpPr>
          <p:spPr>
            <a:xfrm flipV="1">
              <a:off x="9779057" y="5449033"/>
              <a:ext cx="316755" cy="173395"/>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09" name="曲線接點 108"/>
            <p:cNvCxnSpPr>
              <a:stCxn id="93" idx="0"/>
              <a:endCxn id="95" idx="2"/>
            </p:cNvCxnSpPr>
            <p:nvPr/>
          </p:nvCxnSpPr>
          <p:spPr>
            <a:xfrm rot="5400000" flipH="1" flipV="1">
              <a:off x="9744499" y="5271116"/>
              <a:ext cx="173395" cy="316755"/>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11" name="曲線接點 110"/>
            <p:cNvCxnSpPr>
              <a:stCxn id="92" idx="7"/>
              <a:endCxn id="94" idx="2"/>
            </p:cNvCxnSpPr>
            <p:nvPr/>
          </p:nvCxnSpPr>
          <p:spPr>
            <a:xfrm rot="5400000" flipH="1" flipV="1">
              <a:off x="9741345" y="4875977"/>
              <a:ext cx="216225" cy="247599"/>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13" name="曲線接點 112"/>
            <p:cNvCxnSpPr>
              <a:stCxn id="94" idx="6"/>
              <a:endCxn id="95" idx="6"/>
            </p:cNvCxnSpPr>
            <p:nvPr/>
          </p:nvCxnSpPr>
          <p:spPr>
            <a:xfrm>
              <a:off x="10185733" y="4891663"/>
              <a:ext cx="16317" cy="451132"/>
            </a:xfrm>
            <a:prstGeom prst="curvedConnector3">
              <a:avLst>
                <a:gd name="adj1" fmla="val 1500993"/>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grpSp>
      <p:cxnSp>
        <p:nvCxnSpPr>
          <p:cNvPr id="116" name="直線箭頭接點 115"/>
          <p:cNvCxnSpPr>
            <a:stCxn id="78" idx="2"/>
          </p:cNvCxnSpPr>
          <p:nvPr/>
        </p:nvCxnSpPr>
        <p:spPr>
          <a:xfrm flipH="1">
            <a:off x="9146818" y="3901785"/>
            <a:ext cx="1" cy="627426"/>
          </a:xfrm>
          <a:prstGeom prst="straightConnector1">
            <a:avLst/>
          </a:prstGeom>
          <a:ln>
            <a:prstDash val="sysDot"/>
            <a:tailEnd type="triangle"/>
          </a:ln>
        </p:spPr>
        <p:style>
          <a:lnRef idx="1">
            <a:schemeClr val="dk1"/>
          </a:lnRef>
          <a:fillRef idx="0">
            <a:schemeClr val="dk1"/>
          </a:fillRef>
          <a:effectRef idx="0">
            <a:schemeClr val="dk1"/>
          </a:effectRef>
          <a:fontRef idx="minor">
            <a:schemeClr val="tx1"/>
          </a:fontRef>
        </p:style>
      </p:cxnSp>
      <p:sp>
        <p:nvSpPr>
          <p:cNvPr id="117" name="文字方塊 116"/>
          <p:cNvSpPr txBox="1"/>
          <p:nvPr/>
        </p:nvSpPr>
        <p:spPr>
          <a:xfrm>
            <a:off x="9121166" y="4700875"/>
            <a:ext cx="1494878" cy="698589"/>
          </a:xfrm>
          <a:prstGeom prst="rect">
            <a:avLst/>
          </a:prstGeom>
          <a:noFill/>
        </p:spPr>
        <p:txBody>
          <a:bodyPr wrap="square" rtlCol="0">
            <a:spAutoFit/>
          </a:bodyPr>
          <a:lstStyle/>
          <a:p>
            <a:r>
              <a:rPr kumimoji="1" lang="en-US" altLang="zh-TW" sz="788" dirty="0">
                <a:latin typeface="CMU Serif Roman" charset="0"/>
                <a:ea typeface="CMU Serif Roman" charset="0"/>
                <a:cs typeface="CMU Serif Roman" charset="0"/>
              </a:rPr>
              <a:t>Further Analysis</a:t>
            </a:r>
          </a:p>
          <a:p>
            <a:pPr marL="128588" indent="-128588">
              <a:buFont typeface="Arial" charset="0"/>
              <a:buChar char="•"/>
            </a:pPr>
            <a:r>
              <a:rPr kumimoji="1" lang="en-US" altLang="zh-TW" sz="788" dirty="0">
                <a:latin typeface="CMU Serif Roman" charset="0"/>
                <a:ea typeface="CMU Serif Roman" charset="0"/>
                <a:cs typeface="CMU Serif Roman" charset="0"/>
              </a:rPr>
              <a:t>Whole-system Information Flow Tracking</a:t>
            </a:r>
          </a:p>
          <a:p>
            <a:pPr marL="128588" indent="-128588">
              <a:buFont typeface="Arial" charset="0"/>
              <a:buChar char="•"/>
            </a:pPr>
            <a:r>
              <a:rPr kumimoji="1" lang="en-US" altLang="zh-TW" sz="788" dirty="0">
                <a:latin typeface="CMU Serif Roman" charset="0"/>
                <a:ea typeface="CMU Serif Roman" charset="0"/>
                <a:cs typeface="CMU Serif Roman" charset="0"/>
              </a:rPr>
              <a:t>Data Provenance</a:t>
            </a:r>
          </a:p>
          <a:p>
            <a:pPr marL="128588" indent="-128588">
              <a:buFont typeface="Arial" charset="0"/>
              <a:buChar char="•"/>
            </a:pPr>
            <a:r>
              <a:rPr kumimoji="1" lang="en-US" altLang="zh-TW" sz="788" dirty="0">
                <a:latin typeface="CMU Serif Roman" charset="0"/>
                <a:ea typeface="CMU Serif Roman" charset="0"/>
                <a:cs typeface="CMU Serif Roman" charset="0"/>
              </a:rPr>
              <a:t>Data Leakage Detection</a:t>
            </a:r>
            <a:endParaRPr kumimoji="1" lang="zh-TW" altLang="en-US" sz="788" dirty="0">
              <a:latin typeface="CMU Serif Roman" charset="0"/>
              <a:ea typeface="CMU Serif Roman" charset="0"/>
              <a:cs typeface="CMU Serif Roman" charset="0"/>
            </a:endParaRPr>
          </a:p>
        </p:txBody>
      </p:sp>
      <p:sp>
        <p:nvSpPr>
          <p:cNvPr id="49" name="橢圓 48"/>
          <p:cNvSpPr/>
          <p:nvPr/>
        </p:nvSpPr>
        <p:spPr>
          <a:xfrm>
            <a:off x="3523185" y="4765136"/>
            <a:ext cx="1390041" cy="690434"/>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Source Code</a:t>
            </a:r>
          </a:p>
          <a:p>
            <a:pPr algn="ctr"/>
            <a:r>
              <a:rPr kumimoji="1" lang="en-US" altLang="zh-TW" sz="900" dirty="0">
                <a:solidFill>
                  <a:schemeClr val="tx1"/>
                </a:solidFill>
                <a:latin typeface="CMU Serif Roman" charset="0"/>
                <a:ea typeface="CMU Serif Roman" charset="0"/>
                <a:cs typeface="CMU Serif Roman" charset="0"/>
              </a:rPr>
              <a:t>of</a:t>
            </a:r>
          </a:p>
          <a:p>
            <a:pPr algn="ctr"/>
            <a:r>
              <a:rPr kumimoji="1" lang="en-US" altLang="zh-TW" sz="900" dirty="0">
                <a:solidFill>
                  <a:schemeClr val="tx1"/>
                </a:solidFill>
                <a:latin typeface="CMU Serif Roman" charset="0"/>
                <a:ea typeface="CMU Serif Roman" charset="0"/>
                <a:cs typeface="CMU Serif Roman" charset="0"/>
              </a:rPr>
              <a:t>Target Program</a:t>
            </a:r>
          </a:p>
        </p:txBody>
      </p:sp>
      <p:cxnSp>
        <p:nvCxnSpPr>
          <p:cNvPr id="9" name="直線箭頭接點 8"/>
          <p:cNvCxnSpPr>
            <a:stCxn id="49" idx="2"/>
            <a:endCxn id="2" idx="6"/>
          </p:cNvCxnSpPr>
          <p:nvPr/>
        </p:nvCxnSpPr>
        <p:spPr>
          <a:xfrm flipH="1">
            <a:off x="3157915" y="5110353"/>
            <a:ext cx="3652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投影片編號版面配置區 9"/>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9</a:t>
            </a:fld>
            <a:endParaRPr kumimoji="1" lang="zh-TW" altLang="en-US"/>
          </a:p>
        </p:txBody>
      </p:sp>
      <p:sp>
        <p:nvSpPr>
          <p:cNvPr id="54" name="Title 1">
            <a:extLst>
              <a:ext uri="{FF2B5EF4-FFF2-40B4-BE49-F238E27FC236}">
                <a16:creationId xmlns:a16="http://schemas.microsoft.com/office/drawing/2014/main" id="{883BBB9B-DBA6-47D3-91B6-FBA21C0CA472}"/>
              </a:ext>
            </a:extLst>
          </p:cNvPr>
          <p:cNvSpPr txBox="1">
            <a:spLocks/>
          </p:cNvSpPr>
          <p:nvPr/>
        </p:nvSpPr>
        <p:spPr>
          <a:xfrm>
            <a:off x="-48571" y="257243"/>
            <a:ext cx="5763571" cy="735758"/>
          </a:xfrm>
          <a:prstGeom prst="rect">
            <a:avLst/>
          </a:prstGeom>
        </p:spPr>
        <p:txBody>
          <a:bodyPr>
            <a:noAutofit/>
          </a:bodyPr>
          <a:lstStyle>
            <a:lvl1pPr>
              <a:defRPr>
                <a:latin typeface="+mj-lt"/>
                <a:ea typeface="+mj-ea"/>
                <a:cs typeface="+mj-cs"/>
              </a:defRPr>
            </a:lvl1pPr>
          </a:lstStyle>
          <a:p>
            <a:r>
              <a:rPr lang="en-US" sz="3600" b="1" dirty="0">
                <a:latin typeface="Comic Sans MS"/>
              </a:rPr>
              <a:t>Extraction Phase (contd.)</a:t>
            </a:r>
            <a:endParaRPr lang="en-IN" sz="3600" b="1" dirty="0">
              <a:latin typeface="Comic Sans MS"/>
            </a:endParaRPr>
          </a:p>
        </p:txBody>
      </p:sp>
      <p:sp>
        <p:nvSpPr>
          <p:cNvPr id="55" name="TextBox 54">
            <a:extLst>
              <a:ext uri="{FF2B5EF4-FFF2-40B4-BE49-F238E27FC236}">
                <a16:creationId xmlns:a16="http://schemas.microsoft.com/office/drawing/2014/main" id="{06AED22A-09D4-4BF9-9624-41DE30B2A7C3}"/>
              </a:ext>
            </a:extLst>
          </p:cNvPr>
          <p:cNvSpPr txBox="1"/>
          <p:nvPr/>
        </p:nvSpPr>
        <p:spPr>
          <a:xfrm>
            <a:off x="4610507" y="5995203"/>
            <a:ext cx="3556779" cy="307777"/>
          </a:xfrm>
          <a:prstGeom prst="rect">
            <a:avLst/>
          </a:prstGeom>
          <a:noFill/>
        </p:spPr>
        <p:txBody>
          <a:bodyPr wrap="square" rtlCol="0">
            <a:spAutoFit/>
          </a:bodyPr>
          <a:lstStyle/>
          <a:p>
            <a:r>
              <a:rPr lang="en-US" sz="1400" b="1" dirty="0">
                <a:solidFill>
                  <a:srgbClr val="000000"/>
                </a:solidFill>
                <a:latin typeface="Comic Sans MS" panose="030F0902030302020204" pitchFamily="66" charset="0"/>
              </a:rPr>
              <a:t>Fig.: TSIR Translator extraction  phase </a:t>
            </a:r>
            <a:endParaRPr lang="en-IN" sz="1400" b="1" dirty="0">
              <a:solidFill>
                <a:srgbClr val="000000"/>
              </a:solidFill>
              <a:latin typeface="Comic Sans MS" panose="030F0902030302020204" pitchFamily="66" charset="0"/>
            </a:endParaRPr>
          </a:p>
        </p:txBody>
      </p:sp>
    </p:spTree>
    <p:extLst>
      <p:ext uri="{BB962C8B-B14F-4D97-AF65-F5344CB8AC3E}">
        <p14:creationId xmlns:p14="http://schemas.microsoft.com/office/powerpoint/2010/main" val="1137972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3E09F0-B42D-45EB-9216-F474A6379A26}"/>
              </a:ext>
            </a:extLst>
          </p:cNvPr>
          <p:cNvSpPr txBox="1"/>
          <p:nvPr/>
        </p:nvSpPr>
        <p:spPr>
          <a:xfrm>
            <a:off x="7089690" y="1678253"/>
            <a:ext cx="4707935" cy="307777"/>
          </a:xfrm>
          <a:prstGeom prst="rect">
            <a:avLst/>
          </a:prstGeom>
          <a:noFill/>
        </p:spPr>
        <p:txBody>
          <a:bodyPr wrap="square">
            <a:spAutoFit/>
          </a:bodyPr>
          <a:lstStyle/>
          <a:p>
            <a:pPr algn="ctr"/>
            <a:r>
              <a:rPr lang="en-US" sz="1400" b="1" i="0" dirty="0">
                <a:solidFill>
                  <a:srgbClr val="000000"/>
                </a:solidFill>
                <a:effectLst/>
                <a:latin typeface="Comic Sans MS" panose="030F0902030302020204" pitchFamily="66" charset="0"/>
              </a:rPr>
              <a:t>Table: TSIR Mappings for Memory Access Operations</a:t>
            </a:r>
            <a:r>
              <a:rPr lang="en-US" sz="1400" b="1" dirty="0">
                <a:latin typeface="Comic Sans MS" panose="030F0902030302020204" pitchFamily="66" charset="0"/>
              </a:rPr>
              <a:t> </a:t>
            </a:r>
            <a:endParaRPr lang="en-IN" sz="1400" b="1" dirty="0">
              <a:latin typeface="Comic Sans MS" panose="030F0902030302020204" pitchFamily="66" charset="0"/>
            </a:endParaRPr>
          </a:p>
        </p:txBody>
      </p:sp>
      <p:sp>
        <p:nvSpPr>
          <p:cNvPr id="6" name="標題 1">
            <a:extLst>
              <a:ext uri="{FF2B5EF4-FFF2-40B4-BE49-F238E27FC236}">
                <a16:creationId xmlns:a16="http://schemas.microsoft.com/office/drawing/2014/main" id="{7E255A7A-A15D-4B5B-82F3-5E01B4B8D45D}"/>
              </a:ext>
            </a:extLst>
          </p:cNvPr>
          <p:cNvSpPr txBox="1">
            <a:spLocks/>
          </p:cNvSpPr>
          <p:nvPr/>
        </p:nvSpPr>
        <p:spPr>
          <a:xfrm>
            <a:off x="0" y="281586"/>
            <a:ext cx="10058400" cy="646331"/>
          </a:xfrm>
          <a:prstGeom prst="rect">
            <a:avLst/>
          </a:prstGeom>
        </p:spPr>
        <p:txBody>
          <a:bodyPr/>
          <a:lstStyle>
            <a:lvl1pPr algn="l" defTabSz="914400" rtl="0" eaLnBrk="1" latinLnBrk="0" hangingPunct="1">
              <a:lnSpc>
                <a:spcPct val="90000"/>
              </a:lnSpc>
              <a:spcBef>
                <a:spcPct val="0"/>
              </a:spcBef>
              <a:buNone/>
              <a:defRPr sz="4800" b="1" kern="1200" cap="none"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altLang="zh-TW" sz="3600" dirty="0">
                <a:solidFill>
                  <a:schemeClr val="tx1"/>
                </a:solidFill>
                <a:latin typeface="Comic Sans MS"/>
              </a:rPr>
              <a:t>Taint Semantics Extraction</a:t>
            </a:r>
            <a:endParaRPr lang="zh-TW" altLang="en-US" sz="3600" dirty="0">
              <a:solidFill>
                <a:schemeClr val="tx1"/>
              </a:solidFill>
              <a:latin typeface="Comic Sans MS"/>
            </a:endParaRPr>
          </a:p>
        </p:txBody>
      </p:sp>
      <p:sp>
        <p:nvSpPr>
          <p:cNvPr id="10" name="標題 1">
            <a:extLst>
              <a:ext uri="{FF2B5EF4-FFF2-40B4-BE49-F238E27FC236}">
                <a16:creationId xmlns:a16="http://schemas.microsoft.com/office/drawing/2014/main" id="{0C1F153A-46F6-47EC-B9D1-D04CC159AE38}"/>
              </a:ext>
            </a:extLst>
          </p:cNvPr>
          <p:cNvSpPr txBox="1">
            <a:spLocks/>
          </p:cNvSpPr>
          <p:nvPr/>
        </p:nvSpPr>
        <p:spPr>
          <a:xfrm>
            <a:off x="678282" y="3432628"/>
            <a:ext cx="6252288" cy="1015663"/>
          </a:xfrm>
          <a:prstGeom prst="rect">
            <a:avLst/>
          </a:prstGeom>
        </p:spPr>
        <p:txBody>
          <a:bodyPr/>
          <a:lstStyle>
            <a:lvl1pPr algn="l" defTabSz="914400" rtl="0" eaLnBrk="1" latinLnBrk="0" hangingPunct="1">
              <a:lnSpc>
                <a:spcPct val="90000"/>
              </a:lnSpc>
              <a:spcBef>
                <a:spcPct val="0"/>
              </a:spcBef>
              <a:buNone/>
              <a:defRPr sz="4800" b="1" kern="1200" cap="none"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marL="285750" indent="-285750" algn="just">
              <a:buFont typeface="Wingdings" pitchFamily="2" charset="2"/>
              <a:buChar char="ü"/>
            </a:pPr>
            <a:r>
              <a:rPr kumimoji="1" lang="en-US" altLang="zh-TW" sz="1800" dirty="0">
                <a:solidFill>
                  <a:srgbClr val="00B0F0"/>
                </a:solidFill>
                <a:latin typeface="Comic Sans MS" panose="030F0902030302020204" pitchFamily="66" charset="0"/>
                <a:ea typeface="+mn-ea"/>
                <a:cs typeface="+mn-cs"/>
              </a:rPr>
              <a:t>Extraction </a:t>
            </a:r>
            <a:r>
              <a:rPr kumimoji="1" lang="mr-IN" altLang="zh-TW" sz="1800" dirty="0">
                <a:solidFill>
                  <a:srgbClr val="00B0F0"/>
                </a:solidFill>
                <a:latin typeface="Comic Sans MS" panose="030F0902030302020204" pitchFamily="66" charset="0"/>
                <a:ea typeface="+mn-ea"/>
                <a:cs typeface="+mn-cs"/>
              </a:rPr>
              <a:t>–</a:t>
            </a:r>
            <a:r>
              <a:rPr kumimoji="1" lang="en-US" altLang="zh-TW" sz="1800" dirty="0">
                <a:solidFill>
                  <a:srgbClr val="00B0F0"/>
                </a:solidFill>
                <a:latin typeface="Comic Sans MS" panose="030F0902030302020204" pitchFamily="66" charset="0"/>
                <a:ea typeface="+mn-ea"/>
                <a:cs typeface="+mn-cs"/>
              </a:rPr>
              <a:t> Binary Operations</a:t>
            </a:r>
          </a:p>
          <a:p>
            <a:pPr marL="1200150" lvl="2" indent="-285750">
              <a:buFont typeface="Wingdings" pitchFamily="2" charset="2"/>
              <a:buChar char="ü"/>
            </a:pPr>
            <a:r>
              <a:rPr kumimoji="1" lang="en-US" altLang="zh-TW" dirty="0">
                <a:latin typeface="Comic Sans MS" panose="030F0902030302020204" pitchFamily="66" charset="0"/>
              </a:rPr>
              <a:t>add, sub, </a:t>
            </a:r>
            <a:r>
              <a:rPr kumimoji="1" lang="en-US" altLang="zh-TW" dirty="0" err="1">
                <a:latin typeface="Comic Sans MS" panose="030F0902030302020204" pitchFamily="66" charset="0"/>
              </a:rPr>
              <a:t>mul</a:t>
            </a:r>
            <a:r>
              <a:rPr kumimoji="1" lang="en-US" altLang="zh-TW" dirty="0">
                <a:latin typeface="Comic Sans MS" panose="030F0902030302020204" pitchFamily="66" charset="0"/>
              </a:rPr>
              <a:t>, </a:t>
            </a:r>
            <a:r>
              <a:rPr kumimoji="1" lang="en-US" altLang="zh-TW" dirty="0" err="1">
                <a:latin typeface="Comic Sans MS" panose="030F0902030302020204" pitchFamily="66" charset="0"/>
              </a:rPr>
              <a:t>fadd</a:t>
            </a:r>
            <a:r>
              <a:rPr kumimoji="1" lang="en-US" altLang="zh-TW" dirty="0">
                <a:latin typeface="Comic Sans MS" panose="030F0902030302020204" pitchFamily="66" charset="0"/>
              </a:rPr>
              <a:t>, </a:t>
            </a:r>
            <a:r>
              <a:rPr kumimoji="1" lang="en-US" altLang="zh-TW" dirty="0" err="1">
                <a:latin typeface="Comic Sans MS" panose="030F0902030302020204" pitchFamily="66" charset="0"/>
              </a:rPr>
              <a:t>fsub</a:t>
            </a:r>
            <a:r>
              <a:rPr kumimoji="1" lang="en-US" altLang="zh-TW" dirty="0">
                <a:latin typeface="Comic Sans MS" panose="030F0902030302020204" pitchFamily="66" charset="0"/>
              </a:rPr>
              <a:t>, </a:t>
            </a:r>
            <a:r>
              <a:rPr kumimoji="1" lang="en-US" altLang="zh-TW" dirty="0" err="1">
                <a:latin typeface="Comic Sans MS" panose="030F0902030302020204" pitchFamily="66" charset="0"/>
              </a:rPr>
              <a:t>fmul</a:t>
            </a:r>
            <a:r>
              <a:rPr kumimoji="1" lang="en-US" altLang="zh-TW" dirty="0">
                <a:latin typeface="Comic Sans MS" panose="030F0902030302020204" pitchFamily="66" charset="0"/>
              </a:rPr>
              <a:t>, </a:t>
            </a:r>
            <a:r>
              <a:rPr kumimoji="1" lang="en-US" altLang="zh-TW" dirty="0" err="1">
                <a:latin typeface="Comic Sans MS" panose="030F0902030302020204" pitchFamily="66" charset="0"/>
              </a:rPr>
              <a:t>shl</a:t>
            </a:r>
            <a:r>
              <a:rPr kumimoji="1" lang="en-US" altLang="zh-TW" dirty="0">
                <a:latin typeface="Comic Sans MS" panose="030F0902030302020204" pitchFamily="66" charset="0"/>
              </a:rPr>
              <a:t>, and, or......</a:t>
            </a:r>
          </a:p>
          <a:p>
            <a:pPr marL="342900" indent="-342900">
              <a:buFont typeface="Wingdings" pitchFamily="2" charset="2"/>
              <a:buChar char="ü"/>
            </a:pPr>
            <a:endParaRPr kumimoji="1" lang="zh-TW" altLang="en-US" sz="2400" dirty="0">
              <a:latin typeface="Comic Sans MS" panose="030F0902030302020204" pitchFamily="66" charset="0"/>
            </a:endParaRPr>
          </a:p>
        </p:txBody>
      </p:sp>
      <p:sp>
        <p:nvSpPr>
          <p:cNvPr id="14" name="TextBox 13">
            <a:extLst>
              <a:ext uri="{FF2B5EF4-FFF2-40B4-BE49-F238E27FC236}">
                <a16:creationId xmlns:a16="http://schemas.microsoft.com/office/drawing/2014/main" id="{59B61413-56E7-464F-B6EC-B586FFBE407D}"/>
              </a:ext>
            </a:extLst>
          </p:cNvPr>
          <p:cNvSpPr txBox="1"/>
          <p:nvPr/>
        </p:nvSpPr>
        <p:spPr>
          <a:xfrm>
            <a:off x="678282" y="4433777"/>
            <a:ext cx="9681241" cy="923330"/>
          </a:xfrm>
          <a:prstGeom prst="rect">
            <a:avLst/>
          </a:prstGeom>
          <a:noFill/>
        </p:spPr>
        <p:txBody>
          <a:bodyPr wrap="square">
            <a:spAutoFit/>
          </a:bodyPr>
          <a:lstStyle/>
          <a:p>
            <a:pPr marL="285750" indent="-285750" algn="just">
              <a:buFont typeface="Wingdings" pitchFamily="2" charset="2"/>
              <a:buChar char="ü"/>
            </a:pPr>
            <a:r>
              <a:rPr kumimoji="1" lang="en-US" altLang="zh-TW" dirty="0">
                <a:solidFill>
                  <a:srgbClr val="00B0F0"/>
                </a:solidFill>
                <a:latin typeface="Comic Sans MS" panose="030F0902030302020204" pitchFamily="66" charset="0"/>
              </a:rPr>
              <a:t>Vector as operands</a:t>
            </a:r>
          </a:p>
          <a:p>
            <a:pPr marL="800100" lvl="1" indent="-342900">
              <a:buFont typeface="Wingdings" pitchFamily="2" charset="2"/>
              <a:buChar char="ü"/>
            </a:pPr>
            <a:r>
              <a:rPr kumimoji="1" lang="en-US" altLang="zh-TW" dirty="0">
                <a:latin typeface="Comic Sans MS" panose="030F0902030302020204" pitchFamily="66" charset="0"/>
              </a:rPr>
              <a:t>SIMD: Single Instruction Multiple Data “de-vectorize” into field-to-field operations</a:t>
            </a:r>
            <a:endParaRPr kumimoji="1" lang="zh-TW" altLang="en-US" dirty="0">
              <a:latin typeface="Comic Sans MS" panose="030F0902030302020204" pitchFamily="66" charset="0"/>
            </a:endParaRPr>
          </a:p>
        </p:txBody>
      </p:sp>
      <p:sp>
        <p:nvSpPr>
          <p:cNvPr id="15" name="Slide Number Placeholder 14">
            <a:extLst>
              <a:ext uri="{FF2B5EF4-FFF2-40B4-BE49-F238E27FC236}">
                <a16:creationId xmlns:a16="http://schemas.microsoft.com/office/drawing/2014/main" id="{A6F98DBC-183C-49A7-A5CA-D5E2C191B8A9}"/>
              </a:ext>
            </a:extLst>
          </p:cNvPr>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10</a:t>
            </a:fld>
            <a:endParaRPr lang="en-US" dirty="0"/>
          </a:p>
        </p:txBody>
      </p:sp>
      <p:sp>
        <p:nvSpPr>
          <p:cNvPr id="11" name="標題 1">
            <a:extLst>
              <a:ext uri="{FF2B5EF4-FFF2-40B4-BE49-F238E27FC236}">
                <a16:creationId xmlns:a16="http://schemas.microsoft.com/office/drawing/2014/main" id="{FAAFC73D-836F-9948-967D-06B9C0F76FE0}"/>
              </a:ext>
            </a:extLst>
          </p:cNvPr>
          <p:cNvSpPr txBox="1">
            <a:spLocks/>
          </p:cNvSpPr>
          <p:nvPr/>
        </p:nvSpPr>
        <p:spPr>
          <a:xfrm>
            <a:off x="681912" y="1419269"/>
            <a:ext cx="5627835" cy="1824280"/>
          </a:xfrm>
          <a:prstGeom prst="rect">
            <a:avLst/>
          </a:prstGeom>
        </p:spPr>
        <p:txBody>
          <a:bodyPr/>
          <a:lstStyle>
            <a:lvl1pPr algn="l" defTabSz="914400" rtl="0" eaLnBrk="1" latinLnBrk="0" hangingPunct="1">
              <a:lnSpc>
                <a:spcPct val="90000"/>
              </a:lnSpc>
              <a:spcBef>
                <a:spcPct val="0"/>
              </a:spcBef>
              <a:buNone/>
              <a:defRPr sz="4800" b="1" kern="1200" cap="none"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marL="285750" indent="-285750" algn="just">
              <a:buFont typeface="Wingdings" pitchFamily="2" charset="2"/>
              <a:buChar char="ü"/>
            </a:pPr>
            <a:r>
              <a:rPr kumimoji="1" lang="en-US" altLang="zh-TW" sz="1800" dirty="0">
                <a:solidFill>
                  <a:srgbClr val="00B0F0"/>
                </a:solidFill>
                <a:latin typeface="Comic Sans MS" panose="030F0902030302020204" pitchFamily="66" charset="0"/>
                <a:ea typeface="+mn-ea"/>
                <a:cs typeface="+mn-cs"/>
              </a:rPr>
              <a:t>LLVM IR</a:t>
            </a:r>
          </a:p>
          <a:p>
            <a:pPr marL="1200150" lvl="2" indent="-285750">
              <a:buFont typeface="Wingdings" pitchFamily="2" charset="2"/>
              <a:buChar char="ü"/>
            </a:pPr>
            <a:r>
              <a:rPr kumimoji="1" lang="en-US" altLang="zh-TW" dirty="0">
                <a:latin typeface="Comic Sans MS" panose="030F0902030302020204" pitchFamily="66" charset="0"/>
              </a:rPr>
              <a:t>Binary Operations</a:t>
            </a:r>
          </a:p>
          <a:p>
            <a:pPr marL="1200150" lvl="2" indent="-285750">
              <a:buFont typeface="Wingdings" pitchFamily="2" charset="2"/>
              <a:buChar char="ü"/>
            </a:pPr>
            <a:r>
              <a:rPr kumimoji="1" lang="en-US" altLang="zh-TW" dirty="0">
                <a:latin typeface="Comic Sans MS" panose="030F0902030302020204" pitchFamily="66" charset="0"/>
              </a:rPr>
              <a:t>Vector and Aggregate Operations</a:t>
            </a:r>
          </a:p>
          <a:p>
            <a:pPr marL="1200150" lvl="2" indent="-285750">
              <a:buFont typeface="Wingdings" pitchFamily="2" charset="2"/>
              <a:buChar char="ü"/>
            </a:pPr>
            <a:r>
              <a:rPr kumimoji="1" lang="en-US" altLang="zh-TW" dirty="0">
                <a:latin typeface="Comic Sans MS" panose="030F0902030302020204" pitchFamily="66" charset="0"/>
              </a:rPr>
              <a:t>Memory Access and Addressing Operations</a:t>
            </a:r>
          </a:p>
          <a:p>
            <a:pPr marL="1200150" lvl="2" indent="-285750">
              <a:buFont typeface="Wingdings" pitchFamily="2" charset="2"/>
              <a:buChar char="ü"/>
            </a:pPr>
            <a:r>
              <a:rPr kumimoji="1" lang="en-US" altLang="zh-TW" dirty="0">
                <a:latin typeface="Comic Sans MS" panose="030F0902030302020204" pitchFamily="66" charset="0"/>
              </a:rPr>
              <a:t>Other Operations</a:t>
            </a:r>
            <a:endParaRPr kumimoji="1" lang="zh-TW" altLang="en-US" dirty="0">
              <a:latin typeface="Comic Sans MS" panose="030F0902030302020204" pitchFamily="66" charset="0"/>
            </a:endParaRPr>
          </a:p>
          <a:p>
            <a:pPr marL="285750" indent="-285750" algn="just">
              <a:buFont typeface="Wingdings" pitchFamily="2" charset="2"/>
              <a:buChar char="ü"/>
            </a:pPr>
            <a:endParaRPr kumimoji="1" lang="zh-TW" altLang="en-US" sz="1800" dirty="0">
              <a:solidFill>
                <a:srgbClr val="00B0F0"/>
              </a:solidFill>
              <a:latin typeface="Comic Sans MS" panose="030F0902030302020204" pitchFamily="66" charset="0"/>
              <a:ea typeface="+mn-ea"/>
              <a:cs typeface="+mn-cs"/>
            </a:endParaRPr>
          </a:p>
        </p:txBody>
      </p:sp>
      <p:pic>
        <p:nvPicPr>
          <p:cNvPr id="4" name="Picture 3">
            <a:extLst>
              <a:ext uri="{FF2B5EF4-FFF2-40B4-BE49-F238E27FC236}">
                <a16:creationId xmlns:a16="http://schemas.microsoft.com/office/drawing/2014/main" id="{5198FDCD-F91C-F94D-845F-BB0D5722540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73924" y="2514600"/>
            <a:ext cx="5179371" cy="2040003"/>
          </a:xfrm>
          <a:prstGeom prst="rect">
            <a:avLst/>
          </a:prstGeom>
        </p:spPr>
      </p:pic>
    </p:spTree>
    <p:extLst>
      <p:ext uri="{BB962C8B-B14F-4D97-AF65-F5344CB8AC3E}">
        <p14:creationId xmlns:p14="http://schemas.microsoft.com/office/powerpoint/2010/main" val="3337809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E2F706-6C9D-4A3B-823A-B73ECA4D55F3}"/>
              </a:ext>
            </a:extLst>
          </p:cNvPr>
          <p:cNvPicPr>
            <a:picLocks noChangeAspect="1"/>
          </p:cNvPicPr>
          <p:nvPr/>
        </p:nvPicPr>
        <p:blipFill>
          <a:blip r:embed="rId3"/>
          <a:stretch>
            <a:fillRect/>
          </a:stretch>
        </p:blipFill>
        <p:spPr>
          <a:xfrm>
            <a:off x="133879" y="1096177"/>
            <a:ext cx="6484110" cy="3464917"/>
          </a:xfrm>
          <a:prstGeom prst="rect">
            <a:avLst/>
          </a:prstGeom>
        </p:spPr>
      </p:pic>
      <p:sp>
        <p:nvSpPr>
          <p:cNvPr id="4" name="TextBox 3">
            <a:extLst>
              <a:ext uri="{FF2B5EF4-FFF2-40B4-BE49-F238E27FC236}">
                <a16:creationId xmlns:a16="http://schemas.microsoft.com/office/drawing/2014/main" id="{CB00A152-D80C-4D38-824D-6C58347C53AF}"/>
              </a:ext>
            </a:extLst>
          </p:cNvPr>
          <p:cNvSpPr txBox="1"/>
          <p:nvPr/>
        </p:nvSpPr>
        <p:spPr>
          <a:xfrm>
            <a:off x="-40240" y="281505"/>
            <a:ext cx="8955640" cy="590931"/>
          </a:xfrm>
          <a:prstGeom prst="rect">
            <a:avLst/>
          </a:prstGeom>
          <a:noFill/>
        </p:spPr>
        <p:txBody>
          <a:bodyPr wrap="square" rtlCol="0">
            <a:spAutoFit/>
          </a:bodyPr>
          <a:lstStyle/>
          <a:p>
            <a:pPr>
              <a:lnSpc>
                <a:spcPct val="90000"/>
              </a:lnSpc>
              <a:spcBef>
                <a:spcPct val="0"/>
              </a:spcBef>
            </a:pPr>
            <a:r>
              <a:rPr lang="en-US" sz="3600" b="1" dirty="0">
                <a:latin typeface="Comic Sans MS"/>
                <a:ea typeface="+mj-ea"/>
                <a:cs typeface="+mj-cs"/>
              </a:rPr>
              <a:t>TSIR Language Design</a:t>
            </a:r>
            <a:endParaRPr lang="en-IN" sz="3600" b="1" dirty="0">
              <a:latin typeface="Comic Sans MS"/>
              <a:ea typeface="+mj-ea"/>
              <a:cs typeface="+mj-cs"/>
            </a:endParaRPr>
          </a:p>
        </p:txBody>
      </p:sp>
      <p:sp>
        <p:nvSpPr>
          <p:cNvPr id="5" name="TextBox 4">
            <a:extLst>
              <a:ext uri="{FF2B5EF4-FFF2-40B4-BE49-F238E27FC236}">
                <a16:creationId xmlns:a16="http://schemas.microsoft.com/office/drawing/2014/main" id="{3B26034E-1070-4559-BF81-82829948D93C}"/>
              </a:ext>
            </a:extLst>
          </p:cNvPr>
          <p:cNvSpPr txBox="1"/>
          <p:nvPr/>
        </p:nvSpPr>
        <p:spPr>
          <a:xfrm>
            <a:off x="6477000" y="1203823"/>
            <a:ext cx="5714999" cy="2308324"/>
          </a:xfrm>
          <a:prstGeom prst="rect">
            <a:avLst/>
          </a:prstGeom>
          <a:noFill/>
        </p:spPr>
        <p:txBody>
          <a:bodyPr wrap="square" rtlCol="0">
            <a:spAutoFit/>
          </a:bodyPr>
          <a:lstStyle/>
          <a:p>
            <a:pPr marL="285750" indent="-285750">
              <a:buFont typeface="Wingdings" pitchFamily="2" charset="2"/>
              <a:buChar char="ü"/>
            </a:pPr>
            <a:r>
              <a:rPr lang="en-US" sz="1800" b="0" i="0" dirty="0">
                <a:solidFill>
                  <a:srgbClr val="000000"/>
                </a:solidFill>
                <a:effectLst/>
                <a:latin typeface="Comic Sans MS" panose="030F0902030302020204" pitchFamily="66" charset="0"/>
              </a:rPr>
              <a:t>The TAG-prefix for taint tag propagation and manipulation</a:t>
            </a:r>
          </a:p>
          <a:p>
            <a:pPr marL="285750" indent="-285750">
              <a:buFont typeface="Wingdings" pitchFamily="2" charset="2"/>
              <a:buChar char="ü"/>
            </a:pPr>
            <a:r>
              <a:rPr lang="en-US" sz="1800" b="0" i="0" dirty="0">
                <a:solidFill>
                  <a:srgbClr val="000000"/>
                </a:solidFill>
                <a:effectLst/>
                <a:latin typeface="Comic Sans MS" panose="030F0902030302020204" pitchFamily="66" charset="0"/>
              </a:rPr>
              <a:t>PTR-prefix for the manipulation of pointers. </a:t>
            </a:r>
            <a:endParaRPr lang="en-US" dirty="0">
              <a:solidFill>
                <a:srgbClr val="000000"/>
              </a:solidFill>
              <a:latin typeface="Comic Sans MS" panose="030F0902030302020204" pitchFamily="66" charset="0"/>
            </a:endParaRPr>
          </a:p>
          <a:p>
            <a:pPr marL="285750" indent="-285750">
              <a:buFont typeface="Wingdings" pitchFamily="2" charset="2"/>
              <a:buChar char="ü"/>
            </a:pPr>
            <a:r>
              <a:rPr lang="en-US" sz="1800" b="0" i="0" dirty="0">
                <a:solidFill>
                  <a:srgbClr val="000000"/>
                </a:solidFill>
                <a:effectLst/>
                <a:latin typeface="Comic Sans MS" panose="030F0902030302020204" pitchFamily="66" charset="0"/>
              </a:rPr>
              <a:t>COND-suffix: conditional propagation</a:t>
            </a:r>
          </a:p>
          <a:p>
            <a:pPr marL="285750" indent="-285750">
              <a:buFont typeface="Wingdings" pitchFamily="2" charset="2"/>
              <a:buChar char="ü"/>
            </a:pPr>
            <a:r>
              <a:rPr lang="en-US" sz="1800" b="0" i="0" dirty="0">
                <a:solidFill>
                  <a:srgbClr val="000000"/>
                </a:solidFill>
                <a:effectLst/>
                <a:latin typeface="Comic Sans MS" panose="030F0902030302020204" pitchFamily="66" charset="0"/>
              </a:rPr>
              <a:t>PHI-suffix</a:t>
            </a:r>
            <a:r>
              <a:rPr lang="en-US" dirty="0">
                <a:solidFill>
                  <a:srgbClr val="000000"/>
                </a:solidFill>
                <a:latin typeface="Comic Sans MS" panose="030F0902030302020204" pitchFamily="66" charset="0"/>
              </a:rPr>
              <a:t>: </a:t>
            </a:r>
            <a:r>
              <a:rPr lang="en-US" sz="1800" b="0" i="0" dirty="0">
                <a:solidFill>
                  <a:srgbClr val="000000"/>
                </a:solidFill>
                <a:effectLst/>
                <a:latin typeface="Comic Sans MS" panose="030F0902030302020204" pitchFamily="66" charset="0"/>
              </a:rPr>
              <a:t>control-flow based propagation</a:t>
            </a:r>
            <a:r>
              <a:rPr lang="en-US" dirty="0">
                <a:latin typeface="Comic Sans MS" panose="030F0902030302020204" pitchFamily="66" charset="0"/>
              </a:rPr>
              <a:t> </a:t>
            </a:r>
          </a:p>
          <a:p>
            <a:pPr marL="285750" indent="-285750">
              <a:buFont typeface="Wingdings" pitchFamily="2" charset="2"/>
              <a:buChar char="ü"/>
            </a:pPr>
            <a:r>
              <a:rPr lang="en-US" sz="1800" b="0" i="1" dirty="0">
                <a:solidFill>
                  <a:srgbClr val="000000"/>
                </a:solidFill>
                <a:effectLst/>
                <a:latin typeface="Comic Sans MS" panose="030F0902030302020204" pitchFamily="66" charset="0"/>
              </a:rPr>
              <a:t>T </a:t>
            </a:r>
            <a:r>
              <a:rPr lang="en-US" sz="1800" b="0" i="0" dirty="0">
                <a:solidFill>
                  <a:srgbClr val="000000"/>
                </a:solidFill>
                <a:effectLst/>
                <a:latin typeface="Comic Sans MS" panose="030F0902030302020204" pitchFamily="66" charset="0"/>
              </a:rPr>
              <a:t>(%1) to denote %1 as a </a:t>
            </a:r>
            <a:r>
              <a:rPr lang="en-US" sz="1800" b="0" i="0" dirty="0" err="1">
                <a:solidFill>
                  <a:srgbClr val="000000"/>
                </a:solidFill>
                <a:effectLst/>
                <a:latin typeface="Comic Sans MS" panose="030F0902030302020204" pitchFamily="66" charset="0"/>
              </a:rPr>
              <a:t>taglist</a:t>
            </a:r>
            <a:r>
              <a:rPr lang="en-US" sz="1800" b="0" i="0" dirty="0">
                <a:solidFill>
                  <a:srgbClr val="000000"/>
                </a:solidFill>
                <a:effectLst/>
                <a:latin typeface="Comic Sans MS" panose="030F0902030302020204" pitchFamily="66" charset="0"/>
              </a:rPr>
              <a:t> </a:t>
            </a:r>
          </a:p>
          <a:p>
            <a:pPr marL="285750" indent="-285750">
              <a:buFont typeface="Wingdings" pitchFamily="2" charset="2"/>
              <a:buChar char="ü"/>
            </a:pPr>
            <a:r>
              <a:rPr lang="en-US" sz="1800" b="0" i="1" dirty="0">
                <a:solidFill>
                  <a:srgbClr val="000000"/>
                </a:solidFill>
                <a:effectLst/>
                <a:latin typeface="Comic Sans MS" panose="030F0902030302020204" pitchFamily="66" charset="0"/>
              </a:rPr>
              <a:t>P </a:t>
            </a:r>
            <a:r>
              <a:rPr lang="en-US" sz="1800" b="0" i="0" dirty="0">
                <a:solidFill>
                  <a:srgbClr val="000000"/>
                </a:solidFill>
                <a:effectLst/>
                <a:latin typeface="Comic Sans MS" panose="030F0902030302020204" pitchFamily="66" charset="0"/>
              </a:rPr>
              <a:t>(%2) to denote %2 as a pointer</a:t>
            </a:r>
            <a:r>
              <a:rPr lang="en-US" dirty="0">
                <a:latin typeface="Comic Sans MS" panose="030F0902030302020204" pitchFamily="66" charset="0"/>
              </a:rPr>
              <a:t> </a:t>
            </a:r>
            <a:r>
              <a:rPr lang="en-IN" dirty="0">
                <a:latin typeface="Comic Sans MS" panose="030F0902030302020204" pitchFamily="66" charset="0"/>
              </a:rPr>
              <a:t> </a:t>
            </a:r>
            <a:br>
              <a:rPr lang="en-US" dirty="0">
                <a:latin typeface="Comic Sans MS" panose="030F0902030302020204" pitchFamily="66" charset="0"/>
              </a:rPr>
            </a:br>
            <a:endParaRPr lang="en-IN" dirty="0">
              <a:latin typeface="Comic Sans MS" panose="030F0902030302020204" pitchFamily="66" charset="0"/>
            </a:endParaRPr>
          </a:p>
        </p:txBody>
      </p:sp>
      <p:sp>
        <p:nvSpPr>
          <p:cNvPr id="7" name="TextBox 6">
            <a:extLst>
              <a:ext uri="{FF2B5EF4-FFF2-40B4-BE49-F238E27FC236}">
                <a16:creationId xmlns:a16="http://schemas.microsoft.com/office/drawing/2014/main" id="{6226ACA9-6DA3-40AB-B88B-E49FCBEED2C3}"/>
              </a:ext>
            </a:extLst>
          </p:cNvPr>
          <p:cNvSpPr txBox="1"/>
          <p:nvPr/>
        </p:nvSpPr>
        <p:spPr>
          <a:xfrm>
            <a:off x="0" y="4957733"/>
            <a:ext cx="6975282" cy="1477328"/>
          </a:xfrm>
          <a:prstGeom prst="rect">
            <a:avLst/>
          </a:prstGeom>
          <a:noFill/>
        </p:spPr>
        <p:txBody>
          <a:bodyPr wrap="square">
            <a:spAutoFit/>
          </a:bodyPr>
          <a:lstStyle/>
          <a:p>
            <a:pPr marL="285750" indent="-285750">
              <a:buFont typeface="Wingdings" pitchFamily="2" charset="2"/>
              <a:buChar char="ü"/>
            </a:pPr>
            <a:r>
              <a:rPr lang="en-IN" dirty="0">
                <a:solidFill>
                  <a:srgbClr val="000000"/>
                </a:solidFill>
                <a:latin typeface="Comic Sans MS" panose="030F0902030302020204" pitchFamily="66" charset="0"/>
              </a:rPr>
              <a:t>L</a:t>
            </a:r>
            <a:r>
              <a:rPr lang="en-IN" sz="1800" b="0" i="0" dirty="0">
                <a:solidFill>
                  <a:srgbClr val="000000"/>
                </a:solidFill>
                <a:effectLst/>
                <a:latin typeface="Comic Sans MS" panose="030F0902030302020204" pitchFamily="66" charset="0"/>
              </a:rPr>
              <a:t>ocal identifier (%n), </a:t>
            </a:r>
            <a:r>
              <a:rPr lang="en-IN" dirty="0">
                <a:solidFill>
                  <a:srgbClr val="000000"/>
                </a:solidFill>
                <a:latin typeface="Comic Sans MS" panose="030F0902030302020204" pitchFamily="66" charset="0"/>
              </a:rPr>
              <a:t>G</a:t>
            </a:r>
            <a:r>
              <a:rPr lang="en-IN" sz="1800" b="0" i="0" dirty="0">
                <a:solidFill>
                  <a:srgbClr val="000000"/>
                </a:solidFill>
                <a:effectLst/>
                <a:latin typeface="Comic Sans MS" panose="030F0902030302020204" pitchFamily="66" charset="0"/>
              </a:rPr>
              <a:t>lobal identifier (@name), </a:t>
            </a:r>
            <a:r>
              <a:rPr lang="en-IN" dirty="0">
                <a:solidFill>
                  <a:srgbClr val="000000"/>
                </a:solidFill>
                <a:latin typeface="Comic Sans MS" panose="030F0902030302020204" pitchFamily="66" charset="0"/>
              </a:rPr>
              <a:t>R</a:t>
            </a:r>
            <a:r>
              <a:rPr lang="en-IN" sz="1800" b="0" i="0" dirty="0">
                <a:solidFill>
                  <a:srgbClr val="000000"/>
                </a:solidFill>
                <a:effectLst/>
                <a:latin typeface="Comic Sans MS" panose="030F0902030302020204" pitchFamily="66" charset="0"/>
              </a:rPr>
              <a:t>untime identifier ($n).</a:t>
            </a:r>
            <a:r>
              <a:rPr lang="en-IN" dirty="0">
                <a:latin typeface="Comic Sans MS" panose="030F0902030302020204" pitchFamily="66" charset="0"/>
              </a:rPr>
              <a:t> </a:t>
            </a:r>
          </a:p>
          <a:p>
            <a:pPr marL="285750" indent="-285750">
              <a:buFont typeface="Wingdings" pitchFamily="2" charset="2"/>
              <a:buChar char="ü"/>
            </a:pPr>
            <a:r>
              <a:rPr lang="en-IN" sz="1800" b="0" i="1" dirty="0">
                <a:solidFill>
                  <a:srgbClr val="000000"/>
                </a:solidFill>
                <a:effectLst/>
                <a:latin typeface="Comic Sans MS" panose="030F0902030302020204" pitchFamily="66" charset="0"/>
              </a:rPr>
              <a:t>register region </a:t>
            </a:r>
            <a:r>
              <a:rPr lang="en-IN" sz="1800" b="0" i="0" dirty="0">
                <a:solidFill>
                  <a:srgbClr val="000000"/>
                </a:solidFill>
                <a:effectLst/>
                <a:latin typeface="Comic Sans MS" panose="030F0902030302020204" pitchFamily="66" charset="0"/>
              </a:rPr>
              <a:t>syntax (%n, </a:t>
            </a:r>
            <a:r>
              <a:rPr lang="en-IN" sz="1800" b="0" i="0" dirty="0" err="1">
                <a:solidFill>
                  <a:srgbClr val="000000"/>
                </a:solidFill>
                <a:effectLst/>
                <a:latin typeface="Comic Sans MS" panose="030F0902030302020204" pitchFamily="66" charset="0"/>
              </a:rPr>
              <a:t>i</a:t>
            </a:r>
            <a:r>
              <a:rPr lang="en-IN" sz="1800" b="0" i="0" dirty="0">
                <a:solidFill>
                  <a:srgbClr val="000000"/>
                </a:solidFill>
                <a:effectLst/>
                <a:latin typeface="Comic Sans MS" panose="030F0902030302020204" pitchFamily="66" charset="0"/>
              </a:rPr>
              <a:t>)</a:t>
            </a:r>
          </a:p>
          <a:p>
            <a:pPr marL="285750" indent="-285750">
              <a:buFont typeface="Wingdings" pitchFamily="2" charset="2"/>
              <a:buChar char="ü"/>
            </a:pPr>
            <a:r>
              <a:rPr lang="en-US" sz="1800" b="0" i="0" dirty="0">
                <a:solidFill>
                  <a:srgbClr val="000000"/>
                </a:solidFill>
                <a:effectLst/>
                <a:latin typeface="Comic Sans MS" panose="030F0902030302020204" pitchFamily="66" charset="0"/>
              </a:rPr>
              <a:t>(*%p, </a:t>
            </a:r>
            <a:r>
              <a:rPr lang="en-US" sz="1800" b="0" i="0" dirty="0" err="1">
                <a:solidFill>
                  <a:srgbClr val="000000"/>
                </a:solidFill>
                <a:effectLst/>
                <a:latin typeface="Comic Sans MS" panose="030F0902030302020204" pitchFamily="66" charset="0"/>
              </a:rPr>
              <a:t>len</a:t>
            </a:r>
            <a:r>
              <a:rPr lang="en-US" sz="1800" b="0" i="0" dirty="0">
                <a:solidFill>
                  <a:srgbClr val="000000"/>
                </a:solidFill>
                <a:effectLst/>
                <a:latin typeface="Comic Sans MS" panose="030F0902030302020204" pitchFamily="66" charset="0"/>
              </a:rPr>
              <a:t>, off) to denote the </a:t>
            </a:r>
            <a:r>
              <a:rPr lang="en-US" sz="1800" b="0" i="0" dirty="0" err="1">
                <a:solidFill>
                  <a:srgbClr val="000000"/>
                </a:solidFill>
                <a:effectLst/>
                <a:latin typeface="Comic Sans MS" panose="030F0902030302020204" pitchFamily="66" charset="0"/>
              </a:rPr>
              <a:t>len</a:t>
            </a:r>
            <a:r>
              <a:rPr lang="en-US" sz="1800" b="0" i="0" dirty="0">
                <a:solidFill>
                  <a:srgbClr val="000000"/>
                </a:solidFill>
                <a:effectLst/>
                <a:latin typeface="Comic Sans MS" panose="030F0902030302020204" pitchFamily="66" charset="0"/>
              </a:rPr>
              <a:t> bytes sized region</a:t>
            </a:r>
            <a:br>
              <a:rPr lang="en-US" sz="1800" b="0" i="0" dirty="0">
                <a:solidFill>
                  <a:srgbClr val="000000"/>
                </a:solidFill>
                <a:effectLst/>
                <a:latin typeface="Comic Sans MS" panose="030F0902030302020204" pitchFamily="66" charset="0"/>
              </a:rPr>
            </a:br>
            <a:r>
              <a:rPr lang="en-US" sz="1800" b="0" i="0" dirty="0">
                <a:solidFill>
                  <a:srgbClr val="000000"/>
                </a:solidFill>
                <a:effectLst/>
                <a:latin typeface="Comic Sans MS" panose="030F0902030302020204" pitchFamily="66" charset="0"/>
              </a:rPr>
              <a:t>starting at offset off in the memory block pointed by *%p.</a:t>
            </a:r>
          </a:p>
        </p:txBody>
      </p:sp>
      <p:graphicFrame>
        <p:nvGraphicFramePr>
          <p:cNvPr id="8" name="Table 2">
            <a:extLst>
              <a:ext uri="{FF2B5EF4-FFF2-40B4-BE49-F238E27FC236}">
                <a16:creationId xmlns:a16="http://schemas.microsoft.com/office/drawing/2014/main" id="{969BBF40-9746-492A-807F-6B8C1C23B2A7}"/>
              </a:ext>
            </a:extLst>
          </p:cNvPr>
          <p:cNvGraphicFramePr>
            <a:graphicFrameLocks noGrp="1"/>
          </p:cNvGraphicFramePr>
          <p:nvPr>
            <p:extLst>
              <p:ext uri="{D42A27DB-BD31-4B8C-83A1-F6EECF244321}">
                <p14:modId xmlns:p14="http://schemas.microsoft.com/office/powerpoint/2010/main" val="1888727810"/>
              </p:ext>
            </p:extLst>
          </p:nvPr>
        </p:nvGraphicFramePr>
        <p:xfrm>
          <a:off x="6959379" y="4149060"/>
          <a:ext cx="4848597" cy="2286000"/>
        </p:xfrm>
        <a:graphic>
          <a:graphicData uri="http://schemas.openxmlformats.org/drawingml/2006/table">
            <a:tbl>
              <a:tblPr firstRow="1" bandRow="1">
                <a:tableStyleId>{5C22544A-7EE6-4342-B048-85BDC9FD1C3A}</a:tableStyleId>
              </a:tblPr>
              <a:tblGrid>
                <a:gridCol w="2559884">
                  <a:extLst>
                    <a:ext uri="{9D8B030D-6E8A-4147-A177-3AD203B41FA5}">
                      <a16:colId xmlns:a16="http://schemas.microsoft.com/office/drawing/2014/main" val="4291667962"/>
                    </a:ext>
                  </a:extLst>
                </a:gridCol>
                <a:gridCol w="2288713">
                  <a:extLst>
                    <a:ext uri="{9D8B030D-6E8A-4147-A177-3AD203B41FA5}">
                      <a16:colId xmlns:a16="http://schemas.microsoft.com/office/drawing/2014/main" val="2398572815"/>
                    </a:ext>
                  </a:extLst>
                </a:gridCol>
              </a:tblGrid>
              <a:tr h="299835">
                <a:tc>
                  <a:txBody>
                    <a:bodyPr/>
                    <a:lstStyle/>
                    <a:p>
                      <a:r>
                        <a:rPr lang="en-US" dirty="0"/>
                        <a:t>LLVM IR</a:t>
                      </a:r>
                      <a:endParaRPr lang="en-IN" dirty="0"/>
                    </a:p>
                  </a:txBody>
                  <a:tcPr/>
                </a:tc>
                <a:tc>
                  <a:txBody>
                    <a:bodyPr/>
                    <a:lstStyle/>
                    <a:p>
                      <a:r>
                        <a:rPr lang="en-US" dirty="0"/>
                        <a:t>TSIR</a:t>
                      </a:r>
                      <a:endParaRPr lang="en-IN" dirty="0"/>
                    </a:p>
                  </a:txBody>
                  <a:tcPr/>
                </a:tc>
                <a:extLst>
                  <a:ext uri="{0D108BD9-81ED-4DB2-BD59-A6C34878D82A}">
                    <a16:rowId xmlns:a16="http://schemas.microsoft.com/office/drawing/2014/main" val="25696548"/>
                  </a:ext>
                </a:extLst>
              </a:tr>
              <a:tr h="474738">
                <a:tc>
                  <a:txBody>
                    <a:bodyPr/>
                    <a:lstStyle/>
                    <a:p>
                      <a:r>
                        <a:rPr lang="nn-NO" sz="1600" b="0" i="0" dirty="0">
                          <a:solidFill>
                            <a:srgbClr val="000000"/>
                          </a:solidFill>
                          <a:effectLst/>
                          <a:latin typeface="NimbusMonL-Regu"/>
                        </a:rPr>
                        <a:t>%3 = add i32 %1, %2</a:t>
                      </a:r>
                      <a:endParaRPr lang="nn-NO" sz="1600" dirty="0">
                        <a:effectLst/>
                      </a:endParaRPr>
                    </a:p>
                  </a:txBody>
                  <a:tcPr anchor="ctr"/>
                </a:tc>
                <a:tc>
                  <a:txBody>
                    <a:bodyPr/>
                    <a:lstStyle/>
                    <a:p>
                      <a:r>
                        <a:rPr lang="en-IN" sz="1600" b="0" i="0">
                          <a:solidFill>
                            <a:srgbClr val="000000"/>
                          </a:solidFill>
                          <a:effectLst/>
                          <a:latin typeface="NimbusMonL-Regu"/>
                        </a:rPr>
                        <a:t>TAGUNION %3,</a:t>
                      </a:r>
                      <a:br>
                        <a:rPr lang="en-IN" sz="1600" b="0" i="0">
                          <a:solidFill>
                            <a:srgbClr val="000000"/>
                          </a:solidFill>
                          <a:effectLst/>
                          <a:latin typeface="NimbusMonL-Regu"/>
                        </a:rPr>
                      </a:br>
                      <a:r>
                        <a:rPr lang="en-IN" sz="1600" b="0" i="0">
                          <a:solidFill>
                            <a:srgbClr val="000000"/>
                          </a:solidFill>
                          <a:effectLst/>
                          <a:latin typeface="NimbusMonL-Regu"/>
                        </a:rPr>
                        <a:t>%1, %2</a:t>
                      </a:r>
                      <a:endParaRPr lang="en-IN" sz="1600">
                        <a:effectLst/>
                      </a:endParaRPr>
                    </a:p>
                  </a:txBody>
                  <a:tcPr anchor="ctr"/>
                </a:tc>
                <a:extLst>
                  <a:ext uri="{0D108BD9-81ED-4DB2-BD59-A6C34878D82A}">
                    <a16:rowId xmlns:a16="http://schemas.microsoft.com/office/drawing/2014/main" val="2265091330"/>
                  </a:ext>
                </a:extLst>
              </a:tr>
              <a:tr h="274848">
                <a:tc>
                  <a:txBody>
                    <a:bodyPr/>
                    <a:lstStyle/>
                    <a:p>
                      <a:r>
                        <a:rPr lang="nn-NO" sz="1600" b="0" i="0" dirty="0">
                          <a:solidFill>
                            <a:srgbClr val="000000"/>
                          </a:solidFill>
                          <a:effectLst/>
                          <a:latin typeface="NimbusMonL-Regu"/>
                        </a:rPr>
                        <a:t>%2 = add i32 %1, 3 </a:t>
                      </a:r>
                      <a:endParaRPr lang="nn-NO" sz="1600" dirty="0">
                        <a:effectLst/>
                      </a:endParaRPr>
                    </a:p>
                  </a:txBody>
                  <a:tcPr anchor="ctr"/>
                </a:tc>
                <a:tc>
                  <a:txBody>
                    <a:bodyPr/>
                    <a:lstStyle/>
                    <a:p>
                      <a:r>
                        <a:rPr lang="en-IN" sz="1600" b="0" i="0">
                          <a:solidFill>
                            <a:srgbClr val="000000"/>
                          </a:solidFill>
                          <a:effectLst/>
                          <a:latin typeface="NimbusMonL-Regu"/>
                        </a:rPr>
                        <a:t>TAGCOPY %2, %1</a:t>
                      </a:r>
                      <a:endParaRPr lang="en-IN" sz="1600">
                        <a:effectLst/>
                      </a:endParaRPr>
                    </a:p>
                  </a:txBody>
                  <a:tcPr anchor="ctr"/>
                </a:tc>
                <a:extLst>
                  <a:ext uri="{0D108BD9-81ED-4DB2-BD59-A6C34878D82A}">
                    <a16:rowId xmlns:a16="http://schemas.microsoft.com/office/drawing/2014/main" val="1568241947"/>
                  </a:ext>
                </a:extLst>
              </a:tr>
              <a:tr h="274848">
                <a:tc>
                  <a:txBody>
                    <a:bodyPr/>
                    <a:lstStyle/>
                    <a:p>
                      <a:r>
                        <a:rPr lang="nn-NO" sz="1600" b="0" i="0" dirty="0">
                          <a:solidFill>
                            <a:srgbClr val="000000"/>
                          </a:solidFill>
                          <a:effectLst/>
                          <a:latin typeface="NimbusMonL-Regu"/>
                        </a:rPr>
                        <a:t>%1 = add i32 2, 3 </a:t>
                      </a:r>
                      <a:endParaRPr lang="nn-NO" sz="1600" dirty="0">
                        <a:effectLst/>
                      </a:endParaRPr>
                    </a:p>
                  </a:txBody>
                  <a:tcPr anchor="ctr"/>
                </a:tc>
                <a:tc>
                  <a:txBody>
                    <a:bodyPr/>
                    <a:lstStyle/>
                    <a:p>
                      <a:r>
                        <a:rPr lang="en-IN" sz="1600" b="0" i="0" dirty="0">
                          <a:solidFill>
                            <a:srgbClr val="000000"/>
                          </a:solidFill>
                          <a:effectLst/>
                          <a:latin typeface="NimbusMonL-Regu"/>
                        </a:rPr>
                        <a:t>TAGCLEAR %1</a:t>
                      </a:r>
                      <a:endParaRPr lang="en-IN" sz="1600" dirty="0">
                        <a:effectLst/>
                      </a:endParaRPr>
                    </a:p>
                  </a:txBody>
                  <a:tcPr anchor="ctr"/>
                </a:tc>
                <a:extLst>
                  <a:ext uri="{0D108BD9-81ED-4DB2-BD59-A6C34878D82A}">
                    <a16:rowId xmlns:a16="http://schemas.microsoft.com/office/drawing/2014/main" val="2461918580"/>
                  </a:ext>
                </a:extLst>
              </a:tr>
              <a:tr h="274848">
                <a:tc>
                  <a:txBody>
                    <a:bodyPr/>
                    <a:lstStyle/>
                    <a:p>
                      <a:r>
                        <a:rPr lang="nn-NO" sz="1600" b="0" i="0" kern="1200" dirty="0">
                          <a:solidFill>
                            <a:srgbClr val="000000"/>
                          </a:solidFill>
                          <a:effectLst/>
                          <a:latin typeface="NimbusMonL-Regu"/>
                          <a:ea typeface="+mn-ea"/>
                          <a:cs typeface="+mn-cs"/>
                        </a:rPr>
                        <a:t>alloca</a:t>
                      </a:r>
                    </a:p>
                  </a:txBody>
                  <a:tcPr anchor="ctr"/>
                </a:tc>
                <a:tc>
                  <a:txBody>
                    <a:bodyPr/>
                    <a:lstStyle/>
                    <a:p>
                      <a:r>
                        <a:rPr lang="en-IN" sz="1600" b="0" i="0" kern="1200" dirty="0">
                          <a:solidFill>
                            <a:srgbClr val="000000"/>
                          </a:solidFill>
                          <a:effectLst/>
                          <a:latin typeface="NimbusMonL-Regu"/>
                          <a:ea typeface="+mn-ea"/>
                          <a:cs typeface="+mn-cs"/>
                        </a:rPr>
                        <a:t>MEMALLOC_STACK</a:t>
                      </a:r>
                    </a:p>
                  </a:txBody>
                  <a:tcPr anchor="ctr"/>
                </a:tc>
                <a:extLst>
                  <a:ext uri="{0D108BD9-81ED-4DB2-BD59-A6C34878D82A}">
                    <a16:rowId xmlns:a16="http://schemas.microsoft.com/office/drawing/2014/main" val="580968820"/>
                  </a:ext>
                </a:extLst>
              </a:tr>
              <a:tr h="274848">
                <a:tc>
                  <a:txBody>
                    <a:bodyPr/>
                    <a:lstStyle/>
                    <a:p>
                      <a:r>
                        <a:rPr lang="nn-NO" sz="1600" b="0" i="0" kern="1200" dirty="0">
                          <a:solidFill>
                            <a:srgbClr val="000000"/>
                          </a:solidFill>
                          <a:effectLst/>
                          <a:latin typeface="NimbusMonL-Regu"/>
                          <a:ea typeface="+mn-ea"/>
                          <a:cs typeface="+mn-cs"/>
                        </a:rPr>
                        <a:t>malloc/calloc/realloc</a:t>
                      </a:r>
                    </a:p>
                  </a:txBody>
                  <a:tcPr anchor="ctr"/>
                </a:tc>
                <a:tc>
                  <a:txBody>
                    <a:bodyPr/>
                    <a:lstStyle/>
                    <a:p>
                      <a:r>
                        <a:rPr lang="en-IN" sz="1600" b="0" i="0" kern="1200" dirty="0">
                          <a:solidFill>
                            <a:srgbClr val="000000"/>
                          </a:solidFill>
                          <a:effectLst/>
                          <a:latin typeface="NimbusMonL-Regu"/>
                          <a:ea typeface="+mn-ea"/>
                          <a:cs typeface="+mn-cs"/>
                        </a:rPr>
                        <a:t>MEMALLOC_HEAP</a:t>
                      </a:r>
                    </a:p>
                  </a:txBody>
                  <a:tcPr anchor="ctr"/>
                </a:tc>
                <a:extLst>
                  <a:ext uri="{0D108BD9-81ED-4DB2-BD59-A6C34878D82A}">
                    <a16:rowId xmlns:a16="http://schemas.microsoft.com/office/drawing/2014/main" val="999876362"/>
                  </a:ext>
                </a:extLst>
              </a:tr>
            </a:tbl>
          </a:graphicData>
        </a:graphic>
      </p:graphicFrame>
      <p:sp>
        <p:nvSpPr>
          <p:cNvPr id="9" name="Slide Number Placeholder 8">
            <a:extLst>
              <a:ext uri="{FF2B5EF4-FFF2-40B4-BE49-F238E27FC236}">
                <a16:creationId xmlns:a16="http://schemas.microsoft.com/office/drawing/2014/main" id="{2CD9BBB7-1E48-418F-905B-1C6039B6E24D}"/>
              </a:ext>
            </a:extLst>
          </p:cNvPr>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11</a:t>
            </a:fld>
            <a:endParaRPr lang="en-US" dirty="0"/>
          </a:p>
        </p:txBody>
      </p:sp>
      <p:sp>
        <p:nvSpPr>
          <p:cNvPr id="10" name="TextBox 9">
            <a:extLst>
              <a:ext uri="{FF2B5EF4-FFF2-40B4-BE49-F238E27FC236}">
                <a16:creationId xmlns:a16="http://schemas.microsoft.com/office/drawing/2014/main" id="{AE01F40A-0CB4-483F-8C70-DCE13F61F224}"/>
              </a:ext>
            </a:extLst>
          </p:cNvPr>
          <p:cNvSpPr txBox="1"/>
          <p:nvPr/>
        </p:nvSpPr>
        <p:spPr>
          <a:xfrm>
            <a:off x="1752600" y="4589586"/>
            <a:ext cx="4114800" cy="307777"/>
          </a:xfrm>
          <a:prstGeom prst="rect">
            <a:avLst/>
          </a:prstGeom>
          <a:noFill/>
        </p:spPr>
        <p:txBody>
          <a:bodyPr wrap="square" rtlCol="0">
            <a:spAutoFit/>
          </a:bodyPr>
          <a:lstStyle/>
          <a:p>
            <a:r>
              <a:rPr lang="en-US" sz="1400" b="1" dirty="0">
                <a:solidFill>
                  <a:srgbClr val="000000"/>
                </a:solidFill>
                <a:latin typeface="Comic Sans MS" panose="030F0902030302020204" pitchFamily="66" charset="0"/>
              </a:rPr>
              <a:t>Fig.: TSIR Translator extraction  phase </a:t>
            </a:r>
            <a:endParaRPr lang="en-IN" sz="1400" b="1" dirty="0">
              <a:solidFill>
                <a:srgbClr val="000000"/>
              </a:solidFill>
              <a:latin typeface="Comic Sans MS" panose="030F0902030302020204" pitchFamily="66" charset="0"/>
            </a:endParaRPr>
          </a:p>
        </p:txBody>
      </p:sp>
      <p:sp>
        <p:nvSpPr>
          <p:cNvPr id="2" name="TextBox 1">
            <a:extLst>
              <a:ext uri="{FF2B5EF4-FFF2-40B4-BE49-F238E27FC236}">
                <a16:creationId xmlns:a16="http://schemas.microsoft.com/office/drawing/2014/main" id="{AC717566-679E-4CD3-AA7C-025F1F323BAD}"/>
              </a:ext>
            </a:extLst>
          </p:cNvPr>
          <p:cNvSpPr txBox="1"/>
          <p:nvPr/>
        </p:nvSpPr>
        <p:spPr>
          <a:xfrm>
            <a:off x="7772400" y="3795045"/>
            <a:ext cx="3076483" cy="307777"/>
          </a:xfrm>
          <a:prstGeom prst="rect">
            <a:avLst/>
          </a:prstGeom>
          <a:noFill/>
        </p:spPr>
        <p:txBody>
          <a:bodyPr wrap="none" rtlCol="0">
            <a:spAutoFit/>
          </a:bodyPr>
          <a:lstStyle/>
          <a:p>
            <a:r>
              <a:rPr lang="en-US" sz="1400" b="1" dirty="0">
                <a:latin typeface="Comic Sans MS" panose="030F0902030302020204" pitchFamily="66" charset="0"/>
              </a:rPr>
              <a:t>Table: LLVM IR and TSIR m</a:t>
            </a:r>
            <a:r>
              <a:rPr lang="nn-NO" sz="1400" b="1" i="0" dirty="0">
                <a:solidFill>
                  <a:srgbClr val="000000"/>
                </a:solidFill>
                <a:effectLst/>
                <a:latin typeface="Comic Sans MS" panose="030F0902030302020204" pitchFamily="66" charset="0"/>
              </a:rPr>
              <a:t>apping</a:t>
            </a:r>
            <a:endParaRPr lang="en-IN" sz="1400" b="1" dirty="0">
              <a:latin typeface="Comic Sans MS" panose="030F0902030302020204" pitchFamily="66" charset="0"/>
            </a:endParaRPr>
          </a:p>
        </p:txBody>
      </p:sp>
    </p:spTree>
    <p:extLst>
      <p:ext uri="{BB962C8B-B14F-4D97-AF65-F5344CB8AC3E}">
        <p14:creationId xmlns:p14="http://schemas.microsoft.com/office/powerpoint/2010/main" val="3804616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BC9BA2ED-BB4F-4939-B008-66C7C5BB35A1}"/>
              </a:ext>
            </a:extLst>
          </p:cNvPr>
          <p:cNvPicPr>
            <a:picLocks noGrp="1" noChangeAspect="1"/>
          </p:cNvPicPr>
          <p:nvPr>
            <p:ph idx="1"/>
          </p:nvPr>
        </p:nvPicPr>
        <p:blipFill>
          <a:blip r:embed="rId3"/>
          <a:stretch>
            <a:fillRect/>
          </a:stretch>
        </p:blipFill>
        <p:spPr>
          <a:xfrm>
            <a:off x="1004697" y="2670049"/>
            <a:ext cx="6007608" cy="2322576"/>
          </a:xfrm>
        </p:spPr>
      </p:pic>
      <p:sp>
        <p:nvSpPr>
          <p:cNvPr id="5" name="投影片編號版面配置區 4"/>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12</a:t>
            </a:fld>
            <a:endParaRPr kumimoji="1" lang="zh-TW" altLang="en-US"/>
          </a:p>
        </p:txBody>
      </p:sp>
      <p:sp>
        <p:nvSpPr>
          <p:cNvPr id="7" name="Title 6">
            <a:extLst>
              <a:ext uri="{FF2B5EF4-FFF2-40B4-BE49-F238E27FC236}">
                <a16:creationId xmlns:a16="http://schemas.microsoft.com/office/drawing/2014/main" id="{A4D95B42-CAC2-49A5-8895-C0376E48108F}"/>
              </a:ext>
            </a:extLst>
          </p:cNvPr>
          <p:cNvSpPr>
            <a:spLocks noGrp="1"/>
          </p:cNvSpPr>
          <p:nvPr>
            <p:ph type="title"/>
          </p:nvPr>
        </p:nvSpPr>
        <p:spPr>
          <a:xfrm>
            <a:off x="76200" y="228600"/>
            <a:ext cx="10246339" cy="553998"/>
          </a:xfrm>
        </p:spPr>
        <p:txBody>
          <a:bodyPr/>
          <a:lstStyle/>
          <a:p>
            <a:r>
              <a:rPr lang="en-US" sz="3600" dirty="0"/>
              <a:t>C -&gt; LLVM IR -&gt; TSIR</a:t>
            </a:r>
            <a:endParaRPr lang="en-IN" sz="3600" dirty="0"/>
          </a:p>
        </p:txBody>
      </p:sp>
      <p:pic>
        <p:nvPicPr>
          <p:cNvPr id="11" name="Picture 10">
            <a:extLst>
              <a:ext uri="{FF2B5EF4-FFF2-40B4-BE49-F238E27FC236}">
                <a16:creationId xmlns:a16="http://schemas.microsoft.com/office/drawing/2014/main" id="{BFF5184C-0BD2-4FB6-9A85-1052679A3F25}"/>
              </a:ext>
            </a:extLst>
          </p:cNvPr>
          <p:cNvPicPr>
            <a:picLocks noChangeAspect="1"/>
          </p:cNvPicPr>
          <p:nvPr/>
        </p:nvPicPr>
        <p:blipFill>
          <a:blip r:embed="rId4"/>
          <a:stretch>
            <a:fillRect/>
          </a:stretch>
        </p:blipFill>
        <p:spPr>
          <a:xfrm>
            <a:off x="7251192" y="2385740"/>
            <a:ext cx="4112539" cy="3887043"/>
          </a:xfrm>
          <a:prstGeom prst="rect">
            <a:avLst/>
          </a:prstGeom>
        </p:spPr>
      </p:pic>
      <p:sp>
        <p:nvSpPr>
          <p:cNvPr id="13" name="TextBox 12">
            <a:extLst>
              <a:ext uri="{FF2B5EF4-FFF2-40B4-BE49-F238E27FC236}">
                <a16:creationId xmlns:a16="http://schemas.microsoft.com/office/drawing/2014/main" id="{7F11E004-B56D-4CAA-9FEE-453BFE69CB33}"/>
              </a:ext>
            </a:extLst>
          </p:cNvPr>
          <p:cNvSpPr txBox="1"/>
          <p:nvPr/>
        </p:nvSpPr>
        <p:spPr>
          <a:xfrm>
            <a:off x="1004697" y="5579746"/>
            <a:ext cx="4239292" cy="307777"/>
          </a:xfrm>
          <a:prstGeom prst="rect">
            <a:avLst/>
          </a:prstGeom>
          <a:noFill/>
        </p:spPr>
        <p:txBody>
          <a:bodyPr wrap="square">
            <a:spAutoFit/>
          </a:bodyPr>
          <a:lstStyle/>
          <a:p>
            <a:r>
              <a:rPr kumimoji="1" lang="en-US" altLang="zh-TW" sz="1400" b="1" dirty="0">
                <a:latin typeface="Comic Sans MS" panose="030F0902030302020204" pitchFamily="66" charset="0"/>
              </a:rPr>
              <a:t>Highlighted - Potential Vectorizable Operations</a:t>
            </a:r>
            <a:endParaRPr kumimoji="1" lang="zh-TW" altLang="en-US" sz="1400" b="1" dirty="0">
              <a:latin typeface="Comic Sans MS" panose="030F0902030302020204" pitchFamily="66" charset="0"/>
            </a:endParaRPr>
          </a:p>
        </p:txBody>
      </p:sp>
      <p:cxnSp>
        <p:nvCxnSpPr>
          <p:cNvPr id="15" name="Connector: Elbow 14">
            <a:extLst>
              <a:ext uri="{FF2B5EF4-FFF2-40B4-BE49-F238E27FC236}">
                <a16:creationId xmlns:a16="http://schemas.microsoft.com/office/drawing/2014/main" id="{CB16729B-E6B5-40A0-A380-C3A05B9EF859}"/>
              </a:ext>
            </a:extLst>
          </p:cNvPr>
          <p:cNvCxnSpPr>
            <a:cxnSpLocks/>
          </p:cNvCxnSpPr>
          <p:nvPr/>
        </p:nvCxnSpPr>
        <p:spPr>
          <a:xfrm>
            <a:off x="2468880" y="3502152"/>
            <a:ext cx="841248" cy="78638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2839C234-66B4-4831-9284-3B2958736AFB}"/>
              </a:ext>
            </a:extLst>
          </p:cNvPr>
          <p:cNvCxnSpPr>
            <a:cxnSpLocks/>
          </p:cNvCxnSpPr>
          <p:nvPr/>
        </p:nvCxnSpPr>
        <p:spPr>
          <a:xfrm>
            <a:off x="6340793" y="4511824"/>
            <a:ext cx="1065847" cy="9920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13F462D4-EA5C-44B6-9FA8-8A524578E7D0}"/>
              </a:ext>
            </a:extLst>
          </p:cNvPr>
          <p:cNvSpPr txBox="1"/>
          <p:nvPr/>
        </p:nvSpPr>
        <p:spPr>
          <a:xfrm>
            <a:off x="2093976" y="3895344"/>
            <a:ext cx="1289303" cy="307777"/>
          </a:xfrm>
          <a:prstGeom prst="rect">
            <a:avLst/>
          </a:prstGeom>
          <a:noFill/>
        </p:spPr>
        <p:txBody>
          <a:bodyPr wrap="square" rtlCol="0">
            <a:spAutoFit/>
          </a:bodyPr>
          <a:lstStyle/>
          <a:p>
            <a:r>
              <a:rPr lang="en-US" sz="1400" dirty="0">
                <a:solidFill>
                  <a:srgbClr val="00B050"/>
                </a:solidFill>
              </a:rPr>
              <a:t>c-</a:t>
            </a:r>
            <a:r>
              <a:rPr lang="en-US" sz="1400" dirty="0" err="1">
                <a:solidFill>
                  <a:srgbClr val="00B050"/>
                </a:solidFill>
              </a:rPr>
              <a:t>llvm</a:t>
            </a:r>
            <a:r>
              <a:rPr lang="en-US" sz="1400" dirty="0">
                <a:solidFill>
                  <a:srgbClr val="00B050"/>
                </a:solidFill>
              </a:rPr>
              <a:t> IR</a:t>
            </a:r>
            <a:endParaRPr lang="en-IN" sz="1400" dirty="0">
              <a:solidFill>
                <a:srgbClr val="00B050"/>
              </a:solidFill>
            </a:endParaRPr>
          </a:p>
        </p:txBody>
      </p:sp>
      <p:sp>
        <p:nvSpPr>
          <p:cNvPr id="32" name="TextBox 31">
            <a:extLst>
              <a:ext uri="{FF2B5EF4-FFF2-40B4-BE49-F238E27FC236}">
                <a16:creationId xmlns:a16="http://schemas.microsoft.com/office/drawing/2014/main" id="{CCD68792-C564-4D4A-B1FC-6E1FB07C9626}"/>
              </a:ext>
            </a:extLst>
          </p:cNvPr>
          <p:cNvSpPr txBox="1"/>
          <p:nvPr/>
        </p:nvSpPr>
        <p:spPr>
          <a:xfrm>
            <a:off x="5715000" y="4940458"/>
            <a:ext cx="1335023" cy="307777"/>
          </a:xfrm>
          <a:prstGeom prst="rect">
            <a:avLst/>
          </a:prstGeom>
          <a:noFill/>
        </p:spPr>
        <p:txBody>
          <a:bodyPr wrap="square" rtlCol="0">
            <a:spAutoFit/>
          </a:bodyPr>
          <a:lstStyle/>
          <a:p>
            <a:r>
              <a:rPr lang="en-US" sz="1400" dirty="0" err="1">
                <a:solidFill>
                  <a:srgbClr val="00B050"/>
                </a:solidFill>
              </a:rPr>
              <a:t>llvm</a:t>
            </a:r>
            <a:r>
              <a:rPr lang="en-US" sz="1400" dirty="0">
                <a:solidFill>
                  <a:srgbClr val="00B050"/>
                </a:solidFill>
              </a:rPr>
              <a:t> IR-TSIR</a:t>
            </a:r>
            <a:endParaRPr lang="en-IN" sz="1400" dirty="0">
              <a:solidFill>
                <a:srgbClr val="00B050"/>
              </a:solidFill>
            </a:endParaRPr>
          </a:p>
        </p:txBody>
      </p:sp>
    </p:spTree>
    <p:extLst>
      <p:ext uri="{BB962C8B-B14F-4D97-AF65-F5344CB8AC3E}">
        <p14:creationId xmlns:p14="http://schemas.microsoft.com/office/powerpoint/2010/main" val="1918925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8392" y="212834"/>
            <a:ext cx="11570208" cy="801547"/>
          </a:xfrm>
        </p:spPr>
        <p:txBody>
          <a:bodyPr>
            <a:normAutofit/>
          </a:bodyPr>
          <a:lstStyle/>
          <a:p>
            <a:r>
              <a:rPr kumimoji="1" lang="en-US" altLang="zh-TW" sz="3600" dirty="0"/>
              <a:t>Extraction </a:t>
            </a:r>
            <a:r>
              <a:rPr kumimoji="1" lang="mr-IN" altLang="zh-TW" sz="3600" dirty="0"/>
              <a:t>–</a:t>
            </a:r>
            <a:r>
              <a:rPr kumimoji="1" lang="en-US" altLang="zh-TW" sz="3600" dirty="0"/>
              <a:t> Vector and Aggregate Operations</a:t>
            </a:r>
            <a:endParaRPr kumimoji="1" lang="zh-TW" altLang="en-US" sz="3600" dirty="0"/>
          </a:p>
        </p:txBody>
      </p:sp>
      <p:sp>
        <p:nvSpPr>
          <p:cNvPr id="3" name="內容版面配置區 2"/>
          <p:cNvSpPr>
            <a:spLocks noGrp="1"/>
          </p:cNvSpPr>
          <p:nvPr>
            <p:ph idx="1"/>
          </p:nvPr>
        </p:nvSpPr>
        <p:spPr>
          <a:xfrm>
            <a:off x="688485" y="1666624"/>
            <a:ext cx="5419090" cy="923330"/>
          </a:xfrm>
        </p:spPr>
        <p:txBody>
          <a:bodyPr/>
          <a:lstStyle/>
          <a:p>
            <a:pPr marL="342900" indent="-342900">
              <a:buFont typeface="Wingdings" pitchFamily="2" charset="2"/>
              <a:buChar char="ü"/>
            </a:pPr>
            <a:r>
              <a:rPr kumimoji="1" lang="en-US" altLang="zh-TW" sz="2000" dirty="0">
                <a:solidFill>
                  <a:schemeClr val="tx1"/>
                </a:solidFill>
                <a:latin typeface="Comic Sans MS" panose="030F0902030302020204" pitchFamily="66" charset="0"/>
              </a:rPr>
              <a:t>Element: for vector</a:t>
            </a:r>
          </a:p>
          <a:p>
            <a:pPr marL="342900" indent="-342900">
              <a:buFont typeface="Wingdings" pitchFamily="2" charset="2"/>
              <a:buChar char="ü"/>
            </a:pPr>
            <a:r>
              <a:rPr kumimoji="1" lang="en-US" altLang="zh-TW" sz="2000" dirty="0">
                <a:solidFill>
                  <a:schemeClr val="tx1"/>
                </a:solidFill>
                <a:latin typeface="Comic Sans MS" panose="030F0902030302020204" pitchFamily="66" charset="0"/>
              </a:rPr>
              <a:t>Value: for struct and array</a:t>
            </a:r>
          </a:p>
          <a:p>
            <a:pPr marL="342900" indent="-342900">
              <a:buFont typeface="Wingdings" pitchFamily="2" charset="2"/>
              <a:buChar char="ü"/>
            </a:pPr>
            <a:r>
              <a:rPr kumimoji="1" lang="en-US" altLang="zh-TW" sz="2000" dirty="0">
                <a:solidFill>
                  <a:schemeClr val="tx1"/>
                </a:solidFill>
                <a:latin typeface="Comic Sans MS" panose="030F0902030302020204" pitchFamily="66" charset="0"/>
              </a:rPr>
              <a:t>Static Single Assignment (SSA) form</a:t>
            </a:r>
            <a:endParaRPr kumimoji="1" lang="zh-TW" altLang="en-US" sz="2000" dirty="0">
              <a:solidFill>
                <a:schemeClr val="tx1"/>
              </a:solidFill>
              <a:latin typeface="Comic Sans MS" panose="030F0902030302020204" pitchFamily="66" charset="0"/>
            </a:endParaRPr>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3276600"/>
            <a:ext cx="7369685" cy="2627453"/>
          </a:xfrm>
          <a:prstGeom prst="rect">
            <a:avLst/>
          </a:prstGeom>
        </p:spPr>
      </p:pic>
      <p:sp>
        <p:nvSpPr>
          <p:cNvPr id="6" name="投影片編號版面配置區 5"/>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13</a:t>
            </a:fld>
            <a:endParaRPr kumimoji="1" lang="zh-TW" altLang="en-US"/>
          </a:p>
        </p:txBody>
      </p:sp>
      <p:sp>
        <p:nvSpPr>
          <p:cNvPr id="7" name="TextBox 6">
            <a:extLst>
              <a:ext uri="{FF2B5EF4-FFF2-40B4-BE49-F238E27FC236}">
                <a16:creationId xmlns:a16="http://schemas.microsoft.com/office/drawing/2014/main" id="{2E378FAD-A234-4C7D-B1D7-5D6E9AEA2B8D}"/>
              </a:ext>
            </a:extLst>
          </p:cNvPr>
          <p:cNvSpPr txBox="1"/>
          <p:nvPr/>
        </p:nvSpPr>
        <p:spPr>
          <a:xfrm>
            <a:off x="4332542" y="2907505"/>
            <a:ext cx="3820858" cy="307777"/>
          </a:xfrm>
          <a:prstGeom prst="rect">
            <a:avLst/>
          </a:prstGeom>
          <a:noFill/>
        </p:spPr>
        <p:txBody>
          <a:bodyPr wrap="square" rtlCol="0">
            <a:spAutoFit/>
          </a:bodyPr>
          <a:lstStyle/>
          <a:p>
            <a:r>
              <a:rPr lang="en-US" sz="1400" b="1" i="0" dirty="0">
                <a:solidFill>
                  <a:srgbClr val="000000"/>
                </a:solidFill>
                <a:effectLst/>
                <a:latin typeface="Comic Sans MS" panose="030F0902030302020204" pitchFamily="66" charset="0"/>
              </a:rPr>
              <a:t>Table: TSIR Mappings for LLVM IR</a:t>
            </a:r>
            <a:endParaRPr lang="en-IN" sz="1400" b="1" dirty="0">
              <a:solidFill>
                <a:srgbClr val="000000"/>
              </a:solidFill>
              <a:latin typeface="Comic Sans MS" panose="030F0902030302020204" pitchFamily="66" charset="0"/>
            </a:endParaRPr>
          </a:p>
        </p:txBody>
      </p:sp>
    </p:spTree>
    <p:extLst>
      <p:ext uri="{BB962C8B-B14F-4D97-AF65-F5344CB8AC3E}">
        <p14:creationId xmlns:p14="http://schemas.microsoft.com/office/powerpoint/2010/main" val="1595496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橢圓 1"/>
          <p:cNvSpPr/>
          <p:nvPr/>
        </p:nvSpPr>
        <p:spPr>
          <a:xfrm>
            <a:off x="1767874" y="4765136"/>
            <a:ext cx="1390041" cy="690434"/>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a:t>
            </a:r>
          </a:p>
          <a:p>
            <a:pPr algn="ctr"/>
            <a:r>
              <a:rPr kumimoji="1" lang="en-US" altLang="zh-TW" sz="900" dirty="0">
                <a:solidFill>
                  <a:schemeClr val="tx1"/>
                </a:solidFill>
                <a:latin typeface="CMU Serif Roman" charset="0"/>
                <a:ea typeface="CMU Serif Roman" charset="0"/>
                <a:cs typeface="CMU Serif Roman" charset="0"/>
              </a:rPr>
              <a:t>of</a:t>
            </a:r>
          </a:p>
          <a:p>
            <a:pPr algn="ctr"/>
            <a:r>
              <a:rPr kumimoji="1" lang="en-US" altLang="zh-TW" sz="900" dirty="0">
                <a:solidFill>
                  <a:schemeClr val="tx1"/>
                </a:solidFill>
                <a:latin typeface="CMU Serif Roman" charset="0"/>
                <a:ea typeface="CMU Serif Roman" charset="0"/>
                <a:cs typeface="CMU Serif Roman" charset="0"/>
              </a:rPr>
              <a:t>Target Program</a:t>
            </a:r>
          </a:p>
        </p:txBody>
      </p:sp>
      <p:sp>
        <p:nvSpPr>
          <p:cNvPr id="3" name="矩形 2"/>
          <p:cNvSpPr/>
          <p:nvPr/>
        </p:nvSpPr>
        <p:spPr>
          <a:xfrm>
            <a:off x="1896801" y="2966883"/>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Extraction</a:t>
            </a:r>
          </a:p>
        </p:txBody>
      </p:sp>
      <p:sp>
        <p:nvSpPr>
          <p:cNvPr id="5" name="橢圓 4"/>
          <p:cNvSpPr/>
          <p:nvPr/>
        </p:nvSpPr>
        <p:spPr>
          <a:xfrm>
            <a:off x="4837891" y="2559106"/>
            <a:ext cx="1496966" cy="648730"/>
          </a:xfrm>
          <a:prstGeom prst="ellipse">
            <a:avLst/>
          </a:prstGeom>
          <a:solidFill>
            <a:schemeClr val="accent4">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Instrumented</a:t>
            </a:r>
          </a:p>
          <a:p>
            <a:pPr algn="ctr"/>
            <a:r>
              <a:rPr kumimoji="1" lang="en-US" altLang="zh-TW" sz="900" dirty="0">
                <a:solidFill>
                  <a:schemeClr val="tx1"/>
                </a:solidFill>
                <a:latin typeface="CMU Serif Roman" charset="0"/>
                <a:ea typeface="CMU Serif Roman" charset="0"/>
                <a:cs typeface="CMU Serif Roman" charset="0"/>
              </a:rPr>
              <a:t>LLVM IR</a:t>
            </a:r>
          </a:p>
        </p:txBody>
      </p:sp>
      <p:sp>
        <p:nvSpPr>
          <p:cNvPr id="6" name="橢圓 5"/>
          <p:cNvSpPr/>
          <p:nvPr/>
        </p:nvSpPr>
        <p:spPr>
          <a:xfrm>
            <a:off x="4837891" y="3732129"/>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Intermediate Representation</a:t>
            </a:r>
          </a:p>
        </p:txBody>
      </p:sp>
      <p:sp>
        <p:nvSpPr>
          <p:cNvPr id="7" name="矩形 6"/>
          <p:cNvSpPr/>
          <p:nvPr/>
        </p:nvSpPr>
        <p:spPr>
          <a:xfrm>
            <a:off x="8124010" y="3147666"/>
            <a:ext cx="987334"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Replay</a:t>
            </a:r>
          </a:p>
        </p:txBody>
      </p:sp>
      <p:sp>
        <p:nvSpPr>
          <p:cNvPr id="8" name="矩形 7"/>
          <p:cNvSpPr/>
          <p:nvPr/>
        </p:nvSpPr>
        <p:spPr>
          <a:xfrm>
            <a:off x="3453056" y="2559107"/>
            <a:ext cx="1132187" cy="648730"/>
          </a:xfrm>
          <a:prstGeom prst="rect">
            <a:avLst/>
          </a:prstGeom>
          <a:solidFill>
            <a:schemeClr val="accent4">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 Instrumentation</a:t>
            </a:r>
          </a:p>
        </p:txBody>
      </p:sp>
      <p:cxnSp>
        <p:nvCxnSpPr>
          <p:cNvPr id="27" name="肘形接點 26"/>
          <p:cNvCxnSpPr>
            <a:stCxn id="3" idx="3"/>
            <a:endCxn id="8" idx="1"/>
          </p:cNvCxnSpPr>
          <p:nvPr/>
        </p:nvCxnSpPr>
        <p:spPr>
          <a:xfrm flipV="1">
            <a:off x="3028987" y="2883472"/>
            <a:ext cx="424068" cy="40777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1" name="肘形接點 30"/>
          <p:cNvCxnSpPr>
            <a:stCxn id="8" idx="3"/>
            <a:endCxn id="5" idx="2"/>
          </p:cNvCxnSpPr>
          <p:nvPr/>
        </p:nvCxnSpPr>
        <p:spPr>
          <a:xfrm flipV="1">
            <a:off x="4585242" y="2883472"/>
            <a:ext cx="252650" cy="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9" name="直線接點 38"/>
          <p:cNvCxnSpPr/>
          <p:nvPr/>
        </p:nvCxnSpPr>
        <p:spPr>
          <a:xfrm>
            <a:off x="6504926" y="1025509"/>
            <a:ext cx="0" cy="4765673"/>
          </a:xfrm>
          <a:prstGeom prst="line">
            <a:avLst/>
          </a:prstGeom>
          <a:ln>
            <a:solidFill>
              <a:schemeClr val="bg2">
                <a:lumMod val="50000"/>
              </a:schemeClr>
            </a:solidFill>
            <a:prstDash val="sysDot"/>
          </a:ln>
        </p:spPr>
        <p:style>
          <a:lnRef idx="1">
            <a:schemeClr val="dk1"/>
          </a:lnRef>
          <a:fillRef idx="0">
            <a:schemeClr val="dk1"/>
          </a:fillRef>
          <a:effectRef idx="0">
            <a:schemeClr val="dk1"/>
          </a:effectRef>
          <a:fontRef idx="minor">
            <a:schemeClr val="tx1"/>
          </a:fontRef>
        </p:style>
      </p:cxnSp>
      <p:sp>
        <p:nvSpPr>
          <p:cNvPr id="40" name="文字方塊 39"/>
          <p:cNvSpPr txBox="1"/>
          <p:nvPr/>
        </p:nvSpPr>
        <p:spPr>
          <a:xfrm>
            <a:off x="3557164" y="1040345"/>
            <a:ext cx="1116011" cy="253916"/>
          </a:xfrm>
          <a:prstGeom prst="rect">
            <a:avLst/>
          </a:prstGeom>
          <a:noFill/>
        </p:spPr>
        <p:txBody>
          <a:bodyPr wrap="none" rtlCol="0">
            <a:spAutoFit/>
          </a:bodyPr>
          <a:lstStyle/>
          <a:p>
            <a:r>
              <a:rPr kumimoji="1" lang="en-US" altLang="zh-TW" sz="1050" b="1" dirty="0">
                <a:solidFill>
                  <a:srgbClr val="FF0000"/>
                </a:solidFill>
                <a:latin typeface="CMU Serif Roman" charset="0"/>
                <a:ea typeface="CMU Serif Roman" charset="0"/>
                <a:cs typeface="CMU Serif Roman" charset="0"/>
              </a:rPr>
              <a:t>Extraction Phase</a:t>
            </a:r>
            <a:endParaRPr kumimoji="1" lang="zh-TW" altLang="en-US" sz="1050" b="1" dirty="0">
              <a:solidFill>
                <a:srgbClr val="FF0000"/>
              </a:solidFill>
              <a:latin typeface="CMU Serif Roman" charset="0"/>
              <a:ea typeface="CMU Serif Roman" charset="0"/>
              <a:cs typeface="CMU Serif Roman" charset="0"/>
            </a:endParaRPr>
          </a:p>
        </p:txBody>
      </p:sp>
      <p:sp>
        <p:nvSpPr>
          <p:cNvPr id="41" name="文字方塊 40"/>
          <p:cNvSpPr txBox="1"/>
          <p:nvPr/>
        </p:nvSpPr>
        <p:spPr>
          <a:xfrm>
            <a:off x="6775722" y="1040345"/>
            <a:ext cx="938077"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Record Phase</a:t>
            </a:r>
            <a:endParaRPr kumimoji="1" lang="zh-TW" altLang="en-US" sz="1050" b="1" dirty="0">
              <a:latin typeface="CMU Serif Roman" charset="0"/>
              <a:ea typeface="CMU Serif Roman" charset="0"/>
              <a:cs typeface="CMU Serif Roman" charset="0"/>
            </a:endParaRPr>
          </a:p>
        </p:txBody>
      </p:sp>
      <p:sp>
        <p:nvSpPr>
          <p:cNvPr id="42" name="文字方塊 41"/>
          <p:cNvSpPr txBox="1"/>
          <p:nvPr/>
        </p:nvSpPr>
        <p:spPr>
          <a:xfrm>
            <a:off x="8845043" y="1038668"/>
            <a:ext cx="925253"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Replay Phase</a:t>
            </a:r>
            <a:endParaRPr kumimoji="1" lang="zh-TW" altLang="en-US" sz="1050" b="1" dirty="0">
              <a:latin typeface="CMU Serif Roman" charset="0"/>
              <a:ea typeface="CMU Serif Roman" charset="0"/>
              <a:cs typeface="CMU Serif Roman" charset="0"/>
            </a:endParaRPr>
          </a:p>
        </p:txBody>
      </p:sp>
      <p:sp>
        <p:nvSpPr>
          <p:cNvPr id="30" name="橢圓 29"/>
          <p:cNvSpPr/>
          <p:nvPr/>
        </p:nvSpPr>
        <p:spPr>
          <a:xfrm>
            <a:off x="4837891" y="1771257"/>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Information Flow Tracking Runtime Library</a:t>
            </a:r>
          </a:p>
        </p:txBody>
      </p:sp>
      <p:sp>
        <p:nvSpPr>
          <p:cNvPr id="44" name="矩形 43"/>
          <p:cNvSpPr/>
          <p:nvPr/>
        </p:nvSpPr>
        <p:spPr>
          <a:xfrm>
            <a:off x="3453056" y="3732129"/>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 to TSIR</a:t>
            </a:r>
          </a:p>
          <a:p>
            <a:pPr algn="ctr"/>
            <a:r>
              <a:rPr kumimoji="1" lang="en-US" altLang="zh-TW" sz="900" dirty="0">
                <a:solidFill>
                  <a:schemeClr val="tx1"/>
                </a:solidFill>
                <a:latin typeface="CMU Serif Roman" charset="0"/>
                <a:ea typeface="CMU Serif Roman" charset="0"/>
                <a:cs typeface="CMU Serif Roman" charset="0"/>
              </a:rPr>
              <a:t>Translation</a:t>
            </a:r>
          </a:p>
        </p:txBody>
      </p:sp>
      <p:cxnSp>
        <p:nvCxnSpPr>
          <p:cNvPr id="46" name="肘形接點 45"/>
          <p:cNvCxnSpPr>
            <a:stCxn id="3" idx="3"/>
            <a:endCxn id="44" idx="1"/>
          </p:cNvCxnSpPr>
          <p:nvPr/>
        </p:nvCxnSpPr>
        <p:spPr>
          <a:xfrm>
            <a:off x="3028987" y="3291249"/>
            <a:ext cx="424068" cy="76524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2" name="直線箭頭接點 51"/>
          <p:cNvCxnSpPr>
            <a:stCxn id="44" idx="3"/>
            <a:endCxn id="6" idx="2"/>
          </p:cNvCxnSpPr>
          <p:nvPr/>
        </p:nvCxnSpPr>
        <p:spPr>
          <a:xfrm>
            <a:off x="4585242" y="4056494"/>
            <a:ext cx="2526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橢圓 52"/>
          <p:cNvSpPr/>
          <p:nvPr/>
        </p:nvSpPr>
        <p:spPr>
          <a:xfrm>
            <a:off x="6664604" y="2200563"/>
            <a:ext cx="1208190"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Instrumented Target Program</a:t>
            </a:r>
          </a:p>
        </p:txBody>
      </p:sp>
      <p:cxnSp>
        <p:nvCxnSpPr>
          <p:cNvPr id="58" name="肘形接點 57"/>
          <p:cNvCxnSpPr>
            <a:stCxn id="30" idx="6"/>
            <a:endCxn id="53" idx="2"/>
          </p:cNvCxnSpPr>
          <p:nvPr/>
        </p:nvCxnSpPr>
        <p:spPr>
          <a:xfrm>
            <a:off x="6334858" y="2095624"/>
            <a:ext cx="329747" cy="42930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0" name="肘形接點 59"/>
          <p:cNvCxnSpPr>
            <a:stCxn id="5" idx="6"/>
            <a:endCxn id="53" idx="2"/>
          </p:cNvCxnSpPr>
          <p:nvPr/>
        </p:nvCxnSpPr>
        <p:spPr>
          <a:xfrm flipV="1">
            <a:off x="6334858" y="2524927"/>
            <a:ext cx="329747" cy="35854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線箭頭接點 61"/>
          <p:cNvCxnSpPr>
            <a:stCxn id="2" idx="0"/>
            <a:endCxn id="3" idx="2"/>
          </p:cNvCxnSpPr>
          <p:nvPr/>
        </p:nvCxnSpPr>
        <p:spPr>
          <a:xfrm flipV="1">
            <a:off x="2462894" y="3615612"/>
            <a:ext cx="0" cy="11495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矩形 67"/>
          <p:cNvSpPr/>
          <p:nvPr/>
        </p:nvSpPr>
        <p:spPr>
          <a:xfrm>
            <a:off x="1767874" y="2419987"/>
            <a:ext cx="2943693" cy="2109224"/>
          </a:xfrm>
          <a:prstGeom prst="rect">
            <a:avLst/>
          </a:prstGeom>
          <a:noFill/>
          <a:ln>
            <a:solidFill>
              <a:srgbClr val="767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sp>
        <p:nvSpPr>
          <p:cNvPr id="69" name="文字方塊 68"/>
          <p:cNvSpPr txBox="1"/>
          <p:nvPr/>
        </p:nvSpPr>
        <p:spPr>
          <a:xfrm>
            <a:off x="1747092" y="2198150"/>
            <a:ext cx="888385" cy="2308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TSIR Translator</a:t>
            </a:r>
            <a:endParaRPr kumimoji="1" lang="zh-TW" altLang="en-US" sz="900" dirty="0">
              <a:latin typeface="CMU Serif Roman" charset="0"/>
              <a:ea typeface="CMU Serif Roman" charset="0"/>
              <a:cs typeface="CMU Serif Roman" charset="0"/>
            </a:endParaRPr>
          </a:p>
        </p:txBody>
      </p:sp>
      <p:sp>
        <p:nvSpPr>
          <p:cNvPr id="71" name="矩形 70"/>
          <p:cNvSpPr/>
          <p:nvPr/>
        </p:nvSpPr>
        <p:spPr>
          <a:xfrm>
            <a:off x="9197285" y="3147666"/>
            <a:ext cx="987334"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Request Handling</a:t>
            </a:r>
          </a:p>
        </p:txBody>
      </p:sp>
      <p:cxnSp>
        <p:nvCxnSpPr>
          <p:cNvPr id="73" name="肘形接點 72"/>
          <p:cNvCxnSpPr>
            <a:stCxn id="53" idx="6"/>
            <a:endCxn id="7" idx="0"/>
          </p:cNvCxnSpPr>
          <p:nvPr/>
        </p:nvCxnSpPr>
        <p:spPr>
          <a:xfrm>
            <a:off x="7872793" y="2524928"/>
            <a:ext cx="744884" cy="622738"/>
          </a:xfrm>
          <a:prstGeom prst="bentConnector2">
            <a:avLst/>
          </a:prstGeom>
          <a:ln>
            <a:prstDash val="solid"/>
            <a:tailEnd type="triangle"/>
          </a:ln>
        </p:spPr>
        <p:style>
          <a:lnRef idx="1">
            <a:schemeClr val="dk1"/>
          </a:lnRef>
          <a:fillRef idx="0">
            <a:schemeClr val="dk1"/>
          </a:fillRef>
          <a:effectRef idx="0">
            <a:schemeClr val="dk1"/>
          </a:effectRef>
          <a:fontRef idx="minor">
            <a:schemeClr val="tx1"/>
          </a:fontRef>
        </p:style>
      </p:cxnSp>
      <p:cxnSp>
        <p:nvCxnSpPr>
          <p:cNvPr id="75" name="肘形接點 74"/>
          <p:cNvCxnSpPr>
            <a:stCxn id="53" idx="6"/>
            <a:endCxn id="71" idx="0"/>
          </p:cNvCxnSpPr>
          <p:nvPr/>
        </p:nvCxnSpPr>
        <p:spPr>
          <a:xfrm>
            <a:off x="7872794" y="2524928"/>
            <a:ext cx="1818158" cy="622738"/>
          </a:xfrm>
          <a:prstGeom prst="bentConnector2">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77" name="肘形接點 76"/>
          <p:cNvCxnSpPr>
            <a:stCxn id="6" idx="6"/>
            <a:endCxn id="7" idx="1"/>
          </p:cNvCxnSpPr>
          <p:nvPr/>
        </p:nvCxnSpPr>
        <p:spPr>
          <a:xfrm flipV="1">
            <a:off x="6334858" y="3472031"/>
            <a:ext cx="1789153" cy="58446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78" name="矩形 77"/>
          <p:cNvSpPr/>
          <p:nvPr/>
        </p:nvSpPr>
        <p:spPr>
          <a:xfrm>
            <a:off x="7989323" y="3028949"/>
            <a:ext cx="2314991" cy="872837"/>
          </a:xfrm>
          <a:prstGeom prst="rect">
            <a:avLst/>
          </a:prstGeom>
          <a:noFill/>
          <a:ln>
            <a:solidFill>
              <a:srgbClr val="767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sp>
        <p:nvSpPr>
          <p:cNvPr id="79" name="文字方塊 78"/>
          <p:cNvSpPr txBox="1"/>
          <p:nvPr/>
        </p:nvSpPr>
        <p:spPr>
          <a:xfrm>
            <a:off x="7989343" y="3918209"/>
            <a:ext cx="994183" cy="3693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Information Flow</a:t>
            </a:r>
          </a:p>
          <a:p>
            <a:r>
              <a:rPr kumimoji="1" lang="en-US" altLang="zh-TW" sz="900" dirty="0">
                <a:latin typeface="CMU Serif Roman" charset="0"/>
                <a:ea typeface="CMU Serif Roman" charset="0"/>
                <a:cs typeface="CMU Serif Roman" charset="0"/>
              </a:rPr>
              <a:t>Tracking Engine</a:t>
            </a:r>
            <a:endParaRPr kumimoji="1" lang="zh-TW" altLang="en-US" sz="900" dirty="0">
              <a:latin typeface="CMU Serif Roman" charset="0"/>
              <a:ea typeface="CMU Serif Roman" charset="0"/>
              <a:cs typeface="CMU Serif Roman" charset="0"/>
            </a:endParaRPr>
          </a:p>
        </p:txBody>
      </p:sp>
      <p:cxnSp>
        <p:nvCxnSpPr>
          <p:cNvPr id="81" name="肘形接點 80"/>
          <p:cNvCxnSpPr>
            <a:stCxn id="71" idx="3"/>
            <a:endCxn id="53" idx="0"/>
          </p:cNvCxnSpPr>
          <p:nvPr/>
        </p:nvCxnSpPr>
        <p:spPr>
          <a:xfrm flipH="1" flipV="1">
            <a:off x="7268699" y="2200563"/>
            <a:ext cx="2915920" cy="1271468"/>
          </a:xfrm>
          <a:prstGeom prst="bentConnector4">
            <a:avLst>
              <a:gd name="adj1" fmla="val -7306"/>
              <a:gd name="adj2" fmla="val 113484"/>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83" name="文字方塊 82"/>
          <p:cNvSpPr txBox="1"/>
          <p:nvPr/>
        </p:nvSpPr>
        <p:spPr>
          <a:xfrm>
            <a:off x="8054354" y="2629598"/>
            <a:ext cx="582212" cy="369332"/>
          </a:xfrm>
          <a:prstGeom prst="rect">
            <a:avLst/>
          </a:prstGeom>
          <a:noFill/>
        </p:spPr>
        <p:txBody>
          <a:bodyPr wrap="none" rtlCol="0">
            <a:spAutoFit/>
          </a:bodyPr>
          <a:lstStyle/>
          <a:p>
            <a:pPr algn="r"/>
            <a:r>
              <a:rPr kumimoji="1" lang="en-US" altLang="zh-TW" sz="900" dirty="0">
                <a:latin typeface="CMU Serif Roman" charset="0"/>
                <a:ea typeface="CMU Serif Roman" charset="0"/>
                <a:cs typeface="CMU Serif Roman" charset="0"/>
              </a:rPr>
              <a:t>runtime</a:t>
            </a:r>
          </a:p>
          <a:p>
            <a:pPr algn="r"/>
            <a:r>
              <a:rPr kumimoji="1" lang="en-US" altLang="zh-TW" sz="900" dirty="0">
                <a:latin typeface="CMU Serif Roman" charset="0"/>
                <a:ea typeface="CMU Serif Roman" charset="0"/>
                <a:cs typeface="CMU Serif Roman" charset="0"/>
              </a:rPr>
              <a:t>log</a:t>
            </a:r>
            <a:endParaRPr kumimoji="1" lang="zh-TW" altLang="en-US" sz="900" dirty="0">
              <a:latin typeface="CMU Serif Roman" charset="0"/>
              <a:ea typeface="CMU Serif Roman" charset="0"/>
              <a:cs typeface="CMU Serif Roman" charset="0"/>
            </a:endParaRPr>
          </a:p>
        </p:txBody>
      </p:sp>
      <p:sp>
        <p:nvSpPr>
          <p:cNvPr id="84" name="文字方塊 83"/>
          <p:cNvSpPr txBox="1"/>
          <p:nvPr/>
        </p:nvSpPr>
        <p:spPr>
          <a:xfrm>
            <a:off x="8685607" y="2317178"/>
            <a:ext cx="1016625" cy="230832"/>
          </a:xfrm>
          <a:prstGeom prst="rect">
            <a:avLst/>
          </a:prstGeom>
          <a:noFill/>
        </p:spPr>
        <p:txBody>
          <a:bodyPr wrap="none" rtlCol="0">
            <a:spAutoFit/>
          </a:bodyPr>
          <a:lstStyle/>
          <a:p>
            <a:r>
              <a:rPr kumimoji="1" lang="en-US" altLang="zh-TW" sz="900">
                <a:latin typeface="CMU Serif Roman" charset="0"/>
                <a:ea typeface="CMU Serif Roman" charset="0"/>
                <a:cs typeface="CMU Serif Roman" charset="0"/>
              </a:rPr>
              <a:t>tag query request</a:t>
            </a:r>
            <a:endParaRPr kumimoji="1" lang="zh-TW" altLang="en-US" sz="900" dirty="0">
              <a:latin typeface="CMU Serif Roman" charset="0"/>
              <a:ea typeface="CMU Serif Roman" charset="0"/>
              <a:cs typeface="CMU Serif Roman" charset="0"/>
            </a:endParaRPr>
          </a:p>
        </p:txBody>
      </p:sp>
      <p:sp>
        <p:nvSpPr>
          <p:cNvPr id="85" name="文字方塊 84"/>
          <p:cNvSpPr txBox="1"/>
          <p:nvPr/>
        </p:nvSpPr>
        <p:spPr>
          <a:xfrm>
            <a:off x="8385501" y="1819892"/>
            <a:ext cx="1083951" cy="2308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tag query response</a:t>
            </a:r>
            <a:endParaRPr kumimoji="1" lang="zh-TW" altLang="en-US" sz="900" dirty="0">
              <a:latin typeface="CMU Serif Roman" charset="0"/>
              <a:ea typeface="CMU Serif Roman" charset="0"/>
              <a:cs typeface="CMU Serif Roman" charset="0"/>
            </a:endParaRPr>
          </a:p>
        </p:txBody>
      </p:sp>
      <p:cxnSp>
        <p:nvCxnSpPr>
          <p:cNvPr id="87" name="直線接點 86"/>
          <p:cNvCxnSpPr/>
          <p:nvPr/>
        </p:nvCxnSpPr>
        <p:spPr>
          <a:xfrm>
            <a:off x="7989322" y="1025509"/>
            <a:ext cx="0" cy="4765673"/>
          </a:xfrm>
          <a:prstGeom prst="line">
            <a:avLst/>
          </a:prstGeom>
          <a:ln>
            <a:solidFill>
              <a:schemeClr val="bg2">
                <a:lumMod val="50000"/>
              </a:schemeClr>
            </a:solidFill>
            <a:prstDash val="sysDot"/>
          </a:ln>
        </p:spPr>
        <p:style>
          <a:lnRef idx="1">
            <a:schemeClr val="dk1"/>
          </a:lnRef>
          <a:fillRef idx="0">
            <a:schemeClr val="dk1"/>
          </a:fillRef>
          <a:effectRef idx="0">
            <a:schemeClr val="dk1"/>
          </a:effectRef>
          <a:fontRef idx="minor">
            <a:schemeClr val="tx1"/>
          </a:fontRef>
        </p:style>
      </p:cxnSp>
      <p:grpSp>
        <p:nvGrpSpPr>
          <p:cNvPr id="114" name="群組 113"/>
          <p:cNvGrpSpPr/>
          <p:nvPr/>
        </p:nvGrpSpPr>
        <p:grpSpPr>
          <a:xfrm>
            <a:off x="8117240" y="4665012"/>
            <a:ext cx="766360" cy="707431"/>
            <a:chOff x="9180237" y="4785425"/>
            <a:chExt cx="1021813" cy="943241"/>
          </a:xfrm>
        </p:grpSpPr>
        <p:sp>
          <p:nvSpPr>
            <p:cNvPr id="90" name="橢圓 89"/>
            <p:cNvSpPr/>
            <p:nvPr/>
          </p:nvSpPr>
          <p:spPr>
            <a:xfrm>
              <a:off x="9180237" y="5308405"/>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2" name="橢圓 91"/>
            <p:cNvSpPr/>
            <p:nvPr/>
          </p:nvSpPr>
          <p:spPr>
            <a:xfrm>
              <a:off x="9544298" y="5076772"/>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3" name="橢圓 92"/>
            <p:cNvSpPr/>
            <p:nvPr/>
          </p:nvSpPr>
          <p:spPr>
            <a:xfrm>
              <a:off x="9566581" y="5516190"/>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4" name="橢圓 93"/>
            <p:cNvSpPr/>
            <p:nvPr/>
          </p:nvSpPr>
          <p:spPr>
            <a:xfrm>
              <a:off x="9973257" y="4785425"/>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5" name="橢圓 94"/>
            <p:cNvSpPr/>
            <p:nvPr/>
          </p:nvSpPr>
          <p:spPr>
            <a:xfrm>
              <a:off x="9989574" y="5236557"/>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cxnSp>
          <p:nvCxnSpPr>
            <p:cNvPr id="97" name="曲線接點 96"/>
            <p:cNvCxnSpPr>
              <a:stCxn id="90" idx="4"/>
              <a:endCxn id="93" idx="2"/>
            </p:cNvCxnSpPr>
            <p:nvPr/>
          </p:nvCxnSpPr>
          <p:spPr>
            <a:xfrm rot="16200000" flipH="1">
              <a:off x="9375755" y="5431601"/>
              <a:ext cx="101547" cy="280106"/>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99" name="曲線接點 98"/>
            <p:cNvCxnSpPr>
              <a:stCxn id="90" idx="0"/>
              <a:endCxn id="92" idx="2"/>
            </p:cNvCxnSpPr>
            <p:nvPr/>
          </p:nvCxnSpPr>
          <p:spPr>
            <a:xfrm rot="5400000" flipH="1" flipV="1">
              <a:off x="9352689" y="5116797"/>
              <a:ext cx="125395" cy="257823"/>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03" name="曲線接點 102"/>
            <p:cNvCxnSpPr>
              <a:stCxn id="93" idx="6"/>
              <a:endCxn id="95" idx="4"/>
            </p:cNvCxnSpPr>
            <p:nvPr/>
          </p:nvCxnSpPr>
          <p:spPr>
            <a:xfrm flipV="1">
              <a:off x="9779057" y="5449033"/>
              <a:ext cx="316755" cy="173395"/>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09" name="曲線接點 108"/>
            <p:cNvCxnSpPr>
              <a:stCxn id="93" idx="0"/>
              <a:endCxn id="95" idx="2"/>
            </p:cNvCxnSpPr>
            <p:nvPr/>
          </p:nvCxnSpPr>
          <p:spPr>
            <a:xfrm rot="5400000" flipH="1" flipV="1">
              <a:off x="9744499" y="5271116"/>
              <a:ext cx="173395" cy="316755"/>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11" name="曲線接點 110"/>
            <p:cNvCxnSpPr>
              <a:stCxn id="92" idx="7"/>
              <a:endCxn id="94" idx="2"/>
            </p:cNvCxnSpPr>
            <p:nvPr/>
          </p:nvCxnSpPr>
          <p:spPr>
            <a:xfrm rot="5400000" flipH="1" flipV="1">
              <a:off x="9741345" y="4875977"/>
              <a:ext cx="216225" cy="247599"/>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13" name="曲線接點 112"/>
            <p:cNvCxnSpPr>
              <a:stCxn id="94" idx="6"/>
              <a:endCxn id="95" idx="6"/>
            </p:cNvCxnSpPr>
            <p:nvPr/>
          </p:nvCxnSpPr>
          <p:spPr>
            <a:xfrm>
              <a:off x="10185733" y="4891663"/>
              <a:ext cx="16317" cy="451132"/>
            </a:xfrm>
            <a:prstGeom prst="curvedConnector3">
              <a:avLst>
                <a:gd name="adj1" fmla="val 1500993"/>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grpSp>
      <p:cxnSp>
        <p:nvCxnSpPr>
          <p:cNvPr id="116" name="直線箭頭接點 115"/>
          <p:cNvCxnSpPr>
            <a:stCxn id="78" idx="2"/>
          </p:cNvCxnSpPr>
          <p:nvPr/>
        </p:nvCxnSpPr>
        <p:spPr>
          <a:xfrm flipH="1">
            <a:off x="9146818" y="3901785"/>
            <a:ext cx="1" cy="627426"/>
          </a:xfrm>
          <a:prstGeom prst="straightConnector1">
            <a:avLst/>
          </a:prstGeom>
          <a:ln>
            <a:prstDash val="sysDot"/>
            <a:tailEnd type="triangle"/>
          </a:ln>
        </p:spPr>
        <p:style>
          <a:lnRef idx="1">
            <a:schemeClr val="dk1"/>
          </a:lnRef>
          <a:fillRef idx="0">
            <a:schemeClr val="dk1"/>
          </a:fillRef>
          <a:effectRef idx="0">
            <a:schemeClr val="dk1"/>
          </a:effectRef>
          <a:fontRef idx="minor">
            <a:schemeClr val="tx1"/>
          </a:fontRef>
        </p:style>
      </p:cxnSp>
      <p:sp>
        <p:nvSpPr>
          <p:cNvPr id="117" name="文字方塊 116"/>
          <p:cNvSpPr txBox="1"/>
          <p:nvPr/>
        </p:nvSpPr>
        <p:spPr>
          <a:xfrm>
            <a:off x="9121166" y="4700875"/>
            <a:ext cx="1494878" cy="698589"/>
          </a:xfrm>
          <a:prstGeom prst="rect">
            <a:avLst/>
          </a:prstGeom>
          <a:noFill/>
        </p:spPr>
        <p:txBody>
          <a:bodyPr wrap="square" rtlCol="0">
            <a:spAutoFit/>
          </a:bodyPr>
          <a:lstStyle/>
          <a:p>
            <a:r>
              <a:rPr kumimoji="1" lang="en-US" altLang="zh-TW" sz="788" dirty="0">
                <a:latin typeface="CMU Serif Roman" charset="0"/>
                <a:ea typeface="CMU Serif Roman" charset="0"/>
                <a:cs typeface="CMU Serif Roman" charset="0"/>
              </a:rPr>
              <a:t>Further Analysis</a:t>
            </a:r>
          </a:p>
          <a:p>
            <a:pPr marL="128588" indent="-128588">
              <a:buFont typeface="Arial" charset="0"/>
              <a:buChar char="•"/>
            </a:pPr>
            <a:r>
              <a:rPr kumimoji="1" lang="en-US" altLang="zh-TW" sz="788" dirty="0">
                <a:latin typeface="CMU Serif Roman" charset="0"/>
                <a:ea typeface="CMU Serif Roman" charset="0"/>
                <a:cs typeface="CMU Serif Roman" charset="0"/>
              </a:rPr>
              <a:t>Whole-system Information Flow Tracking</a:t>
            </a:r>
          </a:p>
          <a:p>
            <a:pPr marL="128588" indent="-128588">
              <a:buFont typeface="Arial" charset="0"/>
              <a:buChar char="•"/>
            </a:pPr>
            <a:r>
              <a:rPr kumimoji="1" lang="en-US" altLang="zh-TW" sz="788" dirty="0">
                <a:latin typeface="CMU Serif Roman" charset="0"/>
                <a:ea typeface="CMU Serif Roman" charset="0"/>
                <a:cs typeface="CMU Serif Roman" charset="0"/>
              </a:rPr>
              <a:t>Data Provenance</a:t>
            </a:r>
          </a:p>
          <a:p>
            <a:pPr marL="128588" indent="-128588">
              <a:buFont typeface="Arial" charset="0"/>
              <a:buChar char="•"/>
            </a:pPr>
            <a:r>
              <a:rPr kumimoji="1" lang="en-US" altLang="zh-TW" sz="788" dirty="0">
                <a:latin typeface="CMU Serif Roman" charset="0"/>
                <a:ea typeface="CMU Serif Roman" charset="0"/>
                <a:cs typeface="CMU Serif Roman" charset="0"/>
              </a:rPr>
              <a:t>Data Leakage Detection</a:t>
            </a:r>
            <a:endParaRPr kumimoji="1" lang="zh-TW" altLang="en-US" sz="788" dirty="0">
              <a:latin typeface="CMU Serif Roman" charset="0"/>
              <a:ea typeface="CMU Serif Roman" charset="0"/>
              <a:cs typeface="CMU Serif Roman" charset="0"/>
            </a:endParaRPr>
          </a:p>
        </p:txBody>
      </p:sp>
      <p:sp>
        <p:nvSpPr>
          <p:cNvPr id="49" name="橢圓 48"/>
          <p:cNvSpPr/>
          <p:nvPr/>
        </p:nvSpPr>
        <p:spPr>
          <a:xfrm>
            <a:off x="3523185" y="4765136"/>
            <a:ext cx="1390041" cy="690434"/>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Source Code</a:t>
            </a:r>
          </a:p>
          <a:p>
            <a:pPr algn="ctr"/>
            <a:r>
              <a:rPr kumimoji="1" lang="en-US" altLang="zh-TW" sz="900" dirty="0">
                <a:solidFill>
                  <a:schemeClr val="tx1"/>
                </a:solidFill>
                <a:latin typeface="CMU Serif Roman" charset="0"/>
                <a:ea typeface="CMU Serif Roman" charset="0"/>
                <a:cs typeface="CMU Serif Roman" charset="0"/>
              </a:rPr>
              <a:t>of</a:t>
            </a:r>
          </a:p>
          <a:p>
            <a:pPr algn="ctr"/>
            <a:r>
              <a:rPr kumimoji="1" lang="en-US" altLang="zh-TW" sz="900" dirty="0">
                <a:solidFill>
                  <a:schemeClr val="tx1"/>
                </a:solidFill>
                <a:latin typeface="CMU Serif Roman" charset="0"/>
                <a:ea typeface="CMU Serif Roman" charset="0"/>
                <a:cs typeface="CMU Serif Roman" charset="0"/>
              </a:rPr>
              <a:t>Target Program</a:t>
            </a:r>
          </a:p>
        </p:txBody>
      </p:sp>
      <p:cxnSp>
        <p:nvCxnSpPr>
          <p:cNvPr id="9" name="直線箭頭接點 8"/>
          <p:cNvCxnSpPr>
            <a:stCxn id="49" idx="2"/>
            <a:endCxn id="2" idx="6"/>
          </p:cNvCxnSpPr>
          <p:nvPr/>
        </p:nvCxnSpPr>
        <p:spPr>
          <a:xfrm flipH="1">
            <a:off x="3157915" y="5110353"/>
            <a:ext cx="3652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摺角紙張 50"/>
          <p:cNvSpPr/>
          <p:nvPr/>
        </p:nvSpPr>
        <p:spPr>
          <a:xfrm>
            <a:off x="5882418" y="3283866"/>
            <a:ext cx="2017351" cy="791424"/>
          </a:xfrm>
          <a:prstGeom prst="foldedCorner">
            <a:avLst/>
          </a:prstGeom>
        </p:spPr>
        <p:style>
          <a:lnRef idx="2">
            <a:schemeClr val="dk1"/>
          </a:lnRef>
          <a:fillRef idx="1">
            <a:schemeClr val="lt1"/>
          </a:fillRef>
          <a:effectRef idx="0">
            <a:schemeClr val="dk1"/>
          </a:effectRef>
          <a:fontRef idx="minor">
            <a:schemeClr val="dk1"/>
          </a:fontRef>
        </p:style>
        <p:txBody>
          <a:bodyPr rtlCol="0" anchor="ctr"/>
          <a:lstStyle/>
          <a:p>
            <a:r>
              <a:rPr kumimoji="1" lang="en-US" altLang="zh-TW" sz="1000" dirty="0">
                <a:solidFill>
                  <a:srgbClr val="FF0000"/>
                </a:solidFill>
                <a:latin typeface="Consolas" charset="0"/>
                <a:ea typeface="Consolas" charset="0"/>
                <a:cs typeface="Consolas" charset="0"/>
              </a:rPr>
              <a:t>call void @</a:t>
            </a:r>
            <a:r>
              <a:rPr kumimoji="1" lang="en-US" altLang="zh-TW" sz="1000" dirty="0" err="1">
                <a:solidFill>
                  <a:srgbClr val="FF0000"/>
                </a:solidFill>
                <a:latin typeface="Consolas" charset="0"/>
                <a:ea typeface="Consolas" charset="0"/>
                <a:cs typeface="Consolas" charset="0"/>
              </a:rPr>
              <a:t>log_bbid</a:t>
            </a:r>
            <a:r>
              <a:rPr kumimoji="1" lang="en-US" altLang="zh-TW" sz="1000" dirty="0">
                <a:solidFill>
                  <a:srgbClr val="FF0000"/>
                </a:solidFill>
                <a:latin typeface="Consolas" charset="0"/>
                <a:ea typeface="Consolas" charset="0"/>
                <a:cs typeface="Consolas" charset="0"/>
              </a:rPr>
              <a:t>(i32 1)</a:t>
            </a:r>
          </a:p>
          <a:p>
            <a:r>
              <a:rPr kumimoji="1" lang="en-US" altLang="zh-TW" sz="1000" dirty="0">
                <a:solidFill>
                  <a:srgbClr val="FF0000"/>
                </a:solidFill>
                <a:latin typeface="Consolas" charset="0"/>
                <a:ea typeface="Consolas" charset="0"/>
                <a:cs typeface="Consolas" charset="0"/>
              </a:rPr>
              <a:t>......</a:t>
            </a:r>
            <a:endParaRPr kumimoji="1" lang="zh-TW" altLang="en-US" sz="1000" dirty="0">
              <a:solidFill>
                <a:srgbClr val="FF0000"/>
              </a:solidFill>
              <a:latin typeface="Consolas" charset="0"/>
              <a:ea typeface="Consolas" charset="0"/>
              <a:cs typeface="Consolas" charset="0"/>
            </a:endParaRPr>
          </a:p>
        </p:txBody>
      </p:sp>
      <p:cxnSp>
        <p:nvCxnSpPr>
          <p:cNvPr id="15" name="直線接點 14"/>
          <p:cNvCxnSpPr>
            <a:stCxn id="5" idx="4"/>
            <a:endCxn id="51" idx="1"/>
          </p:cNvCxnSpPr>
          <p:nvPr/>
        </p:nvCxnSpPr>
        <p:spPr>
          <a:xfrm>
            <a:off x="5586375" y="3207836"/>
            <a:ext cx="296043" cy="471742"/>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8" name="投影片編號版面配置區 17"/>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14</a:t>
            </a:fld>
            <a:endParaRPr kumimoji="1" lang="zh-TW" altLang="en-US"/>
          </a:p>
        </p:txBody>
      </p:sp>
      <p:sp>
        <p:nvSpPr>
          <p:cNvPr id="55" name="標題 1">
            <a:extLst>
              <a:ext uri="{FF2B5EF4-FFF2-40B4-BE49-F238E27FC236}">
                <a16:creationId xmlns:a16="http://schemas.microsoft.com/office/drawing/2014/main" id="{CF358262-DEB1-4206-873E-3AAFA2B4BA78}"/>
              </a:ext>
            </a:extLst>
          </p:cNvPr>
          <p:cNvSpPr txBox="1">
            <a:spLocks/>
          </p:cNvSpPr>
          <p:nvPr/>
        </p:nvSpPr>
        <p:spPr>
          <a:xfrm>
            <a:off x="-19748" y="252583"/>
            <a:ext cx="10058400" cy="646331"/>
          </a:xfrm>
          <a:prstGeom prst="rect">
            <a:avLst/>
          </a:prstGeom>
        </p:spPr>
        <p:txBody>
          <a:bodyPr/>
          <a:lstStyle>
            <a:lvl1pPr algn="l" defTabSz="914400" rtl="0" eaLnBrk="1" latinLnBrk="0" hangingPunct="1">
              <a:lnSpc>
                <a:spcPct val="90000"/>
              </a:lnSpc>
              <a:spcBef>
                <a:spcPct val="0"/>
              </a:spcBef>
              <a:buNone/>
              <a:defRPr sz="4800" b="1" kern="1200" cap="none"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altLang="zh-TW" sz="3600" dirty="0">
                <a:solidFill>
                  <a:schemeClr val="tx1"/>
                </a:solidFill>
                <a:latin typeface="Comic Sans MS"/>
              </a:rPr>
              <a:t>LLVM Instrumentation</a:t>
            </a:r>
            <a:endParaRPr lang="zh-TW" altLang="en-US" sz="3600" dirty="0">
              <a:solidFill>
                <a:schemeClr val="tx1"/>
              </a:solidFill>
              <a:latin typeface="Comic Sans MS"/>
            </a:endParaRPr>
          </a:p>
        </p:txBody>
      </p:sp>
      <p:sp>
        <p:nvSpPr>
          <p:cNvPr id="56" name="TextBox 55">
            <a:extLst>
              <a:ext uri="{FF2B5EF4-FFF2-40B4-BE49-F238E27FC236}">
                <a16:creationId xmlns:a16="http://schemas.microsoft.com/office/drawing/2014/main" id="{9C212067-7F7E-4F96-90D6-A13550219821}"/>
              </a:ext>
            </a:extLst>
          </p:cNvPr>
          <p:cNvSpPr txBox="1"/>
          <p:nvPr/>
        </p:nvSpPr>
        <p:spPr>
          <a:xfrm>
            <a:off x="5009452" y="5821234"/>
            <a:ext cx="3044902" cy="307777"/>
          </a:xfrm>
          <a:prstGeom prst="rect">
            <a:avLst/>
          </a:prstGeom>
          <a:noFill/>
        </p:spPr>
        <p:txBody>
          <a:bodyPr wrap="square" rtlCol="0">
            <a:spAutoFit/>
          </a:bodyPr>
          <a:lstStyle/>
          <a:p>
            <a:r>
              <a:rPr lang="en-US" sz="1400" b="1" dirty="0">
                <a:solidFill>
                  <a:srgbClr val="000000"/>
                </a:solidFill>
                <a:latin typeface="Comic Sans MS" panose="030F0902030302020204" pitchFamily="66" charset="0"/>
              </a:rPr>
              <a:t>Fig.: TSIR LLVM Instrumentation</a:t>
            </a:r>
            <a:endParaRPr lang="en-IN" sz="1400" b="1" dirty="0">
              <a:solidFill>
                <a:srgbClr val="000000"/>
              </a:solidFill>
              <a:latin typeface="Comic Sans MS" panose="030F0902030302020204" pitchFamily="66" charset="0"/>
            </a:endParaRPr>
          </a:p>
        </p:txBody>
      </p:sp>
    </p:spTree>
    <p:extLst>
      <p:ext uri="{BB962C8B-B14F-4D97-AF65-F5344CB8AC3E}">
        <p14:creationId xmlns:p14="http://schemas.microsoft.com/office/powerpoint/2010/main" val="1040772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6200" y="220091"/>
            <a:ext cx="12115800" cy="632974"/>
          </a:xfrm>
        </p:spPr>
        <p:txBody>
          <a:bodyPr>
            <a:normAutofit/>
          </a:bodyPr>
          <a:lstStyle/>
          <a:p>
            <a:r>
              <a:rPr kumimoji="1" lang="en-US" altLang="zh-TW" sz="3600" dirty="0"/>
              <a:t>Record-Replay based Information Flow Tracking</a:t>
            </a:r>
            <a:endParaRPr kumimoji="1" lang="zh-TW" altLang="en-US" sz="3600" dirty="0"/>
          </a:p>
        </p:txBody>
      </p:sp>
      <p:sp>
        <p:nvSpPr>
          <p:cNvPr id="3" name="內容版面配置區 2"/>
          <p:cNvSpPr>
            <a:spLocks noGrp="1"/>
          </p:cNvSpPr>
          <p:nvPr>
            <p:ph idx="1"/>
          </p:nvPr>
        </p:nvSpPr>
        <p:spPr>
          <a:xfrm>
            <a:off x="1143000" y="1332197"/>
            <a:ext cx="9601200" cy="2215991"/>
          </a:xfrm>
        </p:spPr>
        <p:txBody>
          <a:bodyPr/>
          <a:lstStyle/>
          <a:p>
            <a:pPr marL="285750" indent="-285750">
              <a:buFont typeface="Wingdings" pitchFamily="2" charset="2"/>
              <a:buChar char="ü"/>
            </a:pPr>
            <a:r>
              <a:rPr kumimoji="1" lang="en-US" altLang="zh-TW" sz="1800" dirty="0">
                <a:solidFill>
                  <a:srgbClr val="00B0F0"/>
                </a:solidFill>
                <a:latin typeface="Comic Sans MS" panose="030F0902030302020204" pitchFamily="66" charset="0"/>
              </a:rPr>
              <a:t>Record: LLVM IR Instrumentation</a:t>
            </a:r>
          </a:p>
          <a:p>
            <a:pPr marL="742950" lvl="1" indent="-285750">
              <a:buFont typeface="Wingdings" pitchFamily="2" charset="2"/>
              <a:buChar char="ü"/>
            </a:pPr>
            <a:r>
              <a:rPr kumimoji="1" lang="en-US" altLang="zh-TW" dirty="0">
                <a:latin typeface="Comic Sans MS" panose="030F0902030302020204" pitchFamily="66" charset="0"/>
              </a:rPr>
              <a:t>Implemented as LLVM Pass</a:t>
            </a:r>
          </a:p>
          <a:p>
            <a:pPr marL="742950" lvl="1" indent="-285750">
              <a:buFont typeface="Wingdings" pitchFamily="2" charset="2"/>
              <a:buChar char="ü"/>
            </a:pPr>
            <a:r>
              <a:rPr kumimoji="1" lang="en-US" altLang="zh-TW" dirty="0">
                <a:latin typeface="Comic Sans MS" panose="030F0902030302020204" pitchFamily="66" charset="0"/>
              </a:rPr>
              <a:t>Execution trace: </a:t>
            </a:r>
            <a:r>
              <a:rPr kumimoji="1" lang="en-US" altLang="zh-TW" dirty="0" err="1">
                <a:latin typeface="Comic Sans MS" panose="030F0902030302020204" pitchFamily="66" charset="0"/>
                <a:ea typeface="Courier" charset="0"/>
                <a:cs typeface="Courier" charset="0"/>
              </a:rPr>
              <a:t>log_bbid</a:t>
            </a:r>
            <a:r>
              <a:rPr kumimoji="1" lang="en-US" altLang="zh-TW" dirty="0">
                <a:latin typeface="Comic Sans MS" panose="030F0902030302020204" pitchFamily="66" charset="0"/>
                <a:ea typeface="Courier" charset="0"/>
                <a:cs typeface="Courier" charset="0"/>
              </a:rPr>
              <a:t>(int id)</a:t>
            </a:r>
          </a:p>
          <a:p>
            <a:pPr marL="1200150" lvl="2" indent="-285750">
              <a:buFont typeface="Wingdings" pitchFamily="2" charset="2"/>
              <a:buChar char="ü"/>
            </a:pPr>
            <a:r>
              <a:rPr kumimoji="1" lang="en-US" altLang="zh-TW" dirty="0">
                <a:latin typeface="Comic Sans MS" panose="030F0902030302020204" pitchFamily="66" charset="0"/>
              </a:rPr>
              <a:t>Basic Block </a:t>
            </a:r>
            <a:r>
              <a:rPr kumimoji="1" lang="en-US" altLang="zh-TW" dirty="0" err="1">
                <a:latin typeface="Comic Sans MS" panose="030F0902030302020204" pitchFamily="66" charset="0"/>
              </a:rPr>
              <a:t>bbid</a:t>
            </a:r>
            <a:r>
              <a:rPr kumimoji="1" lang="en-US" altLang="zh-TW" dirty="0">
                <a:latin typeface="Comic Sans MS" panose="030F0902030302020204" pitchFamily="66" charset="0"/>
              </a:rPr>
              <a:t> in TSIR is non-empty</a:t>
            </a:r>
          </a:p>
          <a:p>
            <a:pPr marL="1200150" lvl="2" indent="-285750">
              <a:buFont typeface="Wingdings" pitchFamily="2" charset="2"/>
              <a:buChar char="ü"/>
            </a:pPr>
            <a:r>
              <a:rPr kumimoji="1" lang="en-US" altLang="zh-TW" dirty="0" err="1">
                <a:latin typeface="Comic Sans MS" panose="030F0902030302020204" pitchFamily="66" charset="0"/>
              </a:rPr>
              <a:t>bbid</a:t>
            </a:r>
            <a:r>
              <a:rPr kumimoji="1" lang="en-US" altLang="zh-TW" dirty="0">
                <a:latin typeface="Comic Sans MS" panose="030F0902030302020204" pitchFamily="66" charset="0"/>
              </a:rPr>
              <a:t> is referenced by any PHI instruction in TSIR</a:t>
            </a:r>
          </a:p>
          <a:p>
            <a:pPr marL="742950" lvl="1" indent="-285750">
              <a:buFont typeface="Wingdings" pitchFamily="2" charset="2"/>
              <a:buChar char="ü"/>
            </a:pPr>
            <a:r>
              <a:rPr kumimoji="1" lang="en-US" altLang="zh-TW" dirty="0">
                <a:latin typeface="Comic Sans MS" panose="030F0902030302020204" pitchFamily="66" charset="0"/>
              </a:rPr>
              <a:t>Runtime value: </a:t>
            </a:r>
            <a:r>
              <a:rPr kumimoji="1" lang="en-US" altLang="zh-TW" dirty="0" err="1">
                <a:latin typeface="Comic Sans MS" panose="030F0902030302020204" pitchFamily="66" charset="0"/>
                <a:ea typeface="Courier" charset="0"/>
                <a:cs typeface="Courier" charset="0"/>
              </a:rPr>
              <a:t>log_rtvalue</a:t>
            </a:r>
            <a:r>
              <a:rPr kumimoji="1" lang="en-US" altLang="zh-TW" dirty="0">
                <a:latin typeface="Comic Sans MS" panose="030F0902030302020204" pitchFamily="66" charset="0"/>
                <a:ea typeface="Courier" charset="0"/>
                <a:cs typeface="Courier" charset="0"/>
              </a:rPr>
              <a:t>(int </a:t>
            </a:r>
            <a:r>
              <a:rPr kumimoji="1" lang="en-US" altLang="zh-TW" dirty="0" err="1">
                <a:latin typeface="Comic Sans MS" panose="030F0902030302020204" pitchFamily="66" charset="0"/>
                <a:ea typeface="Courier" charset="0"/>
                <a:cs typeface="Courier" charset="0"/>
              </a:rPr>
              <a:t>val</a:t>
            </a:r>
            <a:r>
              <a:rPr kumimoji="1" lang="en-US" altLang="zh-TW" dirty="0">
                <a:latin typeface="Comic Sans MS" panose="030F0902030302020204" pitchFamily="66" charset="0"/>
                <a:ea typeface="Courier" charset="0"/>
                <a:cs typeface="Courier" charset="0"/>
              </a:rPr>
              <a:t>)</a:t>
            </a:r>
          </a:p>
          <a:p>
            <a:pPr marL="742950" lvl="1" indent="-285750">
              <a:buFont typeface="Wingdings" pitchFamily="2" charset="2"/>
              <a:buChar char="ü"/>
            </a:pPr>
            <a:r>
              <a:rPr kumimoji="1" lang="en-US" altLang="zh-TW" dirty="0">
                <a:latin typeface="Comic Sans MS" panose="030F0902030302020204" pitchFamily="66" charset="0"/>
              </a:rPr>
              <a:t>For vector, de-vectorize it</a:t>
            </a:r>
          </a:p>
          <a:p>
            <a:pPr lvl="2"/>
            <a:r>
              <a:rPr kumimoji="1" lang="en-US" altLang="zh-TW" dirty="0">
                <a:latin typeface="Comic Sans MS" panose="030F0902030302020204" pitchFamily="66" charset="0"/>
              </a:rPr>
              <a:t># of </a:t>
            </a:r>
            <a:r>
              <a:rPr kumimoji="1" lang="en-US" altLang="zh-TW" dirty="0" err="1">
                <a:latin typeface="Comic Sans MS" panose="030F0902030302020204" pitchFamily="66" charset="0"/>
                <a:ea typeface="Courier" charset="0"/>
                <a:cs typeface="Courier" charset="0"/>
              </a:rPr>
              <a:t>log_rtvalue</a:t>
            </a:r>
            <a:r>
              <a:rPr kumimoji="1" lang="en-US" altLang="zh-TW" dirty="0">
                <a:latin typeface="Comic Sans MS" panose="030F0902030302020204" pitchFamily="66" charset="0"/>
                <a:ea typeface="Courier" charset="0"/>
                <a:cs typeface="Courier" charset="0"/>
              </a:rPr>
              <a:t>()</a:t>
            </a:r>
            <a:r>
              <a:rPr kumimoji="1" lang="en-US" altLang="zh-TW" dirty="0">
                <a:latin typeface="Comic Sans MS" panose="030F0902030302020204" pitchFamily="66" charset="0"/>
              </a:rPr>
              <a:t> call = # of RECV instruction in TSIR</a:t>
            </a:r>
            <a:endParaRPr kumimoji="1" lang="zh-TW" altLang="en-US" dirty="0">
              <a:latin typeface="Comic Sans MS" panose="030F0902030302020204" pitchFamily="66" charset="0"/>
            </a:endParaRPr>
          </a:p>
        </p:txBody>
      </p:sp>
      <p:sp>
        <p:nvSpPr>
          <p:cNvPr id="6" name="投影片編號版面配置區 5"/>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15</a:t>
            </a:fld>
            <a:endParaRPr kumimoji="1" lang="zh-TW" altLang="en-US"/>
          </a:p>
        </p:txBody>
      </p:sp>
      <p:pic>
        <p:nvPicPr>
          <p:cNvPr id="7" name="圖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600" y="4257994"/>
            <a:ext cx="9144000" cy="1583055"/>
          </a:xfrm>
          <a:prstGeom prst="rect">
            <a:avLst/>
          </a:prstGeom>
        </p:spPr>
      </p:pic>
      <p:sp>
        <p:nvSpPr>
          <p:cNvPr id="8" name="TextBox 7">
            <a:extLst>
              <a:ext uri="{FF2B5EF4-FFF2-40B4-BE49-F238E27FC236}">
                <a16:creationId xmlns:a16="http://schemas.microsoft.com/office/drawing/2014/main" id="{04078A66-BFE3-4B6C-A7F8-2C4F2A69A193}"/>
              </a:ext>
            </a:extLst>
          </p:cNvPr>
          <p:cNvSpPr txBox="1"/>
          <p:nvPr/>
        </p:nvSpPr>
        <p:spPr>
          <a:xfrm>
            <a:off x="4648200" y="5841049"/>
            <a:ext cx="2056853" cy="307777"/>
          </a:xfrm>
          <a:prstGeom prst="rect">
            <a:avLst/>
          </a:prstGeom>
          <a:noFill/>
        </p:spPr>
        <p:txBody>
          <a:bodyPr wrap="square" rtlCol="0">
            <a:spAutoFit/>
          </a:bodyPr>
          <a:lstStyle/>
          <a:p>
            <a:r>
              <a:rPr lang="en-US" sz="1400" b="1" dirty="0">
                <a:solidFill>
                  <a:srgbClr val="000000"/>
                </a:solidFill>
                <a:latin typeface="Comic Sans MS" panose="030F0902030302020204" pitchFamily="66" charset="0"/>
              </a:rPr>
              <a:t>Fig.: IR optimizations</a:t>
            </a:r>
            <a:endParaRPr lang="en-IN" sz="1400" b="1" dirty="0">
              <a:solidFill>
                <a:srgbClr val="000000"/>
              </a:solidFill>
              <a:latin typeface="Comic Sans MS" panose="030F0902030302020204" pitchFamily="66" charset="0"/>
            </a:endParaRPr>
          </a:p>
        </p:txBody>
      </p:sp>
    </p:spTree>
    <p:extLst>
      <p:ext uri="{BB962C8B-B14F-4D97-AF65-F5344CB8AC3E}">
        <p14:creationId xmlns:p14="http://schemas.microsoft.com/office/powerpoint/2010/main" val="15471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A4FFC-2D4F-485C-B56F-5346BBEBA659}"/>
              </a:ext>
            </a:extLst>
          </p:cNvPr>
          <p:cNvSpPr>
            <a:spLocks noGrp="1"/>
          </p:cNvSpPr>
          <p:nvPr>
            <p:ph type="title"/>
          </p:nvPr>
        </p:nvSpPr>
        <p:spPr>
          <a:xfrm>
            <a:off x="50800" y="0"/>
            <a:ext cx="11430000" cy="1371600"/>
          </a:xfrm>
        </p:spPr>
        <p:txBody>
          <a:bodyPr>
            <a:noAutofit/>
          </a:bodyPr>
          <a:lstStyle/>
          <a:p>
            <a:r>
              <a:rPr lang="en-US" sz="3600" dirty="0">
                <a:latin typeface="Comic Sans MS" panose="030F0902030302020204" pitchFamily="66" charset="0"/>
              </a:rPr>
              <a:t>Example : </a:t>
            </a:r>
            <a:r>
              <a:rPr kumimoji="1" lang="en-US" altLang="zh-TW" sz="3600" dirty="0">
                <a:latin typeface="Comic Sans MS" panose="030F0902030302020204" pitchFamily="66" charset="0"/>
              </a:rPr>
              <a:t>Conditional Instruction </a:t>
            </a:r>
            <a:br>
              <a:rPr kumimoji="1" lang="en-US" altLang="zh-TW" sz="3600" dirty="0">
                <a:latin typeface="Comic Sans MS" panose="030F0902030302020204" pitchFamily="66" charset="0"/>
              </a:rPr>
            </a:br>
            <a:r>
              <a:rPr kumimoji="1" lang="en-US" altLang="zh-TW" sz="3600" dirty="0">
                <a:latin typeface="Comic Sans MS" panose="030F0902030302020204" pitchFamily="66" charset="0"/>
              </a:rPr>
              <a:t>(Compiled with </a:t>
            </a:r>
            <a:r>
              <a:rPr kumimoji="1" lang="mr-IN" altLang="zh-TW" sz="3600" dirty="0">
                <a:latin typeface="Comic Sans MS" panose="030F0902030302020204" pitchFamily="66" charset="0"/>
              </a:rPr>
              <a:t>-</a:t>
            </a:r>
            <a:r>
              <a:rPr kumimoji="1" lang="en-US" altLang="zh-TW" sz="3600" dirty="0">
                <a:latin typeface="Comic Sans MS" panose="030F0902030302020204" pitchFamily="66" charset="0"/>
              </a:rPr>
              <a:t>O2 Option)</a:t>
            </a:r>
            <a:br>
              <a:rPr kumimoji="1" lang="zh-TW" altLang="en-US" sz="3600" dirty="0">
                <a:latin typeface="Comic Sans MS" panose="030F0902030302020204" pitchFamily="66" charset="0"/>
              </a:rPr>
            </a:br>
            <a:endParaRPr lang="en-IN" sz="3600" dirty="0">
              <a:latin typeface="Comic Sans MS" panose="030F0902030302020204" pitchFamily="66" charset="0"/>
            </a:endParaRPr>
          </a:p>
        </p:txBody>
      </p:sp>
      <p:pic>
        <p:nvPicPr>
          <p:cNvPr id="7" name="Picture 6">
            <a:extLst>
              <a:ext uri="{FF2B5EF4-FFF2-40B4-BE49-F238E27FC236}">
                <a16:creationId xmlns:a16="http://schemas.microsoft.com/office/drawing/2014/main" id="{D7B9948F-1C8B-45CD-8C5F-D5C107BE53E3}"/>
              </a:ext>
            </a:extLst>
          </p:cNvPr>
          <p:cNvPicPr>
            <a:picLocks noChangeAspect="1"/>
          </p:cNvPicPr>
          <p:nvPr/>
        </p:nvPicPr>
        <p:blipFill>
          <a:blip r:embed="rId3"/>
          <a:stretch>
            <a:fillRect/>
          </a:stretch>
        </p:blipFill>
        <p:spPr>
          <a:xfrm>
            <a:off x="983933" y="1905000"/>
            <a:ext cx="10651391" cy="3897750"/>
          </a:xfrm>
          <a:prstGeom prst="rect">
            <a:avLst/>
          </a:prstGeom>
        </p:spPr>
      </p:pic>
      <p:sp>
        <p:nvSpPr>
          <p:cNvPr id="8" name="Slide Number Placeholder 7">
            <a:extLst>
              <a:ext uri="{FF2B5EF4-FFF2-40B4-BE49-F238E27FC236}">
                <a16:creationId xmlns:a16="http://schemas.microsoft.com/office/drawing/2014/main" id="{01B67DEA-C211-4F07-B34D-B9C55C6AF78E}"/>
              </a:ext>
            </a:extLst>
          </p:cNvPr>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16</a:t>
            </a:fld>
            <a:endParaRPr lang="en-US" dirty="0"/>
          </a:p>
        </p:txBody>
      </p:sp>
      <p:cxnSp>
        <p:nvCxnSpPr>
          <p:cNvPr id="4" name="Connector: Elbow 3">
            <a:extLst>
              <a:ext uri="{FF2B5EF4-FFF2-40B4-BE49-F238E27FC236}">
                <a16:creationId xmlns:a16="http://schemas.microsoft.com/office/drawing/2014/main" id="{61C066DD-DBA9-450D-840D-5C0D952B4D3B}"/>
              </a:ext>
            </a:extLst>
          </p:cNvPr>
          <p:cNvCxnSpPr/>
          <p:nvPr/>
        </p:nvCxnSpPr>
        <p:spPr>
          <a:xfrm>
            <a:off x="2286000" y="3048000"/>
            <a:ext cx="1219200" cy="6096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Connector: Elbow 5">
            <a:extLst>
              <a:ext uri="{FF2B5EF4-FFF2-40B4-BE49-F238E27FC236}">
                <a16:creationId xmlns:a16="http://schemas.microsoft.com/office/drawing/2014/main" id="{5CB83DC4-54CF-4F9A-9D7C-69868AE8660A}"/>
              </a:ext>
            </a:extLst>
          </p:cNvPr>
          <p:cNvCxnSpPr/>
          <p:nvPr/>
        </p:nvCxnSpPr>
        <p:spPr>
          <a:xfrm>
            <a:off x="6096000" y="4038600"/>
            <a:ext cx="1828800" cy="13716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CF10F16-8A04-4E6E-9660-F283E1D6541F}"/>
              </a:ext>
            </a:extLst>
          </p:cNvPr>
          <p:cNvSpPr txBox="1"/>
          <p:nvPr/>
        </p:nvSpPr>
        <p:spPr>
          <a:xfrm>
            <a:off x="3581400" y="6019800"/>
            <a:ext cx="4648200" cy="307777"/>
          </a:xfrm>
          <a:prstGeom prst="rect">
            <a:avLst/>
          </a:prstGeom>
          <a:noFill/>
        </p:spPr>
        <p:txBody>
          <a:bodyPr wrap="square" rtlCol="0">
            <a:spAutoFit/>
          </a:bodyPr>
          <a:lstStyle/>
          <a:p>
            <a:r>
              <a:rPr lang="en-US" sz="1400" dirty="0">
                <a:latin typeface="Comic Sans MS" panose="030F0902030302020204" pitchFamily="66" charset="0"/>
              </a:rPr>
              <a:t>Conversion From c-&gt;</a:t>
            </a:r>
            <a:r>
              <a:rPr lang="en-US" sz="1400" dirty="0" err="1">
                <a:latin typeface="Comic Sans MS" panose="030F0902030302020204" pitchFamily="66" charset="0"/>
              </a:rPr>
              <a:t>llvm</a:t>
            </a:r>
            <a:r>
              <a:rPr lang="en-US" sz="1400" dirty="0">
                <a:latin typeface="Comic Sans MS" panose="030F0902030302020204" pitchFamily="66" charset="0"/>
              </a:rPr>
              <a:t>-&gt;TSIR</a:t>
            </a:r>
            <a:endParaRPr lang="en-IN" sz="1400" dirty="0">
              <a:latin typeface="Comic Sans MS" panose="030F0902030302020204" pitchFamily="66" charset="0"/>
            </a:endParaRPr>
          </a:p>
        </p:txBody>
      </p:sp>
      <p:sp>
        <p:nvSpPr>
          <p:cNvPr id="10" name="TextBox 9">
            <a:extLst>
              <a:ext uri="{FF2B5EF4-FFF2-40B4-BE49-F238E27FC236}">
                <a16:creationId xmlns:a16="http://schemas.microsoft.com/office/drawing/2014/main" id="{2703685C-504D-454D-B177-D6C3B7BC75E9}"/>
              </a:ext>
            </a:extLst>
          </p:cNvPr>
          <p:cNvSpPr txBox="1"/>
          <p:nvPr/>
        </p:nvSpPr>
        <p:spPr>
          <a:xfrm>
            <a:off x="2057400" y="3319046"/>
            <a:ext cx="1219200" cy="338554"/>
          </a:xfrm>
          <a:prstGeom prst="rect">
            <a:avLst/>
          </a:prstGeom>
          <a:noFill/>
        </p:spPr>
        <p:txBody>
          <a:bodyPr wrap="square" rtlCol="0">
            <a:spAutoFit/>
          </a:bodyPr>
          <a:lstStyle/>
          <a:p>
            <a:r>
              <a:rPr lang="en-US" sz="1600" dirty="0">
                <a:solidFill>
                  <a:srgbClr val="00B0F0"/>
                </a:solidFill>
              </a:rPr>
              <a:t>C-LLVM</a:t>
            </a:r>
            <a:endParaRPr lang="en-IN" sz="1600" dirty="0">
              <a:solidFill>
                <a:srgbClr val="00B0F0"/>
              </a:solidFill>
            </a:endParaRPr>
          </a:p>
        </p:txBody>
      </p:sp>
      <p:sp>
        <p:nvSpPr>
          <p:cNvPr id="11" name="TextBox 10">
            <a:extLst>
              <a:ext uri="{FF2B5EF4-FFF2-40B4-BE49-F238E27FC236}">
                <a16:creationId xmlns:a16="http://schemas.microsoft.com/office/drawing/2014/main" id="{1FE1F7D9-4F13-43A1-8F3D-165BAF4EC825}"/>
              </a:ext>
            </a:extLst>
          </p:cNvPr>
          <p:cNvSpPr txBox="1"/>
          <p:nvPr/>
        </p:nvSpPr>
        <p:spPr>
          <a:xfrm>
            <a:off x="5905500" y="4724400"/>
            <a:ext cx="1219200" cy="338554"/>
          </a:xfrm>
          <a:prstGeom prst="rect">
            <a:avLst/>
          </a:prstGeom>
          <a:noFill/>
        </p:spPr>
        <p:txBody>
          <a:bodyPr wrap="square" rtlCol="0">
            <a:spAutoFit/>
          </a:bodyPr>
          <a:lstStyle/>
          <a:p>
            <a:r>
              <a:rPr lang="en-US" sz="1600" dirty="0">
                <a:solidFill>
                  <a:srgbClr val="00B0F0"/>
                </a:solidFill>
              </a:rPr>
              <a:t>LLVM-TSIR</a:t>
            </a:r>
            <a:endParaRPr lang="en-IN" sz="1600" dirty="0">
              <a:solidFill>
                <a:srgbClr val="00B0F0"/>
              </a:solidFill>
            </a:endParaRPr>
          </a:p>
        </p:txBody>
      </p:sp>
    </p:spTree>
    <p:extLst>
      <p:ext uri="{BB962C8B-B14F-4D97-AF65-F5344CB8AC3E}">
        <p14:creationId xmlns:p14="http://schemas.microsoft.com/office/powerpoint/2010/main" val="3484018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B92EE-53C7-4783-BC2C-E43550D24681}"/>
              </a:ext>
            </a:extLst>
          </p:cNvPr>
          <p:cNvSpPr>
            <a:spLocks noGrp="1"/>
          </p:cNvSpPr>
          <p:nvPr>
            <p:ph type="title"/>
          </p:nvPr>
        </p:nvSpPr>
        <p:spPr>
          <a:xfrm>
            <a:off x="40661" y="228600"/>
            <a:ext cx="10246339" cy="685800"/>
          </a:xfrm>
        </p:spPr>
        <p:txBody>
          <a:bodyPr>
            <a:normAutofit/>
          </a:bodyPr>
          <a:lstStyle/>
          <a:p>
            <a:r>
              <a:rPr lang="en-US" sz="3600" dirty="0"/>
              <a:t>Example: De-</a:t>
            </a:r>
            <a:r>
              <a:rPr lang="en-US" sz="3600" dirty="0" err="1"/>
              <a:t>vectorisation</a:t>
            </a:r>
            <a:endParaRPr lang="en-IN" sz="3600" dirty="0"/>
          </a:p>
        </p:txBody>
      </p:sp>
      <p:pic>
        <p:nvPicPr>
          <p:cNvPr id="5" name="Content Placeholder 4">
            <a:extLst>
              <a:ext uri="{FF2B5EF4-FFF2-40B4-BE49-F238E27FC236}">
                <a16:creationId xmlns:a16="http://schemas.microsoft.com/office/drawing/2014/main" id="{27D46B92-CB63-420C-A892-9BE59F66D92D}"/>
              </a:ext>
            </a:extLst>
          </p:cNvPr>
          <p:cNvPicPr>
            <a:picLocks noGrp="1" noChangeAspect="1"/>
          </p:cNvPicPr>
          <p:nvPr>
            <p:ph idx="1"/>
          </p:nvPr>
        </p:nvPicPr>
        <p:blipFill>
          <a:blip r:embed="rId3"/>
          <a:stretch>
            <a:fillRect/>
          </a:stretch>
        </p:blipFill>
        <p:spPr>
          <a:xfrm>
            <a:off x="1220724" y="2590800"/>
            <a:ext cx="9750552" cy="2574829"/>
          </a:xfrm>
        </p:spPr>
      </p:pic>
      <p:sp>
        <p:nvSpPr>
          <p:cNvPr id="6" name="Slide Number Placeholder 5">
            <a:extLst>
              <a:ext uri="{FF2B5EF4-FFF2-40B4-BE49-F238E27FC236}">
                <a16:creationId xmlns:a16="http://schemas.microsoft.com/office/drawing/2014/main" id="{70394F69-3F61-490E-BF56-96DA6EDF0F65}"/>
              </a:ext>
            </a:extLst>
          </p:cNvPr>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17</a:t>
            </a:fld>
            <a:endParaRPr lang="en-US" dirty="0"/>
          </a:p>
        </p:txBody>
      </p:sp>
      <p:cxnSp>
        <p:nvCxnSpPr>
          <p:cNvPr id="9" name="Connector: Curved 8">
            <a:extLst>
              <a:ext uri="{FF2B5EF4-FFF2-40B4-BE49-F238E27FC236}">
                <a16:creationId xmlns:a16="http://schemas.microsoft.com/office/drawing/2014/main" id="{299E9C98-F2CE-4663-AC12-9833BFB6CECE}"/>
              </a:ext>
            </a:extLst>
          </p:cNvPr>
          <p:cNvCxnSpPr/>
          <p:nvPr/>
        </p:nvCxnSpPr>
        <p:spPr>
          <a:xfrm>
            <a:off x="3886200" y="3048000"/>
            <a:ext cx="2362200" cy="127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or: Curved 10">
            <a:extLst>
              <a:ext uri="{FF2B5EF4-FFF2-40B4-BE49-F238E27FC236}">
                <a16:creationId xmlns:a16="http://schemas.microsoft.com/office/drawing/2014/main" id="{2383BF8B-07ED-4E0C-A5C7-6FA5D4F5CE61}"/>
              </a:ext>
            </a:extLst>
          </p:cNvPr>
          <p:cNvCxnSpPr/>
          <p:nvPr/>
        </p:nvCxnSpPr>
        <p:spPr>
          <a:xfrm flipV="1">
            <a:off x="3886200" y="3581400"/>
            <a:ext cx="2362200" cy="3810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5194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6200" y="280525"/>
            <a:ext cx="12115800" cy="641963"/>
          </a:xfrm>
        </p:spPr>
        <p:txBody>
          <a:bodyPr>
            <a:normAutofit/>
          </a:bodyPr>
          <a:lstStyle/>
          <a:p>
            <a:r>
              <a:rPr kumimoji="1" lang="en-US" altLang="zh-TW" sz="3600" dirty="0"/>
              <a:t>Extraction - Translator and TSIR Optimizations</a:t>
            </a:r>
            <a:endParaRPr kumimoji="1" lang="zh-TW" altLang="en-US" sz="3600" dirty="0"/>
          </a:p>
        </p:txBody>
      </p:sp>
      <p:sp>
        <p:nvSpPr>
          <p:cNvPr id="3" name="內容版面配置區 2"/>
          <p:cNvSpPr>
            <a:spLocks noGrp="1"/>
          </p:cNvSpPr>
          <p:nvPr>
            <p:ph idx="1"/>
          </p:nvPr>
        </p:nvSpPr>
        <p:spPr>
          <a:xfrm>
            <a:off x="533400" y="2025037"/>
            <a:ext cx="8686800" cy="1661993"/>
          </a:xfrm>
        </p:spPr>
        <p:txBody>
          <a:bodyPr/>
          <a:lstStyle/>
          <a:p>
            <a:pPr marL="342900" indent="-342900">
              <a:buFont typeface="Wingdings" pitchFamily="2" charset="2"/>
              <a:buChar char="ü"/>
            </a:pPr>
            <a:r>
              <a:rPr kumimoji="1" lang="en-US" altLang="zh-TW" sz="1800" dirty="0">
                <a:solidFill>
                  <a:srgbClr val="00B0F0"/>
                </a:solidFill>
                <a:latin typeface="Comic Sans MS" panose="030F0902030302020204" pitchFamily="66" charset="0"/>
              </a:rPr>
              <a:t>Buffer: atomic unit</a:t>
            </a:r>
          </a:p>
          <a:p>
            <a:pPr marL="800100" lvl="1" indent="-342900">
              <a:buFont typeface="Wingdings" pitchFamily="2" charset="2"/>
              <a:buChar char="ü"/>
            </a:pPr>
            <a:r>
              <a:rPr kumimoji="1" lang="en-US" altLang="zh-TW" dirty="0">
                <a:latin typeface="Comic Sans MS" panose="030F0902030302020204" pitchFamily="66" charset="0"/>
              </a:rPr>
              <a:t>integer array which is larger than threshold size (e.g., 128 bytes)</a:t>
            </a:r>
            <a:endParaRPr kumimoji="1" lang="en-US" altLang="zh-TW" baseline="-25000" dirty="0">
              <a:latin typeface="Comic Sans MS" panose="030F0902030302020204" pitchFamily="66" charset="0"/>
              <a:sym typeface="Wingdings"/>
            </a:endParaRPr>
          </a:p>
          <a:p>
            <a:pPr marL="800100" lvl="1" indent="-342900">
              <a:buFont typeface="Wingdings" pitchFamily="2" charset="2"/>
              <a:buChar char="ü"/>
            </a:pPr>
            <a:r>
              <a:rPr kumimoji="1" lang="en-US" altLang="zh-TW" dirty="0">
                <a:latin typeface="Comic Sans MS" panose="030F0902030302020204" pitchFamily="66" charset="0"/>
                <a:ea typeface="Courier" charset="0"/>
                <a:cs typeface="Courier" charset="0"/>
              </a:rPr>
              <a:t>char </a:t>
            </a:r>
            <a:r>
              <a:rPr kumimoji="1" lang="en-US" altLang="zh-TW" dirty="0" err="1">
                <a:latin typeface="Comic Sans MS" panose="030F0902030302020204" pitchFamily="66" charset="0"/>
                <a:ea typeface="Courier" charset="0"/>
                <a:cs typeface="Courier" charset="0"/>
              </a:rPr>
              <a:t>buf</a:t>
            </a:r>
            <a:r>
              <a:rPr kumimoji="1" lang="en-US" altLang="zh-TW" dirty="0">
                <a:latin typeface="Comic Sans MS" panose="030F0902030302020204" pitchFamily="66" charset="0"/>
                <a:ea typeface="Courier" charset="0"/>
                <a:cs typeface="Courier" charset="0"/>
              </a:rPr>
              <a:t>[512]</a:t>
            </a:r>
            <a:r>
              <a:rPr kumimoji="1" lang="en-US" altLang="zh-TW" dirty="0">
                <a:latin typeface="Comic Sans MS" panose="030F0902030302020204" pitchFamily="66" charset="0"/>
              </a:rPr>
              <a:t> </a:t>
            </a:r>
            <a:r>
              <a:rPr kumimoji="1" lang="en-US" altLang="zh-TW" dirty="0">
                <a:latin typeface="Comic Sans MS" panose="030F0902030302020204" pitchFamily="66" charset="0"/>
                <a:sym typeface="Wingdings"/>
              </a:rPr>
              <a:t> </a:t>
            </a:r>
            <a:r>
              <a:rPr kumimoji="1" lang="en-US" altLang="zh-TW" dirty="0">
                <a:latin typeface="Comic Sans MS" panose="030F0902030302020204" pitchFamily="66" charset="0"/>
                <a:ea typeface="Courier" charset="0"/>
                <a:cs typeface="Courier" charset="0"/>
                <a:sym typeface="Wingdings"/>
              </a:rPr>
              <a:t>[512 x i8]</a:t>
            </a:r>
            <a:r>
              <a:rPr kumimoji="1" lang="en-US" altLang="zh-TW" dirty="0">
                <a:latin typeface="Comic Sans MS" panose="030F0902030302020204" pitchFamily="66" charset="0"/>
              </a:rPr>
              <a:t> </a:t>
            </a:r>
            <a:r>
              <a:rPr kumimoji="1" lang="en-US" altLang="zh-TW" dirty="0">
                <a:latin typeface="Comic Sans MS" panose="030F0902030302020204" pitchFamily="66" charset="0"/>
                <a:sym typeface="Wingdings"/>
              </a:rPr>
              <a:t> atomic unit</a:t>
            </a:r>
          </a:p>
          <a:p>
            <a:pPr marL="800100" lvl="1" indent="-342900">
              <a:buFont typeface="Wingdings" pitchFamily="2" charset="2"/>
              <a:buChar char="ü"/>
            </a:pPr>
            <a:r>
              <a:rPr kumimoji="1" lang="en-US" altLang="zh-TW" dirty="0" err="1">
                <a:latin typeface="Comic Sans MS" panose="030F0902030302020204" pitchFamily="66" charset="0"/>
                <a:ea typeface="Courier" charset="0"/>
                <a:cs typeface="Courier" charset="0"/>
                <a:sym typeface="Wingdings"/>
              </a:rPr>
              <a:t>buf</a:t>
            </a:r>
            <a:r>
              <a:rPr kumimoji="1" lang="en-US" altLang="zh-TW" dirty="0">
                <a:latin typeface="Comic Sans MS" panose="030F0902030302020204" pitchFamily="66" charset="0"/>
                <a:ea typeface="Courier" charset="0"/>
                <a:cs typeface="Courier" charset="0"/>
                <a:sym typeface="Wingdings"/>
              </a:rPr>
              <a:t>[</a:t>
            </a:r>
            <a:r>
              <a:rPr kumimoji="1" lang="en-US" altLang="zh-TW" dirty="0" err="1">
                <a:latin typeface="Comic Sans MS" panose="030F0902030302020204" pitchFamily="66" charset="0"/>
                <a:ea typeface="Courier" charset="0"/>
                <a:cs typeface="Courier" charset="0"/>
                <a:sym typeface="Wingdings"/>
              </a:rPr>
              <a:t>i</a:t>
            </a:r>
            <a:r>
              <a:rPr kumimoji="1" lang="en-US" altLang="zh-TW" dirty="0">
                <a:latin typeface="Comic Sans MS" panose="030F0902030302020204" pitchFamily="66" charset="0"/>
                <a:ea typeface="Courier" charset="0"/>
                <a:cs typeface="Courier" charset="0"/>
                <a:sym typeface="Wingdings"/>
              </a:rPr>
              <a:t>] = secret</a:t>
            </a:r>
            <a:r>
              <a:rPr kumimoji="1" lang="en-US" altLang="zh-TW" dirty="0">
                <a:latin typeface="Comic Sans MS" panose="030F0902030302020204" pitchFamily="66" charset="0"/>
              </a:rPr>
              <a:t> </a:t>
            </a:r>
            <a:r>
              <a:rPr kumimoji="1" lang="en-US" altLang="zh-TW" dirty="0">
                <a:latin typeface="Comic Sans MS" panose="030F0902030302020204" pitchFamily="66" charset="0"/>
                <a:sym typeface="Wingdings"/>
              </a:rPr>
              <a:t> taint the entire variable</a:t>
            </a:r>
          </a:p>
          <a:p>
            <a:pPr marL="342900" indent="-342900">
              <a:buFont typeface="Wingdings" pitchFamily="2" charset="2"/>
              <a:buChar char="ü"/>
            </a:pPr>
            <a:r>
              <a:rPr kumimoji="1" lang="en-US" altLang="zh-TW" sz="1800" dirty="0">
                <a:solidFill>
                  <a:srgbClr val="00B0F0"/>
                </a:solidFill>
                <a:latin typeface="Comic Sans MS" panose="030F0902030302020204" pitchFamily="66" charset="0"/>
                <a:sym typeface="Wingdings"/>
              </a:rPr>
              <a:t>Log Level</a:t>
            </a:r>
          </a:p>
          <a:p>
            <a:pPr marL="800100" lvl="1" indent="-342900">
              <a:buFont typeface="Wingdings" pitchFamily="2" charset="2"/>
              <a:buChar char="ü"/>
            </a:pPr>
            <a:r>
              <a:rPr kumimoji="1" lang="en-US" altLang="zh-TW" dirty="0">
                <a:latin typeface="Comic Sans MS" panose="030F0902030302020204" pitchFamily="66" charset="0"/>
                <a:sym typeface="Wingdings"/>
              </a:rPr>
              <a:t>runtime value logging: </a:t>
            </a:r>
            <a:r>
              <a:rPr kumimoji="1" lang="en-US" altLang="zh-TW" dirty="0">
                <a:latin typeface="Comic Sans MS" panose="030F0902030302020204" pitchFamily="66" charset="0"/>
                <a:ea typeface="Courier" charset="0"/>
                <a:cs typeface="Courier" charset="0"/>
                <a:sym typeface="Wingdings"/>
              </a:rPr>
              <a:t>select</a:t>
            </a:r>
            <a:r>
              <a:rPr kumimoji="1" lang="en-US" altLang="zh-TW" dirty="0">
                <a:latin typeface="Comic Sans MS" panose="030F0902030302020204" pitchFamily="66" charset="0"/>
                <a:sym typeface="Wingdings"/>
              </a:rPr>
              <a:t> &amp; </a:t>
            </a:r>
            <a:r>
              <a:rPr kumimoji="1" lang="en-US" altLang="zh-TW" dirty="0" err="1">
                <a:latin typeface="Comic Sans MS" panose="030F0902030302020204" pitchFamily="66" charset="0"/>
                <a:ea typeface="Courier" charset="0"/>
                <a:cs typeface="Courier" charset="0"/>
                <a:sym typeface="Wingdings"/>
              </a:rPr>
              <a:t>getelementptr</a:t>
            </a:r>
            <a:endParaRPr kumimoji="1" lang="zh-TW" altLang="en-US" dirty="0">
              <a:latin typeface="Comic Sans MS" panose="030F0902030302020204" pitchFamily="66" charset="0"/>
              <a:ea typeface="Courier" charset="0"/>
              <a:cs typeface="Courier" charset="0"/>
            </a:endParaRPr>
          </a:p>
        </p:txBody>
      </p:sp>
      <p:sp>
        <p:nvSpPr>
          <p:cNvPr id="6" name="投影片編號版面配置區 5"/>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18</a:t>
            </a:fld>
            <a:endParaRPr kumimoji="1" lang="zh-TW" altLang="en-US"/>
          </a:p>
        </p:txBody>
      </p:sp>
      <p:pic>
        <p:nvPicPr>
          <p:cNvPr id="5" name="圖片 3">
            <a:extLst>
              <a:ext uri="{FF2B5EF4-FFF2-40B4-BE49-F238E27FC236}">
                <a16:creationId xmlns:a16="http://schemas.microsoft.com/office/drawing/2014/main" id="{7B714CB0-8490-42CB-820D-9B9DD595D1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0" y="4648200"/>
            <a:ext cx="4310122" cy="1505122"/>
          </a:xfrm>
          <a:prstGeom prst="rect">
            <a:avLst/>
          </a:prstGeom>
        </p:spPr>
      </p:pic>
      <p:sp>
        <p:nvSpPr>
          <p:cNvPr id="7" name="TextBox 6">
            <a:extLst>
              <a:ext uri="{FF2B5EF4-FFF2-40B4-BE49-F238E27FC236}">
                <a16:creationId xmlns:a16="http://schemas.microsoft.com/office/drawing/2014/main" id="{129E1232-BA6C-492D-ABBC-13838DB8337F}"/>
              </a:ext>
            </a:extLst>
          </p:cNvPr>
          <p:cNvSpPr txBox="1"/>
          <p:nvPr/>
        </p:nvSpPr>
        <p:spPr>
          <a:xfrm>
            <a:off x="7543800" y="4328896"/>
            <a:ext cx="3124200" cy="307777"/>
          </a:xfrm>
          <a:prstGeom prst="rect">
            <a:avLst/>
          </a:prstGeom>
          <a:noFill/>
        </p:spPr>
        <p:txBody>
          <a:bodyPr wrap="square">
            <a:spAutoFit/>
          </a:bodyPr>
          <a:lstStyle/>
          <a:p>
            <a:r>
              <a:rPr lang="en-IN" sz="1400" b="1" dirty="0">
                <a:solidFill>
                  <a:srgbClr val="000000"/>
                </a:solidFill>
                <a:latin typeface="Comic Sans MS" panose="030F0902030302020204" pitchFamily="66" charset="0"/>
              </a:rPr>
              <a:t>Table: </a:t>
            </a:r>
            <a:r>
              <a:rPr lang="en-IN" sz="1400" b="1" i="0" dirty="0">
                <a:solidFill>
                  <a:srgbClr val="000000"/>
                </a:solidFill>
                <a:effectLst/>
                <a:latin typeface="Comic Sans MS" panose="030F0902030302020204" pitchFamily="66" charset="0"/>
              </a:rPr>
              <a:t>Runtime Logging Levels</a:t>
            </a:r>
            <a:r>
              <a:rPr lang="en-IN" sz="1400" b="1" dirty="0">
                <a:latin typeface="Comic Sans MS" panose="030F0902030302020204" pitchFamily="66" charset="0"/>
              </a:rPr>
              <a:t> </a:t>
            </a:r>
          </a:p>
        </p:txBody>
      </p:sp>
    </p:spTree>
    <p:extLst>
      <p:ext uri="{BB962C8B-B14F-4D97-AF65-F5344CB8AC3E}">
        <p14:creationId xmlns:p14="http://schemas.microsoft.com/office/powerpoint/2010/main" val="1325151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橢圓 1"/>
          <p:cNvSpPr/>
          <p:nvPr/>
        </p:nvSpPr>
        <p:spPr>
          <a:xfrm>
            <a:off x="1767874" y="4765136"/>
            <a:ext cx="1390041" cy="690434"/>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a:t>
            </a:r>
          </a:p>
          <a:p>
            <a:pPr algn="ctr"/>
            <a:r>
              <a:rPr kumimoji="1" lang="en-US" altLang="zh-TW" sz="900" dirty="0">
                <a:solidFill>
                  <a:schemeClr val="tx1"/>
                </a:solidFill>
                <a:latin typeface="CMU Serif Roman" charset="0"/>
                <a:ea typeface="CMU Serif Roman" charset="0"/>
                <a:cs typeface="CMU Serif Roman" charset="0"/>
              </a:rPr>
              <a:t>of</a:t>
            </a:r>
          </a:p>
          <a:p>
            <a:pPr algn="ctr"/>
            <a:r>
              <a:rPr kumimoji="1" lang="en-US" altLang="zh-TW" sz="900" dirty="0">
                <a:solidFill>
                  <a:schemeClr val="tx1"/>
                </a:solidFill>
                <a:latin typeface="CMU Serif Roman" charset="0"/>
                <a:ea typeface="CMU Serif Roman" charset="0"/>
                <a:cs typeface="CMU Serif Roman" charset="0"/>
              </a:rPr>
              <a:t>Target Program</a:t>
            </a:r>
          </a:p>
        </p:txBody>
      </p:sp>
      <p:sp>
        <p:nvSpPr>
          <p:cNvPr id="3" name="矩形 2"/>
          <p:cNvSpPr/>
          <p:nvPr/>
        </p:nvSpPr>
        <p:spPr>
          <a:xfrm>
            <a:off x="1896801" y="2966883"/>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Extraction</a:t>
            </a:r>
          </a:p>
        </p:txBody>
      </p:sp>
      <p:sp>
        <p:nvSpPr>
          <p:cNvPr id="5" name="橢圓 4"/>
          <p:cNvSpPr/>
          <p:nvPr/>
        </p:nvSpPr>
        <p:spPr>
          <a:xfrm>
            <a:off x="4837891" y="2559106"/>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Instrumented</a:t>
            </a:r>
          </a:p>
          <a:p>
            <a:pPr algn="ctr"/>
            <a:r>
              <a:rPr kumimoji="1" lang="en-US" altLang="zh-TW" sz="900" dirty="0">
                <a:solidFill>
                  <a:schemeClr val="tx1"/>
                </a:solidFill>
                <a:latin typeface="CMU Serif Roman" charset="0"/>
                <a:ea typeface="CMU Serif Roman" charset="0"/>
                <a:cs typeface="CMU Serif Roman" charset="0"/>
              </a:rPr>
              <a:t>LLVM IR</a:t>
            </a:r>
          </a:p>
        </p:txBody>
      </p:sp>
      <p:sp>
        <p:nvSpPr>
          <p:cNvPr id="6" name="橢圓 5"/>
          <p:cNvSpPr/>
          <p:nvPr/>
        </p:nvSpPr>
        <p:spPr>
          <a:xfrm>
            <a:off x="4837891" y="3732129"/>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Intermediate Representation</a:t>
            </a:r>
          </a:p>
        </p:txBody>
      </p:sp>
      <p:sp>
        <p:nvSpPr>
          <p:cNvPr id="7" name="矩形 6"/>
          <p:cNvSpPr/>
          <p:nvPr/>
        </p:nvSpPr>
        <p:spPr>
          <a:xfrm>
            <a:off x="8124010" y="3147666"/>
            <a:ext cx="987334"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Replay</a:t>
            </a:r>
          </a:p>
        </p:txBody>
      </p:sp>
      <p:sp>
        <p:nvSpPr>
          <p:cNvPr id="8" name="矩形 7"/>
          <p:cNvSpPr/>
          <p:nvPr/>
        </p:nvSpPr>
        <p:spPr>
          <a:xfrm>
            <a:off x="3453056" y="2559107"/>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 Instrumentation</a:t>
            </a:r>
          </a:p>
        </p:txBody>
      </p:sp>
      <p:cxnSp>
        <p:nvCxnSpPr>
          <p:cNvPr id="27" name="肘形接點 26"/>
          <p:cNvCxnSpPr>
            <a:stCxn id="3" idx="3"/>
            <a:endCxn id="8" idx="1"/>
          </p:cNvCxnSpPr>
          <p:nvPr/>
        </p:nvCxnSpPr>
        <p:spPr>
          <a:xfrm flipV="1">
            <a:off x="3028987" y="2883472"/>
            <a:ext cx="424068" cy="40777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1" name="肘形接點 30"/>
          <p:cNvCxnSpPr>
            <a:stCxn id="8" idx="3"/>
            <a:endCxn id="5" idx="2"/>
          </p:cNvCxnSpPr>
          <p:nvPr/>
        </p:nvCxnSpPr>
        <p:spPr>
          <a:xfrm flipV="1">
            <a:off x="4585242" y="2883472"/>
            <a:ext cx="252650" cy="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9" name="直線接點 38"/>
          <p:cNvCxnSpPr/>
          <p:nvPr/>
        </p:nvCxnSpPr>
        <p:spPr>
          <a:xfrm>
            <a:off x="6504926" y="1025509"/>
            <a:ext cx="0" cy="4765673"/>
          </a:xfrm>
          <a:prstGeom prst="line">
            <a:avLst/>
          </a:prstGeom>
          <a:ln>
            <a:solidFill>
              <a:schemeClr val="bg2">
                <a:lumMod val="50000"/>
              </a:schemeClr>
            </a:solidFill>
            <a:prstDash val="sysDot"/>
          </a:ln>
        </p:spPr>
        <p:style>
          <a:lnRef idx="1">
            <a:schemeClr val="dk1"/>
          </a:lnRef>
          <a:fillRef idx="0">
            <a:schemeClr val="dk1"/>
          </a:fillRef>
          <a:effectRef idx="0">
            <a:schemeClr val="dk1"/>
          </a:effectRef>
          <a:fontRef idx="minor">
            <a:schemeClr val="tx1"/>
          </a:fontRef>
        </p:style>
      </p:cxnSp>
      <p:sp>
        <p:nvSpPr>
          <p:cNvPr id="40" name="文字方塊 39"/>
          <p:cNvSpPr txBox="1"/>
          <p:nvPr/>
        </p:nvSpPr>
        <p:spPr>
          <a:xfrm>
            <a:off x="3557164" y="1040345"/>
            <a:ext cx="1116011"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Extraction Phase</a:t>
            </a:r>
            <a:endParaRPr kumimoji="1" lang="zh-TW" altLang="en-US" sz="1050" b="1" dirty="0">
              <a:latin typeface="CMU Serif Roman" charset="0"/>
              <a:ea typeface="CMU Serif Roman" charset="0"/>
              <a:cs typeface="CMU Serif Roman" charset="0"/>
            </a:endParaRPr>
          </a:p>
        </p:txBody>
      </p:sp>
      <p:sp>
        <p:nvSpPr>
          <p:cNvPr id="41" name="文字方塊 40"/>
          <p:cNvSpPr txBox="1"/>
          <p:nvPr/>
        </p:nvSpPr>
        <p:spPr>
          <a:xfrm>
            <a:off x="6775722" y="1040345"/>
            <a:ext cx="938077" cy="253916"/>
          </a:xfrm>
          <a:prstGeom prst="rect">
            <a:avLst/>
          </a:prstGeom>
          <a:noFill/>
        </p:spPr>
        <p:txBody>
          <a:bodyPr wrap="none" rtlCol="0">
            <a:spAutoFit/>
          </a:bodyPr>
          <a:lstStyle/>
          <a:p>
            <a:r>
              <a:rPr kumimoji="1" lang="en-US" altLang="zh-TW" sz="1050" b="1" dirty="0">
                <a:solidFill>
                  <a:srgbClr val="FF0000"/>
                </a:solidFill>
                <a:latin typeface="CMU Serif Roman" charset="0"/>
                <a:ea typeface="CMU Serif Roman" charset="0"/>
                <a:cs typeface="CMU Serif Roman" charset="0"/>
              </a:rPr>
              <a:t>Record Phase</a:t>
            </a:r>
            <a:endParaRPr kumimoji="1" lang="zh-TW" altLang="en-US" sz="1050" b="1" dirty="0">
              <a:solidFill>
                <a:srgbClr val="FF0000"/>
              </a:solidFill>
              <a:latin typeface="CMU Serif Roman" charset="0"/>
              <a:ea typeface="CMU Serif Roman" charset="0"/>
              <a:cs typeface="CMU Serif Roman" charset="0"/>
            </a:endParaRPr>
          </a:p>
        </p:txBody>
      </p:sp>
      <p:sp>
        <p:nvSpPr>
          <p:cNvPr id="42" name="文字方塊 41"/>
          <p:cNvSpPr txBox="1"/>
          <p:nvPr/>
        </p:nvSpPr>
        <p:spPr>
          <a:xfrm>
            <a:off x="8845043" y="1038668"/>
            <a:ext cx="925253"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Replay Phase</a:t>
            </a:r>
            <a:endParaRPr kumimoji="1" lang="zh-TW" altLang="en-US" sz="1050" b="1" dirty="0">
              <a:latin typeface="CMU Serif Roman" charset="0"/>
              <a:ea typeface="CMU Serif Roman" charset="0"/>
              <a:cs typeface="CMU Serif Roman" charset="0"/>
            </a:endParaRPr>
          </a:p>
        </p:txBody>
      </p:sp>
      <p:sp>
        <p:nvSpPr>
          <p:cNvPr id="30" name="橢圓 29"/>
          <p:cNvSpPr/>
          <p:nvPr/>
        </p:nvSpPr>
        <p:spPr>
          <a:xfrm>
            <a:off x="4837891" y="1771257"/>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Information Flow Tracking Runtime Library</a:t>
            </a:r>
          </a:p>
        </p:txBody>
      </p:sp>
      <p:sp>
        <p:nvSpPr>
          <p:cNvPr id="44" name="矩形 43"/>
          <p:cNvSpPr/>
          <p:nvPr/>
        </p:nvSpPr>
        <p:spPr>
          <a:xfrm>
            <a:off x="3453056" y="3732129"/>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 to TSIR</a:t>
            </a:r>
          </a:p>
          <a:p>
            <a:pPr algn="ctr"/>
            <a:r>
              <a:rPr kumimoji="1" lang="en-US" altLang="zh-TW" sz="900" dirty="0">
                <a:solidFill>
                  <a:schemeClr val="tx1"/>
                </a:solidFill>
                <a:latin typeface="CMU Serif Roman" charset="0"/>
                <a:ea typeface="CMU Serif Roman" charset="0"/>
                <a:cs typeface="CMU Serif Roman" charset="0"/>
              </a:rPr>
              <a:t>Translation</a:t>
            </a:r>
          </a:p>
        </p:txBody>
      </p:sp>
      <p:cxnSp>
        <p:nvCxnSpPr>
          <p:cNvPr id="46" name="肘形接點 45"/>
          <p:cNvCxnSpPr>
            <a:stCxn id="3" idx="3"/>
            <a:endCxn id="44" idx="1"/>
          </p:cNvCxnSpPr>
          <p:nvPr/>
        </p:nvCxnSpPr>
        <p:spPr>
          <a:xfrm>
            <a:off x="3028987" y="3291249"/>
            <a:ext cx="424068" cy="76524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2" name="直線箭頭接點 51"/>
          <p:cNvCxnSpPr>
            <a:stCxn id="44" idx="3"/>
            <a:endCxn id="6" idx="2"/>
          </p:cNvCxnSpPr>
          <p:nvPr/>
        </p:nvCxnSpPr>
        <p:spPr>
          <a:xfrm>
            <a:off x="4585242" y="4056494"/>
            <a:ext cx="2526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橢圓 52"/>
          <p:cNvSpPr/>
          <p:nvPr/>
        </p:nvSpPr>
        <p:spPr>
          <a:xfrm>
            <a:off x="6664604" y="2200563"/>
            <a:ext cx="1208190" cy="648730"/>
          </a:xfrm>
          <a:prstGeom prst="ellipse">
            <a:avLst/>
          </a:prstGeom>
          <a:solidFill>
            <a:schemeClr val="accent4">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Instrumented Target Program</a:t>
            </a:r>
          </a:p>
        </p:txBody>
      </p:sp>
      <p:cxnSp>
        <p:nvCxnSpPr>
          <p:cNvPr id="58" name="肘形接點 57"/>
          <p:cNvCxnSpPr>
            <a:stCxn id="30" idx="6"/>
            <a:endCxn id="53" idx="2"/>
          </p:cNvCxnSpPr>
          <p:nvPr/>
        </p:nvCxnSpPr>
        <p:spPr>
          <a:xfrm>
            <a:off x="6334858" y="2095624"/>
            <a:ext cx="329747" cy="42930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0" name="肘形接點 59"/>
          <p:cNvCxnSpPr>
            <a:stCxn id="5" idx="6"/>
            <a:endCxn id="53" idx="2"/>
          </p:cNvCxnSpPr>
          <p:nvPr/>
        </p:nvCxnSpPr>
        <p:spPr>
          <a:xfrm flipV="1">
            <a:off x="6334858" y="2524927"/>
            <a:ext cx="329747" cy="35854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線箭頭接點 61"/>
          <p:cNvCxnSpPr>
            <a:stCxn id="2" idx="0"/>
            <a:endCxn id="3" idx="2"/>
          </p:cNvCxnSpPr>
          <p:nvPr/>
        </p:nvCxnSpPr>
        <p:spPr>
          <a:xfrm flipV="1">
            <a:off x="2462894" y="3615612"/>
            <a:ext cx="0" cy="11495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矩形 67"/>
          <p:cNvSpPr/>
          <p:nvPr/>
        </p:nvSpPr>
        <p:spPr>
          <a:xfrm>
            <a:off x="1767874" y="2419987"/>
            <a:ext cx="2943693" cy="2109224"/>
          </a:xfrm>
          <a:prstGeom prst="rect">
            <a:avLst/>
          </a:prstGeom>
          <a:noFill/>
          <a:ln>
            <a:solidFill>
              <a:srgbClr val="767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sp>
        <p:nvSpPr>
          <p:cNvPr id="69" name="文字方塊 68"/>
          <p:cNvSpPr txBox="1"/>
          <p:nvPr/>
        </p:nvSpPr>
        <p:spPr>
          <a:xfrm>
            <a:off x="1747092" y="2198150"/>
            <a:ext cx="888385" cy="2308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TSIR Translator</a:t>
            </a:r>
            <a:endParaRPr kumimoji="1" lang="zh-TW" altLang="en-US" sz="900" dirty="0">
              <a:latin typeface="CMU Serif Roman" charset="0"/>
              <a:ea typeface="CMU Serif Roman" charset="0"/>
              <a:cs typeface="CMU Serif Roman" charset="0"/>
            </a:endParaRPr>
          </a:p>
        </p:txBody>
      </p:sp>
      <p:sp>
        <p:nvSpPr>
          <p:cNvPr id="71" name="矩形 70"/>
          <p:cNvSpPr/>
          <p:nvPr/>
        </p:nvSpPr>
        <p:spPr>
          <a:xfrm>
            <a:off x="9197285" y="3147666"/>
            <a:ext cx="987334"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Request Handling</a:t>
            </a:r>
          </a:p>
        </p:txBody>
      </p:sp>
      <p:cxnSp>
        <p:nvCxnSpPr>
          <p:cNvPr id="73" name="肘形接點 72"/>
          <p:cNvCxnSpPr>
            <a:stCxn id="53" idx="6"/>
            <a:endCxn id="7" idx="0"/>
          </p:cNvCxnSpPr>
          <p:nvPr/>
        </p:nvCxnSpPr>
        <p:spPr>
          <a:xfrm>
            <a:off x="7872793" y="2524928"/>
            <a:ext cx="744884" cy="622738"/>
          </a:xfrm>
          <a:prstGeom prst="bentConnector2">
            <a:avLst/>
          </a:prstGeom>
          <a:ln w="28575">
            <a:solidFill>
              <a:srgbClr val="FF0000"/>
            </a:solidFill>
            <a:prstDash val="solid"/>
            <a:tailEnd type="triangle"/>
          </a:ln>
        </p:spPr>
        <p:style>
          <a:lnRef idx="1">
            <a:schemeClr val="dk1"/>
          </a:lnRef>
          <a:fillRef idx="0">
            <a:schemeClr val="dk1"/>
          </a:fillRef>
          <a:effectRef idx="0">
            <a:schemeClr val="dk1"/>
          </a:effectRef>
          <a:fontRef idx="minor">
            <a:schemeClr val="tx1"/>
          </a:fontRef>
        </p:style>
      </p:cxnSp>
      <p:cxnSp>
        <p:nvCxnSpPr>
          <p:cNvPr id="75" name="肘形接點 74"/>
          <p:cNvCxnSpPr>
            <a:stCxn id="53" idx="6"/>
            <a:endCxn id="71" idx="0"/>
          </p:cNvCxnSpPr>
          <p:nvPr/>
        </p:nvCxnSpPr>
        <p:spPr>
          <a:xfrm>
            <a:off x="7872794" y="2524928"/>
            <a:ext cx="1818158" cy="622738"/>
          </a:xfrm>
          <a:prstGeom prst="bentConnector2">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77" name="肘形接點 76"/>
          <p:cNvCxnSpPr>
            <a:stCxn id="6" idx="6"/>
            <a:endCxn id="7" idx="1"/>
          </p:cNvCxnSpPr>
          <p:nvPr/>
        </p:nvCxnSpPr>
        <p:spPr>
          <a:xfrm flipV="1">
            <a:off x="6334858" y="3472031"/>
            <a:ext cx="1789153" cy="58446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78" name="矩形 77"/>
          <p:cNvSpPr/>
          <p:nvPr/>
        </p:nvSpPr>
        <p:spPr>
          <a:xfrm>
            <a:off x="7989323" y="3028949"/>
            <a:ext cx="2314991" cy="872837"/>
          </a:xfrm>
          <a:prstGeom prst="rect">
            <a:avLst/>
          </a:prstGeom>
          <a:noFill/>
          <a:ln>
            <a:solidFill>
              <a:srgbClr val="767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sp>
        <p:nvSpPr>
          <p:cNvPr id="79" name="文字方塊 78"/>
          <p:cNvSpPr txBox="1"/>
          <p:nvPr/>
        </p:nvSpPr>
        <p:spPr>
          <a:xfrm>
            <a:off x="7989343" y="3918209"/>
            <a:ext cx="994183" cy="3693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Information Flow</a:t>
            </a:r>
          </a:p>
          <a:p>
            <a:r>
              <a:rPr kumimoji="1" lang="en-US" altLang="zh-TW" sz="900" dirty="0">
                <a:latin typeface="CMU Serif Roman" charset="0"/>
                <a:ea typeface="CMU Serif Roman" charset="0"/>
                <a:cs typeface="CMU Serif Roman" charset="0"/>
              </a:rPr>
              <a:t>Tracking Engine</a:t>
            </a:r>
            <a:endParaRPr kumimoji="1" lang="zh-TW" altLang="en-US" sz="900" dirty="0">
              <a:latin typeface="CMU Serif Roman" charset="0"/>
              <a:ea typeface="CMU Serif Roman" charset="0"/>
              <a:cs typeface="CMU Serif Roman" charset="0"/>
            </a:endParaRPr>
          </a:p>
        </p:txBody>
      </p:sp>
      <p:cxnSp>
        <p:nvCxnSpPr>
          <p:cNvPr id="81" name="肘形接點 80"/>
          <p:cNvCxnSpPr>
            <a:stCxn id="71" idx="3"/>
            <a:endCxn id="53" idx="0"/>
          </p:cNvCxnSpPr>
          <p:nvPr/>
        </p:nvCxnSpPr>
        <p:spPr>
          <a:xfrm flipH="1" flipV="1">
            <a:off x="7268699" y="2200563"/>
            <a:ext cx="2915920" cy="1271468"/>
          </a:xfrm>
          <a:prstGeom prst="bentConnector4">
            <a:avLst>
              <a:gd name="adj1" fmla="val -7306"/>
              <a:gd name="adj2" fmla="val 113484"/>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83" name="文字方塊 82"/>
          <p:cNvSpPr txBox="1"/>
          <p:nvPr/>
        </p:nvSpPr>
        <p:spPr>
          <a:xfrm>
            <a:off x="8054354" y="2629598"/>
            <a:ext cx="582212" cy="369332"/>
          </a:xfrm>
          <a:prstGeom prst="rect">
            <a:avLst/>
          </a:prstGeom>
          <a:noFill/>
        </p:spPr>
        <p:txBody>
          <a:bodyPr wrap="none" rtlCol="0">
            <a:spAutoFit/>
          </a:bodyPr>
          <a:lstStyle/>
          <a:p>
            <a:pPr algn="r"/>
            <a:r>
              <a:rPr kumimoji="1" lang="en-US" altLang="zh-TW" sz="900" dirty="0">
                <a:solidFill>
                  <a:srgbClr val="FF0000"/>
                </a:solidFill>
                <a:latin typeface="CMU Serif Roman" charset="0"/>
                <a:ea typeface="CMU Serif Roman" charset="0"/>
                <a:cs typeface="CMU Serif Roman" charset="0"/>
              </a:rPr>
              <a:t>runtime</a:t>
            </a:r>
          </a:p>
          <a:p>
            <a:pPr algn="r"/>
            <a:r>
              <a:rPr kumimoji="1" lang="en-US" altLang="zh-TW" sz="900" dirty="0">
                <a:solidFill>
                  <a:srgbClr val="FF0000"/>
                </a:solidFill>
                <a:latin typeface="CMU Serif Roman" charset="0"/>
                <a:ea typeface="CMU Serif Roman" charset="0"/>
                <a:cs typeface="CMU Serif Roman" charset="0"/>
              </a:rPr>
              <a:t>log</a:t>
            </a:r>
            <a:endParaRPr kumimoji="1" lang="zh-TW" altLang="en-US" sz="900" dirty="0">
              <a:solidFill>
                <a:srgbClr val="FF0000"/>
              </a:solidFill>
              <a:latin typeface="CMU Serif Roman" charset="0"/>
              <a:ea typeface="CMU Serif Roman" charset="0"/>
              <a:cs typeface="CMU Serif Roman" charset="0"/>
            </a:endParaRPr>
          </a:p>
        </p:txBody>
      </p:sp>
      <p:sp>
        <p:nvSpPr>
          <p:cNvPr id="84" name="文字方塊 83"/>
          <p:cNvSpPr txBox="1"/>
          <p:nvPr/>
        </p:nvSpPr>
        <p:spPr>
          <a:xfrm>
            <a:off x="8685607" y="2317178"/>
            <a:ext cx="1016625" cy="230832"/>
          </a:xfrm>
          <a:prstGeom prst="rect">
            <a:avLst/>
          </a:prstGeom>
          <a:noFill/>
        </p:spPr>
        <p:txBody>
          <a:bodyPr wrap="none" rtlCol="0">
            <a:spAutoFit/>
          </a:bodyPr>
          <a:lstStyle/>
          <a:p>
            <a:r>
              <a:rPr kumimoji="1" lang="en-US" altLang="zh-TW" sz="900">
                <a:latin typeface="CMU Serif Roman" charset="0"/>
                <a:ea typeface="CMU Serif Roman" charset="0"/>
                <a:cs typeface="CMU Serif Roman" charset="0"/>
              </a:rPr>
              <a:t>tag query request</a:t>
            </a:r>
            <a:endParaRPr kumimoji="1" lang="zh-TW" altLang="en-US" sz="900" dirty="0">
              <a:latin typeface="CMU Serif Roman" charset="0"/>
              <a:ea typeface="CMU Serif Roman" charset="0"/>
              <a:cs typeface="CMU Serif Roman" charset="0"/>
            </a:endParaRPr>
          </a:p>
        </p:txBody>
      </p:sp>
      <p:sp>
        <p:nvSpPr>
          <p:cNvPr id="85" name="文字方塊 84"/>
          <p:cNvSpPr txBox="1"/>
          <p:nvPr/>
        </p:nvSpPr>
        <p:spPr>
          <a:xfrm>
            <a:off x="8385501" y="1819892"/>
            <a:ext cx="1083951" cy="2308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tag query response</a:t>
            </a:r>
            <a:endParaRPr kumimoji="1" lang="zh-TW" altLang="en-US" sz="900" dirty="0">
              <a:latin typeface="CMU Serif Roman" charset="0"/>
              <a:ea typeface="CMU Serif Roman" charset="0"/>
              <a:cs typeface="CMU Serif Roman" charset="0"/>
            </a:endParaRPr>
          </a:p>
        </p:txBody>
      </p:sp>
      <p:cxnSp>
        <p:nvCxnSpPr>
          <p:cNvPr id="87" name="直線接點 86"/>
          <p:cNvCxnSpPr/>
          <p:nvPr/>
        </p:nvCxnSpPr>
        <p:spPr>
          <a:xfrm>
            <a:off x="7989322" y="1025509"/>
            <a:ext cx="0" cy="4765673"/>
          </a:xfrm>
          <a:prstGeom prst="line">
            <a:avLst/>
          </a:prstGeom>
          <a:ln>
            <a:solidFill>
              <a:schemeClr val="bg2">
                <a:lumMod val="50000"/>
              </a:schemeClr>
            </a:solidFill>
            <a:prstDash val="sysDot"/>
          </a:ln>
        </p:spPr>
        <p:style>
          <a:lnRef idx="1">
            <a:schemeClr val="dk1"/>
          </a:lnRef>
          <a:fillRef idx="0">
            <a:schemeClr val="dk1"/>
          </a:fillRef>
          <a:effectRef idx="0">
            <a:schemeClr val="dk1"/>
          </a:effectRef>
          <a:fontRef idx="minor">
            <a:schemeClr val="tx1"/>
          </a:fontRef>
        </p:style>
      </p:cxnSp>
      <p:grpSp>
        <p:nvGrpSpPr>
          <p:cNvPr id="114" name="群組 113"/>
          <p:cNvGrpSpPr/>
          <p:nvPr/>
        </p:nvGrpSpPr>
        <p:grpSpPr>
          <a:xfrm>
            <a:off x="8117240" y="4665012"/>
            <a:ext cx="766360" cy="707431"/>
            <a:chOff x="9180237" y="4785425"/>
            <a:chExt cx="1021813" cy="943241"/>
          </a:xfrm>
        </p:grpSpPr>
        <p:sp>
          <p:nvSpPr>
            <p:cNvPr id="90" name="橢圓 89"/>
            <p:cNvSpPr/>
            <p:nvPr/>
          </p:nvSpPr>
          <p:spPr>
            <a:xfrm>
              <a:off x="9180237" y="5308405"/>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2" name="橢圓 91"/>
            <p:cNvSpPr/>
            <p:nvPr/>
          </p:nvSpPr>
          <p:spPr>
            <a:xfrm>
              <a:off x="9544298" y="5076772"/>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3" name="橢圓 92"/>
            <p:cNvSpPr/>
            <p:nvPr/>
          </p:nvSpPr>
          <p:spPr>
            <a:xfrm>
              <a:off x="9566581" y="5516190"/>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4" name="橢圓 93"/>
            <p:cNvSpPr/>
            <p:nvPr/>
          </p:nvSpPr>
          <p:spPr>
            <a:xfrm>
              <a:off x="9973257" y="4785425"/>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5" name="橢圓 94"/>
            <p:cNvSpPr/>
            <p:nvPr/>
          </p:nvSpPr>
          <p:spPr>
            <a:xfrm>
              <a:off x="9989574" y="5236557"/>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cxnSp>
          <p:nvCxnSpPr>
            <p:cNvPr id="97" name="曲線接點 96"/>
            <p:cNvCxnSpPr>
              <a:stCxn id="90" idx="4"/>
              <a:endCxn id="93" idx="2"/>
            </p:cNvCxnSpPr>
            <p:nvPr/>
          </p:nvCxnSpPr>
          <p:spPr>
            <a:xfrm rot="16200000" flipH="1">
              <a:off x="9375755" y="5431601"/>
              <a:ext cx="101547" cy="280106"/>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99" name="曲線接點 98"/>
            <p:cNvCxnSpPr>
              <a:stCxn id="90" idx="0"/>
              <a:endCxn id="92" idx="2"/>
            </p:cNvCxnSpPr>
            <p:nvPr/>
          </p:nvCxnSpPr>
          <p:spPr>
            <a:xfrm rot="5400000" flipH="1" flipV="1">
              <a:off x="9352689" y="5116797"/>
              <a:ext cx="125395" cy="257823"/>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03" name="曲線接點 102"/>
            <p:cNvCxnSpPr>
              <a:stCxn id="93" idx="6"/>
              <a:endCxn id="95" idx="4"/>
            </p:cNvCxnSpPr>
            <p:nvPr/>
          </p:nvCxnSpPr>
          <p:spPr>
            <a:xfrm flipV="1">
              <a:off x="9779057" y="5449033"/>
              <a:ext cx="316755" cy="173395"/>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09" name="曲線接點 108"/>
            <p:cNvCxnSpPr>
              <a:stCxn id="93" idx="0"/>
              <a:endCxn id="95" idx="2"/>
            </p:cNvCxnSpPr>
            <p:nvPr/>
          </p:nvCxnSpPr>
          <p:spPr>
            <a:xfrm rot="5400000" flipH="1" flipV="1">
              <a:off x="9744499" y="5271116"/>
              <a:ext cx="173395" cy="316755"/>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11" name="曲線接點 110"/>
            <p:cNvCxnSpPr>
              <a:stCxn id="92" idx="7"/>
              <a:endCxn id="94" idx="2"/>
            </p:cNvCxnSpPr>
            <p:nvPr/>
          </p:nvCxnSpPr>
          <p:spPr>
            <a:xfrm rot="5400000" flipH="1" flipV="1">
              <a:off x="9741345" y="4875977"/>
              <a:ext cx="216225" cy="247599"/>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13" name="曲線接點 112"/>
            <p:cNvCxnSpPr>
              <a:stCxn id="94" idx="6"/>
              <a:endCxn id="95" idx="6"/>
            </p:cNvCxnSpPr>
            <p:nvPr/>
          </p:nvCxnSpPr>
          <p:spPr>
            <a:xfrm>
              <a:off x="10185733" y="4891663"/>
              <a:ext cx="16317" cy="451132"/>
            </a:xfrm>
            <a:prstGeom prst="curvedConnector3">
              <a:avLst>
                <a:gd name="adj1" fmla="val 1500993"/>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grpSp>
      <p:cxnSp>
        <p:nvCxnSpPr>
          <p:cNvPr id="116" name="直線箭頭接點 115"/>
          <p:cNvCxnSpPr>
            <a:stCxn id="78" idx="2"/>
          </p:cNvCxnSpPr>
          <p:nvPr/>
        </p:nvCxnSpPr>
        <p:spPr>
          <a:xfrm flipH="1">
            <a:off x="9146818" y="3901785"/>
            <a:ext cx="1" cy="627426"/>
          </a:xfrm>
          <a:prstGeom prst="straightConnector1">
            <a:avLst/>
          </a:prstGeom>
          <a:ln>
            <a:prstDash val="sysDot"/>
            <a:tailEnd type="triangle"/>
          </a:ln>
        </p:spPr>
        <p:style>
          <a:lnRef idx="1">
            <a:schemeClr val="dk1"/>
          </a:lnRef>
          <a:fillRef idx="0">
            <a:schemeClr val="dk1"/>
          </a:fillRef>
          <a:effectRef idx="0">
            <a:schemeClr val="dk1"/>
          </a:effectRef>
          <a:fontRef idx="minor">
            <a:schemeClr val="tx1"/>
          </a:fontRef>
        </p:style>
      </p:cxnSp>
      <p:sp>
        <p:nvSpPr>
          <p:cNvPr id="117" name="文字方塊 116"/>
          <p:cNvSpPr txBox="1"/>
          <p:nvPr/>
        </p:nvSpPr>
        <p:spPr>
          <a:xfrm>
            <a:off x="9121166" y="4700875"/>
            <a:ext cx="1494878" cy="698589"/>
          </a:xfrm>
          <a:prstGeom prst="rect">
            <a:avLst/>
          </a:prstGeom>
          <a:noFill/>
        </p:spPr>
        <p:txBody>
          <a:bodyPr wrap="square" rtlCol="0">
            <a:spAutoFit/>
          </a:bodyPr>
          <a:lstStyle/>
          <a:p>
            <a:r>
              <a:rPr kumimoji="1" lang="en-US" altLang="zh-TW" sz="788" dirty="0">
                <a:latin typeface="CMU Serif Roman" charset="0"/>
                <a:ea typeface="CMU Serif Roman" charset="0"/>
                <a:cs typeface="CMU Serif Roman" charset="0"/>
              </a:rPr>
              <a:t>Further Analysis</a:t>
            </a:r>
          </a:p>
          <a:p>
            <a:pPr marL="128588" indent="-128588">
              <a:buFont typeface="Arial" charset="0"/>
              <a:buChar char="•"/>
            </a:pPr>
            <a:r>
              <a:rPr kumimoji="1" lang="en-US" altLang="zh-TW" sz="788" dirty="0">
                <a:latin typeface="CMU Serif Roman" charset="0"/>
                <a:ea typeface="CMU Serif Roman" charset="0"/>
                <a:cs typeface="CMU Serif Roman" charset="0"/>
              </a:rPr>
              <a:t>Whole-system Information Flow Tracking</a:t>
            </a:r>
          </a:p>
          <a:p>
            <a:pPr marL="128588" indent="-128588">
              <a:buFont typeface="Arial" charset="0"/>
              <a:buChar char="•"/>
            </a:pPr>
            <a:r>
              <a:rPr kumimoji="1" lang="en-US" altLang="zh-TW" sz="788" dirty="0">
                <a:latin typeface="CMU Serif Roman" charset="0"/>
                <a:ea typeface="CMU Serif Roman" charset="0"/>
                <a:cs typeface="CMU Serif Roman" charset="0"/>
              </a:rPr>
              <a:t>Data Provenance</a:t>
            </a:r>
          </a:p>
          <a:p>
            <a:pPr marL="128588" indent="-128588">
              <a:buFont typeface="Arial" charset="0"/>
              <a:buChar char="•"/>
            </a:pPr>
            <a:r>
              <a:rPr kumimoji="1" lang="en-US" altLang="zh-TW" sz="788" dirty="0">
                <a:latin typeface="CMU Serif Roman" charset="0"/>
                <a:ea typeface="CMU Serif Roman" charset="0"/>
                <a:cs typeface="CMU Serif Roman" charset="0"/>
              </a:rPr>
              <a:t>Data Leakage Detection</a:t>
            </a:r>
            <a:endParaRPr kumimoji="1" lang="zh-TW" altLang="en-US" sz="788" dirty="0">
              <a:latin typeface="CMU Serif Roman" charset="0"/>
              <a:ea typeface="CMU Serif Roman" charset="0"/>
              <a:cs typeface="CMU Serif Roman" charset="0"/>
            </a:endParaRPr>
          </a:p>
        </p:txBody>
      </p:sp>
      <p:sp>
        <p:nvSpPr>
          <p:cNvPr id="49" name="橢圓 48"/>
          <p:cNvSpPr/>
          <p:nvPr/>
        </p:nvSpPr>
        <p:spPr>
          <a:xfrm>
            <a:off x="3523185" y="4765136"/>
            <a:ext cx="1390041" cy="690434"/>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Source Code</a:t>
            </a:r>
          </a:p>
          <a:p>
            <a:pPr algn="ctr"/>
            <a:r>
              <a:rPr kumimoji="1" lang="en-US" altLang="zh-TW" sz="900" dirty="0">
                <a:solidFill>
                  <a:schemeClr val="tx1"/>
                </a:solidFill>
                <a:latin typeface="CMU Serif Roman" charset="0"/>
                <a:ea typeface="CMU Serif Roman" charset="0"/>
                <a:cs typeface="CMU Serif Roman" charset="0"/>
              </a:rPr>
              <a:t>of</a:t>
            </a:r>
          </a:p>
          <a:p>
            <a:pPr algn="ctr"/>
            <a:r>
              <a:rPr kumimoji="1" lang="en-US" altLang="zh-TW" sz="900" dirty="0">
                <a:solidFill>
                  <a:schemeClr val="tx1"/>
                </a:solidFill>
                <a:latin typeface="CMU Serif Roman" charset="0"/>
                <a:ea typeface="CMU Serif Roman" charset="0"/>
                <a:cs typeface="CMU Serif Roman" charset="0"/>
              </a:rPr>
              <a:t>Target Program</a:t>
            </a:r>
          </a:p>
        </p:txBody>
      </p:sp>
      <p:cxnSp>
        <p:nvCxnSpPr>
          <p:cNvPr id="9" name="直線箭頭接點 8"/>
          <p:cNvCxnSpPr>
            <a:stCxn id="49" idx="2"/>
            <a:endCxn id="2" idx="6"/>
          </p:cNvCxnSpPr>
          <p:nvPr/>
        </p:nvCxnSpPr>
        <p:spPr>
          <a:xfrm flipH="1">
            <a:off x="3157915" y="5110353"/>
            <a:ext cx="3652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投影片編號版面配置區 9"/>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19</a:t>
            </a:fld>
            <a:endParaRPr kumimoji="1" lang="zh-TW" altLang="en-US"/>
          </a:p>
        </p:txBody>
      </p:sp>
      <p:sp>
        <p:nvSpPr>
          <p:cNvPr id="54" name="TextBox 53">
            <a:extLst>
              <a:ext uri="{FF2B5EF4-FFF2-40B4-BE49-F238E27FC236}">
                <a16:creationId xmlns:a16="http://schemas.microsoft.com/office/drawing/2014/main" id="{1E61765E-80B3-4257-B84F-418C388F5E72}"/>
              </a:ext>
            </a:extLst>
          </p:cNvPr>
          <p:cNvSpPr txBox="1"/>
          <p:nvPr/>
        </p:nvSpPr>
        <p:spPr>
          <a:xfrm>
            <a:off x="5029747" y="5915344"/>
            <a:ext cx="3556779" cy="307777"/>
          </a:xfrm>
          <a:prstGeom prst="rect">
            <a:avLst/>
          </a:prstGeom>
          <a:noFill/>
        </p:spPr>
        <p:txBody>
          <a:bodyPr wrap="square" rtlCol="0">
            <a:spAutoFit/>
          </a:bodyPr>
          <a:lstStyle/>
          <a:p>
            <a:r>
              <a:rPr lang="en-US" sz="1400" b="1" dirty="0">
                <a:solidFill>
                  <a:srgbClr val="000000"/>
                </a:solidFill>
                <a:latin typeface="Comic Sans MS" panose="030F0902030302020204" pitchFamily="66" charset="0"/>
              </a:rPr>
              <a:t>Fig.: MIT Record Phase</a:t>
            </a:r>
            <a:endParaRPr lang="en-IN" sz="1400" b="1" dirty="0">
              <a:solidFill>
                <a:srgbClr val="000000"/>
              </a:solidFill>
              <a:latin typeface="Comic Sans MS" panose="030F0902030302020204" pitchFamily="66" charset="0"/>
            </a:endParaRPr>
          </a:p>
        </p:txBody>
      </p:sp>
      <p:sp>
        <p:nvSpPr>
          <p:cNvPr id="55" name="標題 1">
            <a:extLst>
              <a:ext uri="{FF2B5EF4-FFF2-40B4-BE49-F238E27FC236}">
                <a16:creationId xmlns:a16="http://schemas.microsoft.com/office/drawing/2014/main" id="{CF7CA205-02E0-9D46-B9AE-F0AD2556DE11}"/>
              </a:ext>
            </a:extLst>
          </p:cNvPr>
          <p:cNvSpPr txBox="1">
            <a:spLocks/>
          </p:cNvSpPr>
          <p:nvPr/>
        </p:nvSpPr>
        <p:spPr>
          <a:xfrm>
            <a:off x="38100" y="220091"/>
            <a:ext cx="12115800" cy="632974"/>
          </a:xfrm>
          <a:prstGeom prst="rect">
            <a:avLst/>
          </a:prstGeom>
        </p:spPr>
        <p:txBody>
          <a:bodyPr>
            <a:normAutofit lnSpcReduction="10000"/>
          </a:bodyPr>
          <a:lstStyle>
            <a:lvl1pPr>
              <a:defRPr>
                <a:latin typeface="+mj-lt"/>
                <a:ea typeface="+mj-ea"/>
                <a:cs typeface="+mj-cs"/>
              </a:defRPr>
            </a:lvl1pPr>
          </a:lstStyle>
          <a:p>
            <a:r>
              <a:rPr kumimoji="1" lang="en-US" altLang="zh-TW" sz="3600" kern="0" dirty="0">
                <a:solidFill>
                  <a:sysClr val="windowText" lastClr="000000"/>
                </a:solidFill>
              </a:rPr>
              <a:t>Record-Replay</a:t>
            </a:r>
            <a:endParaRPr kumimoji="1" lang="zh-TW" altLang="en-US" sz="3600" kern="0" dirty="0">
              <a:solidFill>
                <a:sysClr val="windowText" lastClr="000000"/>
              </a:solidFill>
            </a:endParaRPr>
          </a:p>
        </p:txBody>
      </p:sp>
    </p:spTree>
    <p:extLst>
      <p:ext uri="{BB962C8B-B14F-4D97-AF65-F5344CB8AC3E}">
        <p14:creationId xmlns:p14="http://schemas.microsoft.com/office/powerpoint/2010/main" val="473117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6200" y="208641"/>
            <a:ext cx="12039600" cy="752919"/>
          </a:xfrm>
        </p:spPr>
        <p:txBody>
          <a:bodyPr>
            <a:normAutofit fontScale="90000"/>
          </a:bodyPr>
          <a:lstStyle/>
          <a:p>
            <a:r>
              <a:rPr kumimoji="1" lang="en-US" altLang="zh-TW" sz="3600" dirty="0"/>
              <a:t>Record-Replay based Information Flow Tracking (cont.)</a:t>
            </a:r>
            <a:endParaRPr kumimoji="1" lang="zh-TW" altLang="en-US" sz="3600" dirty="0"/>
          </a:p>
        </p:txBody>
      </p:sp>
      <p:sp>
        <p:nvSpPr>
          <p:cNvPr id="3" name="內容版面配置區 2"/>
          <p:cNvSpPr>
            <a:spLocks noGrp="1"/>
          </p:cNvSpPr>
          <p:nvPr>
            <p:ph idx="1"/>
          </p:nvPr>
        </p:nvSpPr>
        <p:spPr>
          <a:xfrm>
            <a:off x="2152650" y="1447800"/>
            <a:ext cx="7886700" cy="4351338"/>
          </a:xfrm>
        </p:spPr>
        <p:txBody>
          <a:bodyPr/>
          <a:lstStyle/>
          <a:p>
            <a:r>
              <a:rPr kumimoji="1" lang="en-US" altLang="zh-TW" dirty="0"/>
              <a:t>Replay: TSIR Virtual Machine</a:t>
            </a:r>
            <a:endParaRPr kumimoji="1" lang="zh-TW" altLang="en-US" dirty="0"/>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7940" y="1667361"/>
            <a:ext cx="8236120" cy="4328472"/>
          </a:xfrm>
          <a:prstGeom prst="rect">
            <a:avLst/>
          </a:prstGeom>
        </p:spPr>
      </p:pic>
      <p:sp>
        <p:nvSpPr>
          <p:cNvPr id="6" name="投影片編號版面配置區 5"/>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20</a:t>
            </a:fld>
            <a:endParaRPr kumimoji="1" lang="zh-TW" altLang="en-US"/>
          </a:p>
        </p:txBody>
      </p:sp>
      <p:sp>
        <p:nvSpPr>
          <p:cNvPr id="7" name="TextBox 6">
            <a:extLst>
              <a:ext uri="{FF2B5EF4-FFF2-40B4-BE49-F238E27FC236}">
                <a16:creationId xmlns:a16="http://schemas.microsoft.com/office/drawing/2014/main" id="{757DFC01-8C5C-42E5-AF72-D0807A2AD1B1}"/>
              </a:ext>
            </a:extLst>
          </p:cNvPr>
          <p:cNvSpPr txBox="1"/>
          <p:nvPr/>
        </p:nvSpPr>
        <p:spPr>
          <a:xfrm>
            <a:off x="3850551" y="5885859"/>
            <a:ext cx="4876253" cy="307777"/>
          </a:xfrm>
          <a:prstGeom prst="rect">
            <a:avLst/>
          </a:prstGeom>
          <a:noFill/>
        </p:spPr>
        <p:txBody>
          <a:bodyPr wrap="square" rtlCol="0">
            <a:spAutoFit/>
          </a:bodyPr>
          <a:lstStyle/>
          <a:p>
            <a:r>
              <a:rPr lang="en-US" sz="1400" b="1" dirty="0">
                <a:solidFill>
                  <a:srgbClr val="000000"/>
                </a:solidFill>
                <a:latin typeface="Comic Sans MS" panose="030F0902030302020204" pitchFamily="66" charset="0"/>
              </a:rPr>
              <a:t>Fig.: MIT Record – Replay Breakdown Architecture</a:t>
            </a:r>
            <a:endParaRPr lang="en-IN" sz="1400" b="1" dirty="0">
              <a:solidFill>
                <a:srgbClr val="000000"/>
              </a:solidFill>
              <a:latin typeface="Comic Sans MS" panose="030F0902030302020204" pitchFamily="66" charset="0"/>
            </a:endParaRPr>
          </a:p>
        </p:txBody>
      </p:sp>
    </p:spTree>
    <p:extLst>
      <p:ext uri="{BB962C8B-B14F-4D97-AF65-F5344CB8AC3E}">
        <p14:creationId xmlns:p14="http://schemas.microsoft.com/office/powerpoint/2010/main" val="2072961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橢圓 1"/>
          <p:cNvSpPr/>
          <p:nvPr/>
        </p:nvSpPr>
        <p:spPr>
          <a:xfrm>
            <a:off x="1767874" y="4765136"/>
            <a:ext cx="1390041" cy="690434"/>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a:t>
            </a:r>
          </a:p>
          <a:p>
            <a:pPr algn="ctr"/>
            <a:r>
              <a:rPr kumimoji="1" lang="en-US" altLang="zh-TW" sz="900" dirty="0">
                <a:solidFill>
                  <a:schemeClr val="tx1"/>
                </a:solidFill>
                <a:latin typeface="CMU Serif Roman" charset="0"/>
                <a:ea typeface="CMU Serif Roman" charset="0"/>
                <a:cs typeface="CMU Serif Roman" charset="0"/>
              </a:rPr>
              <a:t>of</a:t>
            </a:r>
          </a:p>
          <a:p>
            <a:pPr algn="ctr"/>
            <a:r>
              <a:rPr kumimoji="1" lang="en-US" altLang="zh-TW" sz="900" dirty="0">
                <a:solidFill>
                  <a:schemeClr val="tx1"/>
                </a:solidFill>
                <a:latin typeface="CMU Serif Roman" charset="0"/>
                <a:ea typeface="CMU Serif Roman" charset="0"/>
                <a:cs typeface="CMU Serif Roman" charset="0"/>
              </a:rPr>
              <a:t>Target Program</a:t>
            </a:r>
          </a:p>
        </p:txBody>
      </p:sp>
      <p:sp>
        <p:nvSpPr>
          <p:cNvPr id="3" name="矩形 2"/>
          <p:cNvSpPr/>
          <p:nvPr/>
        </p:nvSpPr>
        <p:spPr>
          <a:xfrm>
            <a:off x="1896801" y="2966883"/>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Extraction</a:t>
            </a:r>
          </a:p>
        </p:txBody>
      </p:sp>
      <p:sp>
        <p:nvSpPr>
          <p:cNvPr id="5" name="橢圓 4"/>
          <p:cNvSpPr/>
          <p:nvPr/>
        </p:nvSpPr>
        <p:spPr>
          <a:xfrm>
            <a:off x="4837891" y="2559106"/>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Instrumented</a:t>
            </a:r>
          </a:p>
          <a:p>
            <a:pPr algn="ctr"/>
            <a:r>
              <a:rPr kumimoji="1" lang="en-US" altLang="zh-TW" sz="900" dirty="0">
                <a:solidFill>
                  <a:schemeClr val="tx1"/>
                </a:solidFill>
                <a:latin typeface="CMU Serif Roman" charset="0"/>
                <a:ea typeface="CMU Serif Roman" charset="0"/>
                <a:cs typeface="CMU Serif Roman" charset="0"/>
              </a:rPr>
              <a:t>LLVM IR</a:t>
            </a:r>
          </a:p>
        </p:txBody>
      </p:sp>
      <p:sp>
        <p:nvSpPr>
          <p:cNvPr id="6" name="橢圓 5"/>
          <p:cNvSpPr/>
          <p:nvPr/>
        </p:nvSpPr>
        <p:spPr>
          <a:xfrm>
            <a:off x="4837891" y="3732129"/>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Intermediate Representation</a:t>
            </a:r>
          </a:p>
        </p:txBody>
      </p:sp>
      <p:sp>
        <p:nvSpPr>
          <p:cNvPr id="7" name="矩形 6"/>
          <p:cNvSpPr/>
          <p:nvPr/>
        </p:nvSpPr>
        <p:spPr>
          <a:xfrm>
            <a:off x="8124010" y="3147666"/>
            <a:ext cx="987334" cy="648730"/>
          </a:xfrm>
          <a:prstGeom prst="rect">
            <a:avLst/>
          </a:prstGeom>
          <a:solidFill>
            <a:schemeClr val="accent4">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Replay</a:t>
            </a:r>
          </a:p>
        </p:txBody>
      </p:sp>
      <p:sp>
        <p:nvSpPr>
          <p:cNvPr id="8" name="矩形 7"/>
          <p:cNvSpPr/>
          <p:nvPr/>
        </p:nvSpPr>
        <p:spPr>
          <a:xfrm>
            <a:off x="3453056" y="2559107"/>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 Instrumentation</a:t>
            </a:r>
          </a:p>
        </p:txBody>
      </p:sp>
      <p:cxnSp>
        <p:nvCxnSpPr>
          <p:cNvPr id="27" name="肘形接點 26"/>
          <p:cNvCxnSpPr>
            <a:stCxn id="3" idx="3"/>
            <a:endCxn id="8" idx="1"/>
          </p:cNvCxnSpPr>
          <p:nvPr/>
        </p:nvCxnSpPr>
        <p:spPr>
          <a:xfrm flipV="1">
            <a:off x="3028987" y="2883472"/>
            <a:ext cx="424068" cy="40777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1" name="肘形接點 30"/>
          <p:cNvCxnSpPr>
            <a:stCxn id="8" idx="3"/>
            <a:endCxn id="5" idx="2"/>
          </p:cNvCxnSpPr>
          <p:nvPr/>
        </p:nvCxnSpPr>
        <p:spPr>
          <a:xfrm flipV="1">
            <a:off x="4585242" y="2883472"/>
            <a:ext cx="252650" cy="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9" name="直線接點 38"/>
          <p:cNvCxnSpPr/>
          <p:nvPr/>
        </p:nvCxnSpPr>
        <p:spPr>
          <a:xfrm>
            <a:off x="6504926" y="1025509"/>
            <a:ext cx="0" cy="4765673"/>
          </a:xfrm>
          <a:prstGeom prst="line">
            <a:avLst/>
          </a:prstGeom>
          <a:ln>
            <a:solidFill>
              <a:schemeClr val="bg2">
                <a:lumMod val="50000"/>
              </a:schemeClr>
            </a:solidFill>
            <a:prstDash val="sysDot"/>
          </a:ln>
        </p:spPr>
        <p:style>
          <a:lnRef idx="1">
            <a:schemeClr val="dk1"/>
          </a:lnRef>
          <a:fillRef idx="0">
            <a:schemeClr val="dk1"/>
          </a:fillRef>
          <a:effectRef idx="0">
            <a:schemeClr val="dk1"/>
          </a:effectRef>
          <a:fontRef idx="minor">
            <a:schemeClr val="tx1"/>
          </a:fontRef>
        </p:style>
      </p:cxnSp>
      <p:sp>
        <p:nvSpPr>
          <p:cNvPr id="40" name="文字方塊 39"/>
          <p:cNvSpPr txBox="1"/>
          <p:nvPr/>
        </p:nvSpPr>
        <p:spPr>
          <a:xfrm>
            <a:off x="3557164" y="1040345"/>
            <a:ext cx="1116011"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Extraction Phase</a:t>
            </a:r>
            <a:endParaRPr kumimoji="1" lang="zh-TW" altLang="en-US" sz="1050" b="1" dirty="0">
              <a:latin typeface="CMU Serif Roman" charset="0"/>
              <a:ea typeface="CMU Serif Roman" charset="0"/>
              <a:cs typeface="CMU Serif Roman" charset="0"/>
            </a:endParaRPr>
          </a:p>
        </p:txBody>
      </p:sp>
      <p:sp>
        <p:nvSpPr>
          <p:cNvPr id="41" name="文字方塊 40"/>
          <p:cNvSpPr txBox="1"/>
          <p:nvPr/>
        </p:nvSpPr>
        <p:spPr>
          <a:xfrm>
            <a:off x="6775722" y="1040345"/>
            <a:ext cx="938077"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Record Phase</a:t>
            </a:r>
            <a:endParaRPr kumimoji="1" lang="zh-TW" altLang="en-US" sz="1050" b="1" dirty="0">
              <a:latin typeface="CMU Serif Roman" charset="0"/>
              <a:ea typeface="CMU Serif Roman" charset="0"/>
              <a:cs typeface="CMU Serif Roman" charset="0"/>
            </a:endParaRPr>
          </a:p>
        </p:txBody>
      </p:sp>
      <p:sp>
        <p:nvSpPr>
          <p:cNvPr id="42" name="文字方塊 41"/>
          <p:cNvSpPr txBox="1"/>
          <p:nvPr/>
        </p:nvSpPr>
        <p:spPr>
          <a:xfrm>
            <a:off x="8845043" y="1038668"/>
            <a:ext cx="925253" cy="253916"/>
          </a:xfrm>
          <a:prstGeom prst="rect">
            <a:avLst/>
          </a:prstGeom>
          <a:noFill/>
        </p:spPr>
        <p:txBody>
          <a:bodyPr wrap="none" rtlCol="0">
            <a:spAutoFit/>
          </a:bodyPr>
          <a:lstStyle/>
          <a:p>
            <a:r>
              <a:rPr kumimoji="1" lang="en-US" altLang="zh-TW" sz="1050" b="1" dirty="0">
                <a:solidFill>
                  <a:srgbClr val="FF0000"/>
                </a:solidFill>
                <a:latin typeface="CMU Serif Roman" charset="0"/>
                <a:ea typeface="CMU Serif Roman" charset="0"/>
                <a:cs typeface="CMU Serif Roman" charset="0"/>
              </a:rPr>
              <a:t>Replay Phase</a:t>
            </a:r>
            <a:endParaRPr kumimoji="1" lang="zh-TW" altLang="en-US" sz="1050" b="1" dirty="0">
              <a:solidFill>
                <a:srgbClr val="FF0000"/>
              </a:solidFill>
              <a:latin typeface="CMU Serif Roman" charset="0"/>
              <a:ea typeface="CMU Serif Roman" charset="0"/>
              <a:cs typeface="CMU Serif Roman" charset="0"/>
            </a:endParaRPr>
          </a:p>
        </p:txBody>
      </p:sp>
      <p:sp>
        <p:nvSpPr>
          <p:cNvPr id="30" name="橢圓 29"/>
          <p:cNvSpPr/>
          <p:nvPr/>
        </p:nvSpPr>
        <p:spPr>
          <a:xfrm>
            <a:off x="4837891" y="1771257"/>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Information Flow Tracking Runtime Library</a:t>
            </a:r>
          </a:p>
        </p:txBody>
      </p:sp>
      <p:sp>
        <p:nvSpPr>
          <p:cNvPr id="44" name="矩形 43"/>
          <p:cNvSpPr/>
          <p:nvPr/>
        </p:nvSpPr>
        <p:spPr>
          <a:xfrm>
            <a:off x="3453056" y="3732129"/>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 to TSIR</a:t>
            </a:r>
          </a:p>
          <a:p>
            <a:pPr algn="ctr"/>
            <a:r>
              <a:rPr kumimoji="1" lang="en-US" altLang="zh-TW" sz="900" dirty="0">
                <a:solidFill>
                  <a:schemeClr val="tx1"/>
                </a:solidFill>
                <a:latin typeface="CMU Serif Roman" charset="0"/>
                <a:ea typeface="CMU Serif Roman" charset="0"/>
                <a:cs typeface="CMU Serif Roman" charset="0"/>
              </a:rPr>
              <a:t>Translation</a:t>
            </a:r>
          </a:p>
        </p:txBody>
      </p:sp>
      <p:cxnSp>
        <p:nvCxnSpPr>
          <p:cNvPr id="46" name="肘形接點 45"/>
          <p:cNvCxnSpPr>
            <a:stCxn id="3" idx="3"/>
            <a:endCxn id="44" idx="1"/>
          </p:cNvCxnSpPr>
          <p:nvPr/>
        </p:nvCxnSpPr>
        <p:spPr>
          <a:xfrm>
            <a:off x="3028987" y="3291249"/>
            <a:ext cx="424068" cy="76524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2" name="直線箭頭接點 51"/>
          <p:cNvCxnSpPr>
            <a:stCxn id="44" idx="3"/>
            <a:endCxn id="6" idx="2"/>
          </p:cNvCxnSpPr>
          <p:nvPr/>
        </p:nvCxnSpPr>
        <p:spPr>
          <a:xfrm>
            <a:off x="4585242" y="4056494"/>
            <a:ext cx="2526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橢圓 52"/>
          <p:cNvSpPr/>
          <p:nvPr/>
        </p:nvSpPr>
        <p:spPr>
          <a:xfrm>
            <a:off x="6664604" y="2200563"/>
            <a:ext cx="1208190"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Instrumented Target Program</a:t>
            </a:r>
          </a:p>
        </p:txBody>
      </p:sp>
      <p:cxnSp>
        <p:nvCxnSpPr>
          <p:cNvPr id="58" name="肘形接點 57"/>
          <p:cNvCxnSpPr>
            <a:stCxn id="30" idx="6"/>
            <a:endCxn id="53" idx="2"/>
          </p:cNvCxnSpPr>
          <p:nvPr/>
        </p:nvCxnSpPr>
        <p:spPr>
          <a:xfrm>
            <a:off x="6334858" y="2095624"/>
            <a:ext cx="329747" cy="42930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0" name="肘形接點 59"/>
          <p:cNvCxnSpPr>
            <a:stCxn id="5" idx="6"/>
            <a:endCxn id="53" idx="2"/>
          </p:cNvCxnSpPr>
          <p:nvPr/>
        </p:nvCxnSpPr>
        <p:spPr>
          <a:xfrm flipV="1">
            <a:off x="6334858" y="2524927"/>
            <a:ext cx="329747" cy="35854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線箭頭接點 61"/>
          <p:cNvCxnSpPr>
            <a:stCxn id="2" idx="0"/>
            <a:endCxn id="3" idx="2"/>
          </p:cNvCxnSpPr>
          <p:nvPr/>
        </p:nvCxnSpPr>
        <p:spPr>
          <a:xfrm flipV="1">
            <a:off x="2462894" y="3615612"/>
            <a:ext cx="0" cy="11495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矩形 67"/>
          <p:cNvSpPr/>
          <p:nvPr/>
        </p:nvSpPr>
        <p:spPr>
          <a:xfrm>
            <a:off x="1767874" y="2419987"/>
            <a:ext cx="2943693" cy="2109224"/>
          </a:xfrm>
          <a:prstGeom prst="rect">
            <a:avLst/>
          </a:prstGeom>
          <a:noFill/>
          <a:ln>
            <a:solidFill>
              <a:srgbClr val="767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sp>
        <p:nvSpPr>
          <p:cNvPr id="69" name="文字方塊 68"/>
          <p:cNvSpPr txBox="1"/>
          <p:nvPr/>
        </p:nvSpPr>
        <p:spPr>
          <a:xfrm>
            <a:off x="1747092" y="2198150"/>
            <a:ext cx="888385" cy="2308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TSIR Translator</a:t>
            </a:r>
            <a:endParaRPr kumimoji="1" lang="zh-TW" altLang="en-US" sz="900" dirty="0">
              <a:latin typeface="CMU Serif Roman" charset="0"/>
              <a:ea typeface="CMU Serif Roman" charset="0"/>
              <a:cs typeface="CMU Serif Roman" charset="0"/>
            </a:endParaRPr>
          </a:p>
        </p:txBody>
      </p:sp>
      <p:sp>
        <p:nvSpPr>
          <p:cNvPr id="71" name="矩形 70"/>
          <p:cNvSpPr/>
          <p:nvPr/>
        </p:nvSpPr>
        <p:spPr>
          <a:xfrm>
            <a:off x="9197285" y="3147666"/>
            <a:ext cx="987334"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Request Handling</a:t>
            </a:r>
          </a:p>
        </p:txBody>
      </p:sp>
      <p:cxnSp>
        <p:nvCxnSpPr>
          <p:cNvPr id="73" name="肘形接點 72"/>
          <p:cNvCxnSpPr>
            <a:stCxn id="53" idx="6"/>
            <a:endCxn id="7" idx="0"/>
          </p:cNvCxnSpPr>
          <p:nvPr/>
        </p:nvCxnSpPr>
        <p:spPr>
          <a:xfrm>
            <a:off x="7872793" y="2524928"/>
            <a:ext cx="744884" cy="622738"/>
          </a:xfrm>
          <a:prstGeom prst="bentConnector2">
            <a:avLst/>
          </a:prstGeom>
          <a:ln w="28575">
            <a:solidFill>
              <a:srgbClr val="FF0000"/>
            </a:solidFill>
            <a:prstDash val="solid"/>
            <a:tailEnd type="triangle"/>
          </a:ln>
        </p:spPr>
        <p:style>
          <a:lnRef idx="1">
            <a:schemeClr val="dk1"/>
          </a:lnRef>
          <a:fillRef idx="0">
            <a:schemeClr val="dk1"/>
          </a:fillRef>
          <a:effectRef idx="0">
            <a:schemeClr val="dk1"/>
          </a:effectRef>
          <a:fontRef idx="minor">
            <a:schemeClr val="tx1"/>
          </a:fontRef>
        </p:style>
      </p:cxnSp>
      <p:cxnSp>
        <p:nvCxnSpPr>
          <p:cNvPr id="75" name="肘形接點 74"/>
          <p:cNvCxnSpPr>
            <a:stCxn id="53" idx="6"/>
            <a:endCxn id="71" idx="0"/>
          </p:cNvCxnSpPr>
          <p:nvPr/>
        </p:nvCxnSpPr>
        <p:spPr>
          <a:xfrm>
            <a:off x="7872794" y="2524928"/>
            <a:ext cx="1818158" cy="622738"/>
          </a:xfrm>
          <a:prstGeom prst="bentConnector2">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77" name="肘形接點 76"/>
          <p:cNvCxnSpPr>
            <a:stCxn id="6" idx="6"/>
            <a:endCxn id="7" idx="1"/>
          </p:cNvCxnSpPr>
          <p:nvPr/>
        </p:nvCxnSpPr>
        <p:spPr>
          <a:xfrm flipV="1">
            <a:off x="6334858" y="3472031"/>
            <a:ext cx="1789153" cy="584464"/>
          </a:xfrm>
          <a:prstGeom prst="bentConnector3">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78" name="矩形 77"/>
          <p:cNvSpPr/>
          <p:nvPr/>
        </p:nvSpPr>
        <p:spPr>
          <a:xfrm>
            <a:off x="7989323" y="3028949"/>
            <a:ext cx="2314991" cy="872837"/>
          </a:xfrm>
          <a:prstGeom prst="rect">
            <a:avLst/>
          </a:prstGeom>
          <a:noFill/>
          <a:ln>
            <a:solidFill>
              <a:srgbClr val="767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sp>
        <p:nvSpPr>
          <p:cNvPr id="79" name="文字方塊 78"/>
          <p:cNvSpPr txBox="1"/>
          <p:nvPr/>
        </p:nvSpPr>
        <p:spPr>
          <a:xfrm>
            <a:off x="7989343" y="3918209"/>
            <a:ext cx="1021433" cy="369332"/>
          </a:xfrm>
          <a:prstGeom prst="rect">
            <a:avLst/>
          </a:prstGeom>
          <a:noFill/>
        </p:spPr>
        <p:txBody>
          <a:bodyPr wrap="none" rtlCol="0">
            <a:spAutoFit/>
          </a:bodyPr>
          <a:lstStyle/>
          <a:p>
            <a:r>
              <a:rPr kumimoji="1" lang="en-US" altLang="zh-TW" sz="900" b="1" dirty="0">
                <a:solidFill>
                  <a:srgbClr val="FF0000"/>
                </a:solidFill>
                <a:latin typeface="CMU Serif Roman" charset="0"/>
                <a:ea typeface="CMU Serif Roman" charset="0"/>
                <a:cs typeface="CMU Serif Roman" charset="0"/>
              </a:rPr>
              <a:t>Information Flow</a:t>
            </a:r>
          </a:p>
          <a:p>
            <a:r>
              <a:rPr kumimoji="1" lang="en-US" altLang="zh-TW" sz="900" b="1" dirty="0">
                <a:solidFill>
                  <a:srgbClr val="FF0000"/>
                </a:solidFill>
                <a:latin typeface="CMU Serif Roman" charset="0"/>
                <a:ea typeface="CMU Serif Roman" charset="0"/>
                <a:cs typeface="CMU Serif Roman" charset="0"/>
              </a:rPr>
              <a:t>Tracking Engine</a:t>
            </a:r>
            <a:endParaRPr kumimoji="1" lang="zh-TW" altLang="en-US" sz="900" b="1" dirty="0">
              <a:solidFill>
                <a:srgbClr val="FF0000"/>
              </a:solidFill>
              <a:latin typeface="CMU Serif Roman" charset="0"/>
              <a:ea typeface="CMU Serif Roman" charset="0"/>
              <a:cs typeface="CMU Serif Roman" charset="0"/>
            </a:endParaRPr>
          </a:p>
        </p:txBody>
      </p:sp>
      <p:cxnSp>
        <p:nvCxnSpPr>
          <p:cNvPr id="81" name="肘形接點 80"/>
          <p:cNvCxnSpPr>
            <a:stCxn id="71" idx="3"/>
            <a:endCxn id="53" idx="0"/>
          </p:cNvCxnSpPr>
          <p:nvPr/>
        </p:nvCxnSpPr>
        <p:spPr>
          <a:xfrm flipH="1" flipV="1">
            <a:off x="7268699" y="2200563"/>
            <a:ext cx="2915920" cy="1271468"/>
          </a:xfrm>
          <a:prstGeom prst="bentConnector4">
            <a:avLst>
              <a:gd name="adj1" fmla="val -7306"/>
              <a:gd name="adj2" fmla="val 113484"/>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83" name="文字方塊 82"/>
          <p:cNvSpPr txBox="1"/>
          <p:nvPr/>
        </p:nvSpPr>
        <p:spPr>
          <a:xfrm>
            <a:off x="8054354" y="2629598"/>
            <a:ext cx="582212" cy="369332"/>
          </a:xfrm>
          <a:prstGeom prst="rect">
            <a:avLst/>
          </a:prstGeom>
          <a:noFill/>
        </p:spPr>
        <p:txBody>
          <a:bodyPr wrap="none" rtlCol="0">
            <a:spAutoFit/>
          </a:bodyPr>
          <a:lstStyle/>
          <a:p>
            <a:pPr algn="r"/>
            <a:r>
              <a:rPr kumimoji="1" lang="en-US" altLang="zh-TW" sz="900" dirty="0">
                <a:solidFill>
                  <a:srgbClr val="FF0000"/>
                </a:solidFill>
                <a:latin typeface="CMU Serif Roman" charset="0"/>
                <a:ea typeface="CMU Serif Roman" charset="0"/>
                <a:cs typeface="CMU Serif Roman" charset="0"/>
              </a:rPr>
              <a:t>runtime</a:t>
            </a:r>
          </a:p>
          <a:p>
            <a:pPr algn="r"/>
            <a:r>
              <a:rPr kumimoji="1" lang="en-US" altLang="zh-TW" sz="900" dirty="0">
                <a:solidFill>
                  <a:srgbClr val="FF0000"/>
                </a:solidFill>
                <a:latin typeface="CMU Serif Roman" charset="0"/>
                <a:ea typeface="CMU Serif Roman" charset="0"/>
                <a:cs typeface="CMU Serif Roman" charset="0"/>
              </a:rPr>
              <a:t>log</a:t>
            </a:r>
            <a:endParaRPr kumimoji="1" lang="zh-TW" altLang="en-US" sz="900" dirty="0">
              <a:solidFill>
                <a:srgbClr val="FF0000"/>
              </a:solidFill>
              <a:latin typeface="CMU Serif Roman" charset="0"/>
              <a:ea typeface="CMU Serif Roman" charset="0"/>
              <a:cs typeface="CMU Serif Roman" charset="0"/>
            </a:endParaRPr>
          </a:p>
        </p:txBody>
      </p:sp>
      <p:sp>
        <p:nvSpPr>
          <p:cNvPr id="84" name="文字方塊 83"/>
          <p:cNvSpPr txBox="1"/>
          <p:nvPr/>
        </p:nvSpPr>
        <p:spPr>
          <a:xfrm>
            <a:off x="8685607" y="2317178"/>
            <a:ext cx="1016625" cy="230832"/>
          </a:xfrm>
          <a:prstGeom prst="rect">
            <a:avLst/>
          </a:prstGeom>
          <a:noFill/>
        </p:spPr>
        <p:txBody>
          <a:bodyPr wrap="none" rtlCol="0">
            <a:spAutoFit/>
          </a:bodyPr>
          <a:lstStyle/>
          <a:p>
            <a:r>
              <a:rPr kumimoji="1" lang="en-US" altLang="zh-TW" sz="900">
                <a:latin typeface="CMU Serif Roman" charset="0"/>
                <a:ea typeface="CMU Serif Roman" charset="0"/>
                <a:cs typeface="CMU Serif Roman" charset="0"/>
              </a:rPr>
              <a:t>tag query request</a:t>
            </a:r>
            <a:endParaRPr kumimoji="1" lang="zh-TW" altLang="en-US" sz="900" dirty="0">
              <a:latin typeface="CMU Serif Roman" charset="0"/>
              <a:ea typeface="CMU Serif Roman" charset="0"/>
              <a:cs typeface="CMU Serif Roman" charset="0"/>
            </a:endParaRPr>
          </a:p>
        </p:txBody>
      </p:sp>
      <p:sp>
        <p:nvSpPr>
          <p:cNvPr id="85" name="文字方塊 84"/>
          <p:cNvSpPr txBox="1"/>
          <p:nvPr/>
        </p:nvSpPr>
        <p:spPr>
          <a:xfrm>
            <a:off x="8385501" y="1819892"/>
            <a:ext cx="1083951" cy="2308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tag query response</a:t>
            </a:r>
            <a:endParaRPr kumimoji="1" lang="zh-TW" altLang="en-US" sz="900" dirty="0">
              <a:latin typeface="CMU Serif Roman" charset="0"/>
              <a:ea typeface="CMU Serif Roman" charset="0"/>
              <a:cs typeface="CMU Serif Roman" charset="0"/>
            </a:endParaRPr>
          </a:p>
        </p:txBody>
      </p:sp>
      <p:cxnSp>
        <p:nvCxnSpPr>
          <p:cNvPr id="87" name="直線接點 86"/>
          <p:cNvCxnSpPr/>
          <p:nvPr/>
        </p:nvCxnSpPr>
        <p:spPr>
          <a:xfrm>
            <a:off x="7989322" y="1025509"/>
            <a:ext cx="0" cy="4765673"/>
          </a:xfrm>
          <a:prstGeom prst="line">
            <a:avLst/>
          </a:prstGeom>
          <a:ln>
            <a:solidFill>
              <a:schemeClr val="bg2">
                <a:lumMod val="50000"/>
              </a:schemeClr>
            </a:solidFill>
            <a:prstDash val="sysDot"/>
          </a:ln>
        </p:spPr>
        <p:style>
          <a:lnRef idx="1">
            <a:schemeClr val="dk1"/>
          </a:lnRef>
          <a:fillRef idx="0">
            <a:schemeClr val="dk1"/>
          </a:fillRef>
          <a:effectRef idx="0">
            <a:schemeClr val="dk1"/>
          </a:effectRef>
          <a:fontRef idx="minor">
            <a:schemeClr val="tx1"/>
          </a:fontRef>
        </p:style>
      </p:cxnSp>
      <p:grpSp>
        <p:nvGrpSpPr>
          <p:cNvPr id="114" name="群組 113"/>
          <p:cNvGrpSpPr/>
          <p:nvPr/>
        </p:nvGrpSpPr>
        <p:grpSpPr>
          <a:xfrm>
            <a:off x="8117240" y="4665012"/>
            <a:ext cx="766360" cy="707431"/>
            <a:chOff x="9180237" y="4785425"/>
            <a:chExt cx="1021813" cy="943241"/>
          </a:xfrm>
        </p:grpSpPr>
        <p:sp>
          <p:nvSpPr>
            <p:cNvPr id="90" name="橢圓 89"/>
            <p:cNvSpPr/>
            <p:nvPr/>
          </p:nvSpPr>
          <p:spPr>
            <a:xfrm>
              <a:off x="9180237" y="5308405"/>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2" name="橢圓 91"/>
            <p:cNvSpPr/>
            <p:nvPr/>
          </p:nvSpPr>
          <p:spPr>
            <a:xfrm>
              <a:off x="9544298" y="5076772"/>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3" name="橢圓 92"/>
            <p:cNvSpPr/>
            <p:nvPr/>
          </p:nvSpPr>
          <p:spPr>
            <a:xfrm>
              <a:off x="9566581" y="5516190"/>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4" name="橢圓 93"/>
            <p:cNvSpPr/>
            <p:nvPr/>
          </p:nvSpPr>
          <p:spPr>
            <a:xfrm>
              <a:off x="9973257" y="4785425"/>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5" name="橢圓 94"/>
            <p:cNvSpPr/>
            <p:nvPr/>
          </p:nvSpPr>
          <p:spPr>
            <a:xfrm>
              <a:off x="9989574" y="5236557"/>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cxnSp>
          <p:nvCxnSpPr>
            <p:cNvPr id="97" name="曲線接點 96"/>
            <p:cNvCxnSpPr>
              <a:stCxn id="90" idx="4"/>
              <a:endCxn id="93" idx="2"/>
            </p:cNvCxnSpPr>
            <p:nvPr/>
          </p:nvCxnSpPr>
          <p:spPr>
            <a:xfrm rot="16200000" flipH="1">
              <a:off x="9375755" y="5431601"/>
              <a:ext cx="101547" cy="280106"/>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99" name="曲線接點 98"/>
            <p:cNvCxnSpPr>
              <a:stCxn id="90" idx="0"/>
              <a:endCxn id="92" idx="2"/>
            </p:cNvCxnSpPr>
            <p:nvPr/>
          </p:nvCxnSpPr>
          <p:spPr>
            <a:xfrm rot="5400000" flipH="1" flipV="1">
              <a:off x="9352689" y="5116797"/>
              <a:ext cx="125395" cy="257823"/>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03" name="曲線接點 102"/>
            <p:cNvCxnSpPr>
              <a:stCxn id="93" idx="6"/>
              <a:endCxn id="95" idx="4"/>
            </p:cNvCxnSpPr>
            <p:nvPr/>
          </p:nvCxnSpPr>
          <p:spPr>
            <a:xfrm flipV="1">
              <a:off x="9779057" y="5449033"/>
              <a:ext cx="316755" cy="173395"/>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09" name="曲線接點 108"/>
            <p:cNvCxnSpPr>
              <a:stCxn id="93" idx="0"/>
              <a:endCxn id="95" idx="2"/>
            </p:cNvCxnSpPr>
            <p:nvPr/>
          </p:nvCxnSpPr>
          <p:spPr>
            <a:xfrm rot="5400000" flipH="1" flipV="1">
              <a:off x="9744499" y="5271116"/>
              <a:ext cx="173395" cy="316755"/>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11" name="曲線接點 110"/>
            <p:cNvCxnSpPr>
              <a:stCxn id="92" idx="7"/>
              <a:endCxn id="94" idx="2"/>
            </p:cNvCxnSpPr>
            <p:nvPr/>
          </p:nvCxnSpPr>
          <p:spPr>
            <a:xfrm rot="5400000" flipH="1" flipV="1">
              <a:off x="9741345" y="4875977"/>
              <a:ext cx="216225" cy="247599"/>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13" name="曲線接點 112"/>
            <p:cNvCxnSpPr>
              <a:stCxn id="94" idx="6"/>
              <a:endCxn id="95" idx="6"/>
            </p:cNvCxnSpPr>
            <p:nvPr/>
          </p:nvCxnSpPr>
          <p:spPr>
            <a:xfrm>
              <a:off x="10185733" y="4891663"/>
              <a:ext cx="16317" cy="451132"/>
            </a:xfrm>
            <a:prstGeom prst="curvedConnector3">
              <a:avLst>
                <a:gd name="adj1" fmla="val 1500993"/>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grpSp>
      <p:cxnSp>
        <p:nvCxnSpPr>
          <p:cNvPr id="116" name="直線箭頭接點 115"/>
          <p:cNvCxnSpPr>
            <a:stCxn id="78" idx="2"/>
          </p:cNvCxnSpPr>
          <p:nvPr/>
        </p:nvCxnSpPr>
        <p:spPr>
          <a:xfrm flipH="1">
            <a:off x="9146818" y="3901785"/>
            <a:ext cx="1" cy="627426"/>
          </a:xfrm>
          <a:prstGeom prst="straightConnector1">
            <a:avLst/>
          </a:prstGeom>
          <a:ln>
            <a:prstDash val="sysDot"/>
            <a:tailEnd type="triangle"/>
          </a:ln>
        </p:spPr>
        <p:style>
          <a:lnRef idx="1">
            <a:schemeClr val="dk1"/>
          </a:lnRef>
          <a:fillRef idx="0">
            <a:schemeClr val="dk1"/>
          </a:fillRef>
          <a:effectRef idx="0">
            <a:schemeClr val="dk1"/>
          </a:effectRef>
          <a:fontRef idx="minor">
            <a:schemeClr val="tx1"/>
          </a:fontRef>
        </p:style>
      </p:cxnSp>
      <p:sp>
        <p:nvSpPr>
          <p:cNvPr id="117" name="文字方塊 116"/>
          <p:cNvSpPr txBox="1"/>
          <p:nvPr/>
        </p:nvSpPr>
        <p:spPr>
          <a:xfrm>
            <a:off x="9121166" y="4700875"/>
            <a:ext cx="1494878" cy="698589"/>
          </a:xfrm>
          <a:prstGeom prst="rect">
            <a:avLst/>
          </a:prstGeom>
          <a:noFill/>
        </p:spPr>
        <p:txBody>
          <a:bodyPr wrap="square" rtlCol="0">
            <a:spAutoFit/>
          </a:bodyPr>
          <a:lstStyle/>
          <a:p>
            <a:r>
              <a:rPr kumimoji="1" lang="en-US" altLang="zh-TW" sz="788" dirty="0">
                <a:latin typeface="CMU Serif Roman" charset="0"/>
                <a:ea typeface="CMU Serif Roman" charset="0"/>
                <a:cs typeface="CMU Serif Roman" charset="0"/>
              </a:rPr>
              <a:t>Further Analysis</a:t>
            </a:r>
          </a:p>
          <a:p>
            <a:pPr marL="128588" indent="-128588">
              <a:buFont typeface="Arial" charset="0"/>
              <a:buChar char="•"/>
            </a:pPr>
            <a:r>
              <a:rPr kumimoji="1" lang="en-US" altLang="zh-TW" sz="788" dirty="0">
                <a:latin typeface="CMU Serif Roman" charset="0"/>
                <a:ea typeface="CMU Serif Roman" charset="0"/>
                <a:cs typeface="CMU Serif Roman" charset="0"/>
              </a:rPr>
              <a:t>Whole-system Information Flow Tracking</a:t>
            </a:r>
          </a:p>
          <a:p>
            <a:pPr marL="128588" indent="-128588">
              <a:buFont typeface="Arial" charset="0"/>
              <a:buChar char="•"/>
            </a:pPr>
            <a:r>
              <a:rPr kumimoji="1" lang="en-US" altLang="zh-TW" sz="788" dirty="0">
                <a:latin typeface="CMU Serif Roman" charset="0"/>
                <a:ea typeface="CMU Serif Roman" charset="0"/>
                <a:cs typeface="CMU Serif Roman" charset="0"/>
              </a:rPr>
              <a:t>Data Provenance</a:t>
            </a:r>
          </a:p>
          <a:p>
            <a:pPr marL="128588" indent="-128588">
              <a:buFont typeface="Arial" charset="0"/>
              <a:buChar char="•"/>
            </a:pPr>
            <a:r>
              <a:rPr kumimoji="1" lang="en-US" altLang="zh-TW" sz="788" dirty="0">
                <a:latin typeface="CMU Serif Roman" charset="0"/>
                <a:ea typeface="CMU Serif Roman" charset="0"/>
                <a:cs typeface="CMU Serif Roman" charset="0"/>
              </a:rPr>
              <a:t>Data Leakage Detection</a:t>
            </a:r>
            <a:endParaRPr kumimoji="1" lang="zh-TW" altLang="en-US" sz="788" dirty="0">
              <a:latin typeface="CMU Serif Roman" charset="0"/>
              <a:ea typeface="CMU Serif Roman" charset="0"/>
              <a:cs typeface="CMU Serif Roman" charset="0"/>
            </a:endParaRPr>
          </a:p>
        </p:txBody>
      </p:sp>
      <p:sp>
        <p:nvSpPr>
          <p:cNvPr id="49" name="橢圓 48"/>
          <p:cNvSpPr/>
          <p:nvPr/>
        </p:nvSpPr>
        <p:spPr>
          <a:xfrm>
            <a:off x="3523185" y="4765136"/>
            <a:ext cx="1390041" cy="690434"/>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Source Code</a:t>
            </a:r>
          </a:p>
          <a:p>
            <a:pPr algn="ctr"/>
            <a:r>
              <a:rPr kumimoji="1" lang="en-US" altLang="zh-TW" sz="900" dirty="0">
                <a:solidFill>
                  <a:schemeClr val="tx1"/>
                </a:solidFill>
                <a:latin typeface="CMU Serif Roman" charset="0"/>
                <a:ea typeface="CMU Serif Roman" charset="0"/>
                <a:cs typeface="CMU Serif Roman" charset="0"/>
              </a:rPr>
              <a:t>of</a:t>
            </a:r>
          </a:p>
          <a:p>
            <a:pPr algn="ctr"/>
            <a:r>
              <a:rPr kumimoji="1" lang="en-US" altLang="zh-TW" sz="900" dirty="0">
                <a:solidFill>
                  <a:schemeClr val="tx1"/>
                </a:solidFill>
                <a:latin typeface="CMU Serif Roman" charset="0"/>
                <a:ea typeface="CMU Serif Roman" charset="0"/>
                <a:cs typeface="CMU Serif Roman" charset="0"/>
              </a:rPr>
              <a:t>Target Program</a:t>
            </a:r>
          </a:p>
        </p:txBody>
      </p:sp>
      <p:cxnSp>
        <p:nvCxnSpPr>
          <p:cNvPr id="9" name="直線箭頭接點 8"/>
          <p:cNvCxnSpPr>
            <a:stCxn id="49" idx="2"/>
            <a:endCxn id="2" idx="6"/>
          </p:cNvCxnSpPr>
          <p:nvPr/>
        </p:nvCxnSpPr>
        <p:spPr>
          <a:xfrm flipH="1">
            <a:off x="3157915" y="5110353"/>
            <a:ext cx="3652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投影片編號版面配置區 9"/>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21</a:t>
            </a:fld>
            <a:endParaRPr kumimoji="1" lang="zh-TW" altLang="en-US"/>
          </a:p>
        </p:txBody>
      </p:sp>
      <p:sp>
        <p:nvSpPr>
          <p:cNvPr id="54" name="TextBox 53">
            <a:extLst>
              <a:ext uri="{FF2B5EF4-FFF2-40B4-BE49-F238E27FC236}">
                <a16:creationId xmlns:a16="http://schemas.microsoft.com/office/drawing/2014/main" id="{33C5F7CB-2494-4A8B-B411-C71DE9558B20}"/>
              </a:ext>
            </a:extLst>
          </p:cNvPr>
          <p:cNvSpPr txBox="1"/>
          <p:nvPr/>
        </p:nvSpPr>
        <p:spPr>
          <a:xfrm>
            <a:off x="4508039" y="5557498"/>
            <a:ext cx="7659485" cy="954107"/>
          </a:xfrm>
          <a:prstGeom prst="rect">
            <a:avLst/>
          </a:prstGeom>
          <a:noFill/>
        </p:spPr>
        <p:txBody>
          <a:bodyPr wrap="square">
            <a:spAutoFit/>
          </a:bodyPr>
          <a:lstStyle/>
          <a:p>
            <a:pPr lvl="1"/>
            <a:r>
              <a:rPr kumimoji="1" lang="en-US" altLang="zh-TW" sz="1400" dirty="0">
                <a:latin typeface="Comic Sans MS" panose="030F0902030302020204" pitchFamily="66" charset="0"/>
              </a:rPr>
              <a:t>Taint tags are stored in either Virtual Register or Memory Block</a:t>
            </a:r>
          </a:p>
          <a:p>
            <a:pPr lvl="1"/>
            <a:r>
              <a:rPr kumimoji="1" lang="en-US" altLang="zh-TW" sz="1400" dirty="0">
                <a:latin typeface="Comic Sans MS" panose="030F0902030302020204" pitchFamily="66" charset="0"/>
              </a:rPr>
              <a:t>Tag storage</a:t>
            </a:r>
          </a:p>
          <a:p>
            <a:pPr lvl="2"/>
            <a:r>
              <a:rPr kumimoji="1" lang="en-US" altLang="zh-TW" sz="1400" dirty="0">
                <a:latin typeface="Comic Sans MS" panose="030F0902030302020204" pitchFamily="66" charset="0"/>
              </a:rPr>
              <a:t>32-bit integer:  the first 16 bits are reserved for </a:t>
            </a:r>
            <a:r>
              <a:rPr kumimoji="1" lang="en-US" altLang="zh-TW" sz="1400" dirty="0" err="1">
                <a:latin typeface="Comic Sans MS" panose="030F0902030302020204" pitchFamily="66" charset="0"/>
              </a:rPr>
              <a:t>fd</a:t>
            </a:r>
            <a:endParaRPr kumimoji="1" lang="en-US" altLang="zh-TW" sz="1400" dirty="0">
              <a:latin typeface="Comic Sans MS" panose="030F0902030302020204" pitchFamily="66" charset="0"/>
            </a:endParaRPr>
          </a:p>
          <a:p>
            <a:pPr lvl="2"/>
            <a:r>
              <a:rPr kumimoji="1" lang="en-US" altLang="zh-TW" sz="1400" dirty="0">
                <a:latin typeface="Comic Sans MS" panose="030F0902030302020204" pitchFamily="66" charset="0"/>
              </a:rPr>
              <a:t>hash map: key value between 0x70000000 to 0x7fffffff are reserved for </a:t>
            </a:r>
            <a:r>
              <a:rPr kumimoji="1" lang="en-US" altLang="zh-TW" sz="1400" dirty="0" err="1">
                <a:latin typeface="Comic Sans MS" panose="030F0902030302020204" pitchFamily="66" charset="0"/>
              </a:rPr>
              <a:t>fd</a:t>
            </a:r>
            <a:endParaRPr kumimoji="1" lang="en-US" altLang="zh-TW" sz="1400" dirty="0">
              <a:latin typeface="Comic Sans MS" panose="030F0902030302020204" pitchFamily="66" charset="0"/>
            </a:endParaRPr>
          </a:p>
        </p:txBody>
      </p:sp>
      <p:sp>
        <p:nvSpPr>
          <p:cNvPr id="55" name="TextBox 54">
            <a:extLst>
              <a:ext uri="{FF2B5EF4-FFF2-40B4-BE49-F238E27FC236}">
                <a16:creationId xmlns:a16="http://schemas.microsoft.com/office/drawing/2014/main" id="{C29264C6-4D51-4504-B957-2A8998598D57}"/>
              </a:ext>
            </a:extLst>
          </p:cNvPr>
          <p:cNvSpPr txBox="1"/>
          <p:nvPr/>
        </p:nvSpPr>
        <p:spPr>
          <a:xfrm>
            <a:off x="1852145" y="5558318"/>
            <a:ext cx="2894296" cy="307777"/>
          </a:xfrm>
          <a:prstGeom prst="rect">
            <a:avLst/>
          </a:prstGeom>
          <a:noFill/>
        </p:spPr>
        <p:txBody>
          <a:bodyPr wrap="square" rtlCol="0">
            <a:spAutoFit/>
          </a:bodyPr>
          <a:lstStyle/>
          <a:p>
            <a:r>
              <a:rPr lang="en-US" sz="1400" b="1" dirty="0">
                <a:solidFill>
                  <a:srgbClr val="000000"/>
                </a:solidFill>
                <a:latin typeface="Comic Sans MS" panose="030F0902030302020204" pitchFamily="66" charset="0"/>
              </a:rPr>
              <a:t>Fig.: MIT Replay Phase</a:t>
            </a:r>
            <a:endParaRPr lang="en-IN" sz="1400" b="1" dirty="0">
              <a:solidFill>
                <a:srgbClr val="000000"/>
              </a:solidFill>
              <a:latin typeface="Comic Sans MS" panose="030F0902030302020204" pitchFamily="66" charset="0"/>
            </a:endParaRPr>
          </a:p>
        </p:txBody>
      </p:sp>
      <p:sp>
        <p:nvSpPr>
          <p:cNvPr id="56" name="標題 1">
            <a:extLst>
              <a:ext uri="{FF2B5EF4-FFF2-40B4-BE49-F238E27FC236}">
                <a16:creationId xmlns:a16="http://schemas.microsoft.com/office/drawing/2014/main" id="{2F5CD95C-48F9-44AE-8A97-EAA964C6DAC7}"/>
              </a:ext>
            </a:extLst>
          </p:cNvPr>
          <p:cNvSpPr txBox="1">
            <a:spLocks/>
          </p:cNvSpPr>
          <p:nvPr/>
        </p:nvSpPr>
        <p:spPr>
          <a:xfrm>
            <a:off x="0" y="211551"/>
            <a:ext cx="12039600" cy="748411"/>
          </a:xfrm>
          <a:prstGeom prst="rect">
            <a:avLst/>
          </a:prstGeom>
        </p:spPr>
        <p:txBody>
          <a:bodyPr>
            <a:normAutofit/>
          </a:bodyPr>
          <a:lstStyle>
            <a:lvl1pPr>
              <a:defRPr>
                <a:latin typeface="+mj-lt"/>
                <a:ea typeface="+mj-ea"/>
                <a:cs typeface="+mj-cs"/>
              </a:defRPr>
            </a:lvl1pPr>
          </a:lstStyle>
          <a:p>
            <a:r>
              <a:rPr lang="en-US" altLang="zh-TW" sz="3600" b="1" dirty="0">
                <a:latin typeface="Comic Sans MS"/>
              </a:rPr>
              <a:t>Replay Phase</a:t>
            </a:r>
            <a:endParaRPr lang="zh-TW" altLang="en-US" sz="3600" b="1" dirty="0">
              <a:latin typeface="Comic Sans MS"/>
            </a:endParaRPr>
          </a:p>
        </p:txBody>
      </p:sp>
    </p:spTree>
    <p:extLst>
      <p:ext uri="{BB962C8B-B14F-4D97-AF65-F5344CB8AC3E}">
        <p14:creationId xmlns:p14="http://schemas.microsoft.com/office/powerpoint/2010/main" val="1693092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橢圓 1"/>
          <p:cNvSpPr/>
          <p:nvPr/>
        </p:nvSpPr>
        <p:spPr>
          <a:xfrm>
            <a:off x="1767874" y="4765136"/>
            <a:ext cx="1390041" cy="690434"/>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a:t>
            </a:r>
          </a:p>
          <a:p>
            <a:pPr algn="ctr"/>
            <a:r>
              <a:rPr kumimoji="1" lang="en-US" altLang="zh-TW" sz="900" dirty="0">
                <a:solidFill>
                  <a:schemeClr val="tx1"/>
                </a:solidFill>
                <a:latin typeface="CMU Serif Roman" charset="0"/>
                <a:ea typeface="CMU Serif Roman" charset="0"/>
                <a:cs typeface="CMU Serif Roman" charset="0"/>
              </a:rPr>
              <a:t>of</a:t>
            </a:r>
          </a:p>
          <a:p>
            <a:pPr algn="ctr"/>
            <a:r>
              <a:rPr kumimoji="1" lang="en-US" altLang="zh-TW" sz="900" dirty="0">
                <a:solidFill>
                  <a:schemeClr val="tx1"/>
                </a:solidFill>
                <a:latin typeface="CMU Serif Roman" charset="0"/>
                <a:ea typeface="CMU Serif Roman" charset="0"/>
                <a:cs typeface="CMU Serif Roman" charset="0"/>
              </a:rPr>
              <a:t>Target Program</a:t>
            </a:r>
          </a:p>
        </p:txBody>
      </p:sp>
      <p:sp>
        <p:nvSpPr>
          <p:cNvPr id="3" name="矩形 2"/>
          <p:cNvSpPr/>
          <p:nvPr/>
        </p:nvSpPr>
        <p:spPr>
          <a:xfrm>
            <a:off x="1896801" y="2966883"/>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Extraction</a:t>
            </a:r>
          </a:p>
        </p:txBody>
      </p:sp>
      <p:sp>
        <p:nvSpPr>
          <p:cNvPr id="5" name="橢圓 4"/>
          <p:cNvSpPr/>
          <p:nvPr/>
        </p:nvSpPr>
        <p:spPr>
          <a:xfrm>
            <a:off x="4837891" y="2559106"/>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Instrumented</a:t>
            </a:r>
          </a:p>
          <a:p>
            <a:pPr algn="ctr"/>
            <a:r>
              <a:rPr kumimoji="1" lang="en-US" altLang="zh-TW" sz="900" dirty="0">
                <a:solidFill>
                  <a:schemeClr val="tx1"/>
                </a:solidFill>
                <a:latin typeface="CMU Serif Roman" charset="0"/>
                <a:ea typeface="CMU Serif Roman" charset="0"/>
                <a:cs typeface="CMU Serif Roman" charset="0"/>
              </a:rPr>
              <a:t>LLVM IR</a:t>
            </a:r>
          </a:p>
        </p:txBody>
      </p:sp>
      <p:sp>
        <p:nvSpPr>
          <p:cNvPr id="6" name="橢圓 5"/>
          <p:cNvSpPr/>
          <p:nvPr/>
        </p:nvSpPr>
        <p:spPr>
          <a:xfrm>
            <a:off x="4837891" y="3732129"/>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Intermediate Representation</a:t>
            </a:r>
          </a:p>
        </p:txBody>
      </p:sp>
      <p:sp>
        <p:nvSpPr>
          <p:cNvPr id="7" name="矩形 6"/>
          <p:cNvSpPr/>
          <p:nvPr/>
        </p:nvSpPr>
        <p:spPr>
          <a:xfrm>
            <a:off x="8124010" y="3147666"/>
            <a:ext cx="987334"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Taint Semantics Replay</a:t>
            </a:r>
          </a:p>
        </p:txBody>
      </p:sp>
      <p:sp>
        <p:nvSpPr>
          <p:cNvPr id="8" name="矩形 7"/>
          <p:cNvSpPr/>
          <p:nvPr/>
        </p:nvSpPr>
        <p:spPr>
          <a:xfrm>
            <a:off x="3453056" y="2559107"/>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 Instrumentation</a:t>
            </a:r>
          </a:p>
        </p:txBody>
      </p:sp>
      <p:cxnSp>
        <p:nvCxnSpPr>
          <p:cNvPr id="27" name="肘形接點 26"/>
          <p:cNvCxnSpPr>
            <a:stCxn id="3" idx="3"/>
            <a:endCxn id="8" idx="1"/>
          </p:cNvCxnSpPr>
          <p:nvPr/>
        </p:nvCxnSpPr>
        <p:spPr>
          <a:xfrm flipV="1">
            <a:off x="3028987" y="2883472"/>
            <a:ext cx="424068" cy="40777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1" name="肘形接點 30"/>
          <p:cNvCxnSpPr>
            <a:stCxn id="8" idx="3"/>
            <a:endCxn id="5" idx="2"/>
          </p:cNvCxnSpPr>
          <p:nvPr/>
        </p:nvCxnSpPr>
        <p:spPr>
          <a:xfrm flipV="1">
            <a:off x="4585242" y="2883472"/>
            <a:ext cx="252650" cy="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9" name="直線接點 38"/>
          <p:cNvCxnSpPr/>
          <p:nvPr/>
        </p:nvCxnSpPr>
        <p:spPr>
          <a:xfrm>
            <a:off x="6504926" y="1025509"/>
            <a:ext cx="0" cy="4765673"/>
          </a:xfrm>
          <a:prstGeom prst="line">
            <a:avLst/>
          </a:prstGeom>
          <a:ln>
            <a:solidFill>
              <a:schemeClr val="bg2">
                <a:lumMod val="50000"/>
              </a:schemeClr>
            </a:solidFill>
            <a:prstDash val="sysDot"/>
          </a:ln>
        </p:spPr>
        <p:style>
          <a:lnRef idx="1">
            <a:schemeClr val="dk1"/>
          </a:lnRef>
          <a:fillRef idx="0">
            <a:schemeClr val="dk1"/>
          </a:fillRef>
          <a:effectRef idx="0">
            <a:schemeClr val="dk1"/>
          </a:effectRef>
          <a:fontRef idx="minor">
            <a:schemeClr val="tx1"/>
          </a:fontRef>
        </p:style>
      </p:cxnSp>
      <p:sp>
        <p:nvSpPr>
          <p:cNvPr id="40" name="文字方塊 39"/>
          <p:cNvSpPr txBox="1"/>
          <p:nvPr/>
        </p:nvSpPr>
        <p:spPr>
          <a:xfrm>
            <a:off x="3557164" y="1040345"/>
            <a:ext cx="1116011"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Extraction Phase</a:t>
            </a:r>
            <a:endParaRPr kumimoji="1" lang="zh-TW" altLang="en-US" sz="1050" b="1" dirty="0">
              <a:latin typeface="CMU Serif Roman" charset="0"/>
              <a:ea typeface="CMU Serif Roman" charset="0"/>
              <a:cs typeface="CMU Serif Roman" charset="0"/>
            </a:endParaRPr>
          </a:p>
        </p:txBody>
      </p:sp>
      <p:sp>
        <p:nvSpPr>
          <p:cNvPr id="41" name="文字方塊 40"/>
          <p:cNvSpPr txBox="1"/>
          <p:nvPr/>
        </p:nvSpPr>
        <p:spPr>
          <a:xfrm>
            <a:off x="6775722" y="1040345"/>
            <a:ext cx="938077" cy="253916"/>
          </a:xfrm>
          <a:prstGeom prst="rect">
            <a:avLst/>
          </a:prstGeom>
          <a:noFill/>
        </p:spPr>
        <p:txBody>
          <a:bodyPr wrap="none" rtlCol="0">
            <a:spAutoFit/>
          </a:bodyPr>
          <a:lstStyle/>
          <a:p>
            <a:r>
              <a:rPr kumimoji="1" lang="en-US" altLang="zh-TW" sz="1050" b="1" dirty="0">
                <a:solidFill>
                  <a:srgbClr val="FF0000"/>
                </a:solidFill>
                <a:latin typeface="CMU Serif Roman" charset="0"/>
                <a:ea typeface="CMU Serif Roman" charset="0"/>
                <a:cs typeface="CMU Serif Roman" charset="0"/>
              </a:rPr>
              <a:t>Record Phase</a:t>
            </a:r>
            <a:endParaRPr kumimoji="1" lang="zh-TW" altLang="en-US" sz="1050" b="1" dirty="0">
              <a:solidFill>
                <a:srgbClr val="FF0000"/>
              </a:solidFill>
              <a:latin typeface="CMU Serif Roman" charset="0"/>
              <a:ea typeface="CMU Serif Roman" charset="0"/>
              <a:cs typeface="CMU Serif Roman" charset="0"/>
            </a:endParaRPr>
          </a:p>
        </p:txBody>
      </p:sp>
      <p:sp>
        <p:nvSpPr>
          <p:cNvPr id="42" name="文字方塊 41"/>
          <p:cNvSpPr txBox="1"/>
          <p:nvPr/>
        </p:nvSpPr>
        <p:spPr>
          <a:xfrm>
            <a:off x="8845043" y="1038668"/>
            <a:ext cx="925253" cy="253916"/>
          </a:xfrm>
          <a:prstGeom prst="rect">
            <a:avLst/>
          </a:prstGeom>
          <a:noFill/>
        </p:spPr>
        <p:txBody>
          <a:bodyPr wrap="none" rtlCol="0">
            <a:spAutoFit/>
          </a:bodyPr>
          <a:lstStyle/>
          <a:p>
            <a:r>
              <a:rPr kumimoji="1" lang="en-US" altLang="zh-TW" sz="1050" b="1" dirty="0">
                <a:latin typeface="CMU Serif Roman" charset="0"/>
                <a:ea typeface="CMU Serif Roman" charset="0"/>
                <a:cs typeface="CMU Serif Roman" charset="0"/>
              </a:rPr>
              <a:t>Replay Phase</a:t>
            </a:r>
            <a:endParaRPr kumimoji="1" lang="zh-TW" altLang="en-US" sz="1050" b="1" dirty="0">
              <a:latin typeface="CMU Serif Roman" charset="0"/>
              <a:ea typeface="CMU Serif Roman" charset="0"/>
              <a:cs typeface="CMU Serif Roman" charset="0"/>
            </a:endParaRPr>
          </a:p>
        </p:txBody>
      </p:sp>
      <p:sp>
        <p:nvSpPr>
          <p:cNvPr id="30" name="橢圓 29"/>
          <p:cNvSpPr/>
          <p:nvPr/>
        </p:nvSpPr>
        <p:spPr>
          <a:xfrm>
            <a:off x="4837891" y="1771257"/>
            <a:ext cx="1496966" cy="648730"/>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Information Flow Tracking Runtime Library</a:t>
            </a:r>
          </a:p>
        </p:txBody>
      </p:sp>
      <p:sp>
        <p:nvSpPr>
          <p:cNvPr id="44" name="矩形 43"/>
          <p:cNvSpPr/>
          <p:nvPr/>
        </p:nvSpPr>
        <p:spPr>
          <a:xfrm>
            <a:off x="3453056" y="3732129"/>
            <a:ext cx="1132187" cy="648730"/>
          </a:xfrm>
          <a:prstGeom prst="rect">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LLVM IR to TSIR</a:t>
            </a:r>
          </a:p>
          <a:p>
            <a:pPr algn="ctr"/>
            <a:r>
              <a:rPr kumimoji="1" lang="en-US" altLang="zh-TW" sz="900" dirty="0">
                <a:solidFill>
                  <a:schemeClr val="tx1"/>
                </a:solidFill>
                <a:latin typeface="CMU Serif Roman" charset="0"/>
                <a:ea typeface="CMU Serif Roman" charset="0"/>
                <a:cs typeface="CMU Serif Roman" charset="0"/>
              </a:rPr>
              <a:t>Translation</a:t>
            </a:r>
          </a:p>
        </p:txBody>
      </p:sp>
      <p:cxnSp>
        <p:nvCxnSpPr>
          <p:cNvPr id="46" name="肘形接點 45"/>
          <p:cNvCxnSpPr>
            <a:stCxn id="3" idx="3"/>
            <a:endCxn id="44" idx="1"/>
          </p:cNvCxnSpPr>
          <p:nvPr/>
        </p:nvCxnSpPr>
        <p:spPr>
          <a:xfrm>
            <a:off x="3028987" y="3291249"/>
            <a:ext cx="424068" cy="76524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2" name="直線箭頭接點 51"/>
          <p:cNvCxnSpPr>
            <a:stCxn id="44" idx="3"/>
            <a:endCxn id="6" idx="2"/>
          </p:cNvCxnSpPr>
          <p:nvPr/>
        </p:nvCxnSpPr>
        <p:spPr>
          <a:xfrm>
            <a:off x="4585242" y="4056494"/>
            <a:ext cx="2526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橢圓 52"/>
          <p:cNvSpPr/>
          <p:nvPr/>
        </p:nvSpPr>
        <p:spPr>
          <a:xfrm>
            <a:off x="6664604" y="2200563"/>
            <a:ext cx="1208190" cy="648730"/>
          </a:xfrm>
          <a:prstGeom prst="ellipse">
            <a:avLst/>
          </a:prstGeom>
          <a:solidFill>
            <a:schemeClr val="accent4">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Instrumented Target Program</a:t>
            </a:r>
          </a:p>
        </p:txBody>
      </p:sp>
      <p:cxnSp>
        <p:nvCxnSpPr>
          <p:cNvPr id="58" name="肘形接點 57"/>
          <p:cNvCxnSpPr>
            <a:stCxn id="30" idx="6"/>
            <a:endCxn id="53" idx="2"/>
          </p:cNvCxnSpPr>
          <p:nvPr/>
        </p:nvCxnSpPr>
        <p:spPr>
          <a:xfrm>
            <a:off x="6334858" y="2095624"/>
            <a:ext cx="329747" cy="42930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0" name="肘形接點 59"/>
          <p:cNvCxnSpPr>
            <a:stCxn id="5" idx="6"/>
            <a:endCxn id="53" idx="2"/>
          </p:cNvCxnSpPr>
          <p:nvPr/>
        </p:nvCxnSpPr>
        <p:spPr>
          <a:xfrm flipV="1">
            <a:off x="6334858" y="2524927"/>
            <a:ext cx="329747" cy="35854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線箭頭接點 61"/>
          <p:cNvCxnSpPr>
            <a:stCxn id="2" idx="0"/>
            <a:endCxn id="3" idx="2"/>
          </p:cNvCxnSpPr>
          <p:nvPr/>
        </p:nvCxnSpPr>
        <p:spPr>
          <a:xfrm flipV="1">
            <a:off x="2462894" y="3615612"/>
            <a:ext cx="0" cy="11495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矩形 67"/>
          <p:cNvSpPr/>
          <p:nvPr/>
        </p:nvSpPr>
        <p:spPr>
          <a:xfrm>
            <a:off x="1767874" y="2419987"/>
            <a:ext cx="2943693" cy="2109224"/>
          </a:xfrm>
          <a:prstGeom prst="rect">
            <a:avLst/>
          </a:prstGeom>
          <a:noFill/>
          <a:ln>
            <a:solidFill>
              <a:srgbClr val="767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sp>
        <p:nvSpPr>
          <p:cNvPr id="69" name="文字方塊 68"/>
          <p:cNvSpPr txBox="1"/>
          <p:nvPr/>
        </p:nvSpPr>
        <p:spPr>
          <a:xfrm>
            <a:off x="1747092" y="2198150"/>
            <a:ext cx="888385" cy="2308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TSIR Translator</a:t>
            </a:r>
            <a:endParaRPr kumimoji="1" lang="zh-TW" altLang="en-US" sz="900" dirty="0">
              <a:latin typeface="CMU Serif Roman" charset="0"/>
              <a:ea typeface="CMU Serif Roman" charset="0"/>
              <a:cs typeface="CMU Serif Roman" charset="0"/>
            </a:endParaRPr>
          </a:p>
        </p:txBody>
      </p:sp>
      <p:sp>
        <p:nvSpPr>
          <p:cNvPr id="71" name="矩形 70"/>
          <p:cNvSpPr/>
          <p:nvPr/>
        </p:nvSpPr>
        <p:spPr>
          <a:xfrm>
            <a:off x="9197285" y="3147666"/>
            <a:ext cx="987334" cy="648730"/>
          </a:xfrm>
          <a:prstGeom prst="rect">
            <a:avLst/>
          </a:prstGeom>
          <a:solidFill>
            <a:schemeClr val="accent4">
              <a:lumMod val="60000"/>
              <a:lumOff val="4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Request Handling</a:t>
            </a:r>
          </a:p>
        </p:txBody>
      </p:sp>
      <p:cxnSp>
        <p:nvCxnSpPr>
          <p:cNvPr id="73" name="肘形接點 72"/>
          <p:cNvCxnSpPr>
            <a:stCxn id="53" idx="6"/>
            <a:endCxn id="7" idx="0"/>
          </p:cNvCxnSpPr>
          <p:nvPr/>
        </p:nvCxnSpPr>
        <p:spPr>
          <a:xfrm>
            <a:off x="7872793" y="2524928"/>
            <a:ext cx="744884" cy="62273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75" name="肘形接點 74"/>
          <p:cNvCxnSpPr>
            <a:stCxn id="53" idx="6"/>
            <a:endCxn id="71" idx="0"/>
          </p:cNvCxnSpPr>
          <p:nvPr/>
        </p:nvCxnSpPr>
        <p:spPr>
          <a:xfrm>
            <a:off x="7872794" y="2524928"/>
            <a:ext cx="1818158" cy="622738"/>
          </a:xfrm>
          <a:prstGeom prst="bentConnector2">
            <a:avLst/>
          </a:prstGeom>
          <a:ln w="28575">
            <a:solidFill>
              <a:srgbClr val="FF0000"/>
            </a:solidFill>
            <a:prstDash val="dash"/>
            <a:tailEnd type="triangle"/>
          </a:ln>
        </p:spPr>
        <p:style>
          <a:lnRef idx="1">
            <a:schemeClr val="dk1"/>
          </a:lnRef>
          <a:fillRef idx="0">
            <a:schemeClr val="dk1"/>
          </a:fillRef>
          <a:effectRef idx="0">
            <a:schemeClr val="dk1"/>
          </a:effectRef>
          <a:fontRef idx="minor">
            <a:schemeClr val="tx1"/>
          </a:fontRef>
        </p:style>
      </p:cxnSp>
      <p:cxnSp>
        <p:nvCxnSpPr>
          <p:cNvPr id="77" name="肘形接點 76"/>
          <p:cNvCxnSpPr>
            <a:stCxn id="6" idx="6"/>
            <a:endCxn id="7" idx="1"/>
          </p:cNvCxnSpPr>
          <p:nvPr/>
        </p:nvCxnSpPr>
        <p:spPr>
          <a:xfrm flipV="1">
            <a:off x="6334858" y="3472031"/>
            <a:ext cx="1789153" cy="58446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78" name="矩形 77"/>
          <p:cNvSpPr/>
          <p:nvPr/>
        </p:nvSpPr>
        <p:spPr>
          <a:xfrm>
            <a:off x="7989323" y="3028949"/>
            <a:ext cx="2314991" cy="872837"/>
          </a:xfrm>
          <a:prstGeom prst="rect">
            <a:avLst/>
          </a:prstGeom>
          <a:noFill/>
          <a:ln>
            <a:solidFill>
              <a:srgbClr val="76717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sp>
        <p:nvSpPr>
          <p:cNvPr id="79" name="文字方塊 78"/>
          <p:cNvSpPr txBox="1"/>
          <p:nvPr/>
        </p:nvSpPr>
        <p:spPr>
          <a:xfrm>
            <a:off x="7989343" y="3918209"/>
            <a:ext cx="994183" cy="369332"/>
          </a:xfrm>
          <a:prstGeom prst="rect">
            <a:avLst/>
          </a:prstGeom>
          <a:noFill/>
        </p:spPr>
        <p:txBody>
          <a:bodyPr wrap="none" rtlCol="0">
            <a:spAutoFit/>
          </a:bodyPr>
          <a:lstStyle/>
          <a:p>
            <a:r>
              <a:rPr kumimoji="1" lang="en-US" altLang="zh-TW" sz="900" dirty="0">
                <a:latin typeface="CMU Serif Roman" charset="0"/>
                <a:ea typeface="CMU Serif Roman" charset="0"/>
                <a:cs typeface="CMU Serif Roman" charset="0"/>
              </a:rPr>
              <a:t>Information Flow</a:t>
            </a:r>
          </a:p>
          <a:p>
            <a:r>
              <a:rPr kumimoji="1" lang="en-US" altLang="zh-TW" sz="900" dirty="0">
                <a:latin typeface="CMU Serif Roman" charset="0"/>
                <a:ea typeface="CMU Serif Roman" charset="0"/>
                <a:cs typeface="CMU Serif Roman" charset="0"/>
              </a:rPr>
              <a:t>Tracking Engine</a:t>
            </a:r>
            <a:endParaRPr kumimoji="1" lang="zh-TW" altLang="en-US" sz="900" dirty="0">
              <a:latin typeface="CMU Serif Roman" charset="0"/>
              <a:ea typeface="CMU Serif Roman" charset="0"/>
              <a:cs typeface="CMU Serif Roman" charset="0"/>
            </a:endParaRPr>
          </a:p>
        </p:txBody>
      </p:sp>
      <p:cxnSp>
        <p:nvCxnSpPr>
          <p:cNvPr id="81" name="肘形接點 80"/>
          <p:cNvCxnSpPr>
            <a:stCxn id="71" idx="3"/>
            <a:endCxn id="53" idx="0"/>
          </p:cNvCxnSpPr>
          <p:nvPr/>
        </p:nvCxnSpPr>
        <p:spPr>
          <a:xfrm flipH="1" flipV="1">
            <a:off x="7268699" y="2200563"/>
            <a:ext cx="2915920" cy="1271468"/>
          </a:xfrm>
          <a:prstGeom prst="bentConnector4">
            <a:avLst>
              <a:gd name="adj1" fmla="val -7306"/>
              <a:gd name="adj2" fmla="val 113484"/>
            </a:avLst>
          </a:prstGeom>
          <a:ln w="28575">
            <a:solidFill>
              <a:srgbClr val="FF0000"/>
            </a:solidFill>
            <a:prstDash val="dash"/>
            <a:tailEnd type="triangle"/>
          </a:ln>
        </p:spPr>
        <p:style>
          <a:lnRef idx="1">
            <a:schemeClr val="dk1"/>
          </a:lnRef>
          <a:fillRef idx="0">
            <a:schemeClr val="dk1"/>
          </a:fillRef>
          <a:effectRef idx="0">
            <a:schemeClr val="dk1"/>
          </a:effectRef>
          <a:fontRef idx="minor">
            <a:schemeClr val="tx1"/>
          </a:fontRef>
        </p:style>
      </p:cxnSp>
      <p:sp>
        <p:nvSpPr>
          <p:cNvPr id="83" name="文字方塊 82"/>
          <p:cNvSpPr txBox="1"/>
          <p:nvPr/>
        </p:nvSpPr>
        <p:spPr>
          <a:xfrm>
            <a:off x="8054354" y="2629598"/>
            <a:ext cx="582212" cy="369332"/>
          </a:xfrm>
          <a:prstGeom prst="rect">
            <a:avLst/>
          </a:prstGeom>
          <a:noFill/>
        </p:spPr>
        <p:txBody>
          <a:bodyPr wrap="none" rtlCol="0">
            <a:spAutoFit/>
          </a:bodyPr>
          <a:lstStyle/>
          <a:p>
            <a:pPr algn="r"/>
            <a:r>
              <a:rPr kumimoji="1" lang="en-US" altLang="zh-TW" sz="900" dirty="0">
                <a:latin typeface="CMU Serif Roman" charset="0"/>
                <a:ea typeface="CMU Serif Roman" charset="0"/>
                <a:cs typeface="CMU Serif Roman" charset="0"/>
              </a:rPr>
              <a:t>runtime</a:t>
            </a:r>
          </a:p>
          <a:p>
            <a:pPr algn="r"/>
            <a:r>
              <a:rPr kumimoji="1" lang="en-US" altLang="zh-TW" sz="900" dirty="0">
                <a:latin typeface="CMU Serif Roman" charset="0"/>
                <a:ea typeface="CMU Serif Roman" charset="0"/>
                <a:cs typeface="CMU Serif Roman" charset="0"/>
              </a:rPr>
              <a:t>log</a:t>
            </a:r>
            <a:endParaRPr kumimoji="1" lang="zh-TW" altLang="en-US" sz="900" dirty="0">
              <a:latin typeface="CMU Serif Roman" charset="0"/>
              <a:ea typeface="CMU Serif Roman" charset="0"/>
              <a:cs typeface="CMU Serif Roman" charset="0"/>
            </a:endParaRPr>
          </a:p>
        </p:txBody>
      </p:sp>
      <p:sp>
        <p:nvSpPr>
          <p:cNvPr id="84" name="文字方塊 83"/>
          <p:cNvSpPr txBox="1"/>
          <p:nvPr/>
        </p:nvSpPr>
        <p:spPr>
          <a:xfrm>
            <a:off x="8685607" y="2317178"/>
            <a:ext cx="1016625" cy="230832"/>
          </a:xfrm>
          <a:prstGeom prst="rect">
            <a:avLst/>
          </a:prstGeom>
          <a:noFill/>
        </p:spPr>
        <p:txBody>
          <a:bodyPr wrap="none" rtlCol="0">
            <a:spAutoFit/>
          </a:bodyPr>
          <a:lstStyle/>
          <a:p>
            <a:r>
              <a:rPr kumimoji="1" lang="en-US" altLang="zh-TW" sz="900">
                <a:solidFill>
                  <a:srgbClr val="FF0000"/>
                </a:solidFill>
                <a:latin typeface="CMU Serif Roman" charset="0"/>
                <a:ea typeface="CMU Serif Roman" charset="0"/>
                <a:cs typeface="CMU Serif Roman" charset="0"/>
              </a:rPr>
              <a:t>tag query request</a:t>
            </a:r>
            <a:endParaRPr kumimoji="1" lang="zh-TW" altLang="en-US" sz="900" dirty="0">
              <a:solidFill>
                <a:srgbClr val="FF0000"/>
              </a:solidFill>
              <a:latin typeface="CMU Serif Roman" charset="0"/>
              <a:ea typeface="CMU Serif Roman" charset="0"/>
              <a:cs typeface="CMU Serif Roman" charset="0"/>
            </a:endParaRPr>
          </a:p>
        </p:txBody>
      </p:sp>
      <p:sp>
        <p:nvSpPr>
          <p:cNvPr id="85" name="文字方塊 84"/>
          <p:cNvSpPr txBox="1"/>
          <p:nvPr/>
        </p:nvSpPr>
        <p:spPr>
          <a:xfrm>
            <a:off x="8385501" y="1819892"/>
            <a:ext cx="1083951" cy="230832"/>
          </a:xfrm>
          <a:prstGeom prst="rect">
            <a:avLst/>
          </a:prstGeom>
          <a:noFill/>
        </p:spPr>
        <p:txBody>
          <a:bodyPr wrap="none" rtlCol="0">
            <a:spAutoFit/>
          </a:bodyPr>
          <a:lstStyle/>
          <a:p>
            <a:r>
              <a:rPr kumimoji="1" lang="en-US" altLang="zh-TW" sz="900" dirty="0">
                <a:solidFill>
                  <a:srgbClr val="FF0000"/>
                </a:solidFill>
                <a:latin typeface="CMU Serif Roman" charset="0"/>
                <a:ea typeface="CMU Serif Roman" charset="0"/>
                <a:cs typeface="CMU Serif Roman" charset="0"/>
              </a:rPr>
              <a:t>tag query response</a:t>
            </a:r>
            <a:endParaRPr kumimoji="1" lang="zh-TW" altLang="en-US" sz="900" dirty="0">
              <a:solidFill>
                <a:srgbClr val="FF0000"/>
              </a:solidFill>
              <a:latin typeface="CMU Serif Roman" charset="0"/>
              <a:ea typeface="CMU Serif Roman" charset="0"/>
              <a:cs typeface="CMU Serif Roman" charset="0"/>
            </a:endParaRPr>
          </a:p>
        </p:txBody>
      </p:sp>
      <p:cxnSp>
        <p:nvCxnSpPr>
          <p:cNvPr id="87" name="直線接點 86"/>
          <p:cNvCxnSpPr/>
          <p:nvPr/>
        </p:nvCxnSpPr>
        <p:spPr>
          <a:xfrm>
            <a:off x="7989322" y="1025509"/>
            <a:ext cx="0" cy="4765673"/>
          </a:xfrm>
          <a:prstGeom prst="line">
            <a:avLst/>
          </a:prstGeom>
          <a:ln>
            <a:solidFill>
              <a:schemeClr val="bg2">
                <a:lumMod val="50000"/>
              </a:schemeClr>
            </a:solidFill>
            <a:prstDash val="sysDot"/>
          </a:ln>
        </p:spPr>
        <p:style>
          <a:lnRef idx="1">
            <a:schemeClr val="dk1"/>
          </a:lnRef>
          <a:fillRef idx="0">
            <a:schemeClr val="dk1"/>
          </a:fillRef>
          <a:effectRef idx="0">
            <a:schemeClr val="dk1"/>
          </a:effectRef>
          <a:fontRef idx="minor">
            <a:schemeClr val="tx1"/>
          </a:fontRef>
        </p:style>
      </p:cxnSp>
      <p:grpSp>
        <p:nvGrpSpPr>
          <p:cNvPr id="114" name="群組 113"/>
          <p:cNvGrpSpPr/>
          <p:nvPr/>
        </p:nvGrpSpPr>
        <p:grpSpPr>
          <a:xfrm>
            <a:off x="8117240" y="4665012"/>
            <a:ext cx="766360" cy="707431"/>
            <a:chOff x="9180237" y="4785425"/>
            <a:chExt cx="1021813" cy="943241"/>
          </a:xfrm>
        </p:grpSpPr>
        <p:sp>
          <p:nvSpPr>
            <p:cNvPr id="90" name="橢圓 89"/>
            <p:cNvSpPr/>
            <p:nvPr/>
          </p:nvSpPr>
          <p:spPr>
            <a:xfrm>
              <a:off x="9180237" y="5308405"/>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2" name="橢圓 91"/>
            <p:cNvSpPr/>
            <p:nvPr/>
          </p:nvSpPr>
          <p:spPr>
            <a:xfrm>
              <a:off x="9544298" y="5076772"/>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3" name="橢圓 92"/>
            <p:cNvSpPr/>
            <p:nvPr/>
          </p:nvSpPr>
          <p:spPr>
            <a:xfrm>
              <a:off x="9566581" y="5516190"/>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4" name="橢圓 93"/>
            <p:cNvSpPr/>
            <p:nvPr/>
          </p:nvSpPr>
          <p:spPr>
            <a:xfrm>
              <a:off x="9973257" y="4785425"/>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sp>
          <p:nvSpPr>
            <p:cNvPr id="95" name="橢圓 94"/>
            <p:cNvSpPr/>
            <p:nvPr/>
          </p:nvSpPr>
          <p:spPr>
            <a:xfrm>
              <a:off x="9989574" y="5236557"/>
              <a:ext cx="212476" cy="212476"/>
            </a:xfrm>
            <a:prstGeom prst="ellipse">
              <a:avLst/>
            </a:prstGeom>
            <a:noFill/>
            <a:ln>
              <a:solidFill>
                <a:srgbClr val="76717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zh-TW" altLang="en-US" sz="1350"/>
            </a:p>
          </p:txBody>
        </p:sp>
        <p:cxnSp>
          <p:nvCxnSpPr>
            <p:cNvPr id="97" name="曲線接點 96"/>
            <p:cNvCxnSpPr>
              <a:stCxn id="90" idx="4"/>
              <a:endCxn id="93" idx="2"/>
            </p:cNvCxnSpPr>
            <p:nvPr/>
          </p:nvCxnSpPr>
          <p:spPr>
            <a:xfrm rot="16200000" flipH="1">
              <a:off x="9375755" y="5431601"/>
              <a:ext cx="101547" cy="280106"/>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99" name="曲線接點 98"/>
            <p:cNvCxnSpPr>
              <a:stCxn id="90" idx="0"/>
              <a:endCxn id="92" idx="2"/>
            </p:cNvCxnSpPr>
            <p:nvPr/>
          </p:nvCxnSpPr>
          <p:spPr>
            <a:xfrm rot="5400000" flipH="1" flipV="1">
              <a:off x="9352689" y="5116797"/>
              <a:ext cx="125395" cy="257823"/>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03" name="曲線接點 102"/>
            <p:cNvCxnSpPr>
              <a:stCxn id="93" idx="6"/>
              <a:endCxn id="95" idx="4"/>
            </p:cNvCxnSpPr>
            <p:nvPr/>
          </p:nvCxnSpPr>
          <p:spPr>
            <a:xfrm flipV="1">
              <a:off x="9779057" y="5449033"/>
              <a:ext cx="316755" cy="173395"/>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09" name="曲線接點 108"/>
            <p:cNvCxnSpPr>
              <a:stCxn id="93" idx="0"/>
              <a:endCxn id="95" idx="2"/>
            </p:cNvCxnSpPr>
            <p:nvPr/>
          </p:nvCxnSpPr>
          <p:spPr>
            <a:xfrm rot="5400000" flipH="1" flipV="1">
              <a:off x="9744499" y="5271116"/>
              <a:ext cx="173395" cy="316755"/>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11" name="曲線接點 110"/>
            <p:cNvCxnSpPr>
              <a:stCxn id="92" idx="7"/>
              <a:endCxn id="94" idx="2"/>
            </p:cNvCxnSpPr>
            <p:nvPr/>
          </p:nvCxnSpPr>
          <p:spPr>
            <a:xfrm rot="5400000" flipH="1" flipV="1">
              <a:off x="9741345" y="4875977"/>
              <a:ext cx="216225" cy="247599"/>
            </a:xfrm>
            <a:prstGeom prst="curvedConnector2">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cxnSp>
          <p:nvCxnSpPr>
            <p:cNvPr id="113" name="曲線接點 112"/>
            <p:cNvCxnSpPr>
              <a:stCxn id="94" idx="6"/>
              <a:endCxn id="95" idx="6"/>
            </p:cNvCxnSpPr>
            <p:nvPr/>
          </p:nvCxnSpPr>
          <p:spPr>
            <a:xfrm>
              <a:off x="10185733" y="4891663"/>
              <a:ext cx="16317" cy="451132"/>
            </a:xfrm>
            <a:prstGeom prst="curvedConnector3">
              <a:avLst>
                <a:gd name="adj1" fmla="val 1500993"/>
              </a:avLst>
            </a:prstGeom>
            <a:ln>
              <a:solidFill>
                <a:srgbClr val="767171"/>
              </a:solidFill>
              <a:tailEnd type="triangle"/>
            </a:ln>
          </p:spPr>
          <p:style>
            <a:lnRef idx="1">
              <a:schemeClr val="dk1"/>
            </a:lnRef>
            <a:fillRef idx="0">
              <a:schemeClr val="dk1"/>
            </a:fillRef>
            <a:effectRef idx="0">
              <a:schemeClr val="dk1"/>
            </a:effectRef>
            <a:fontRef idx="minor">
              <a:schemeClr val="tx1"/>
            </a:fontRef>
          </p:style>
        </p:cxnSp>
      </p:grpSp>
      <p:cxnSp>
        <p:nvCxnSpPr>
          <p:cNvPr id="116" name="直線箭頭接點 115"/>
          <p:cNvCxnSpPr>
            <a:stCxn id="78" idx="2"/>
          </p:cNvCxnSpPr>
          <p:nvPr/>
        </p:nvCxnSpPr>
        <p:spPr>
          <a:xfrm flipH="1">
            <a:off x="9146818" y="3901785"/>
            <a:ext cx="1" cy="627426"/>
          </a:xfrm>
          <a:prstGeom prst="straightConnector1">
            <a:avLst/>
          </a:prstGeom>
          <a:ln>
            <a:prstDash val="sysDot"/>
            <a:tailEnd type="triangle"/>
          </a:ln>
        </p:spPr>
        <p:style>
          <a:lnRef idx="1">
            <a:schemeClr val="dk1"/>
          </a:lnRef>
          <a:fillRef idx="0">
            <a:schemeClr val="dk1"/>
          </a:fillRef>
          <a:effectRef idx="0">
            <a:schemeClr val="dk1"/>
          </a:effectRef>
          <a:fontRef idx="minor">
            <a:schemeClr val="tx1"/>
          </a:fontRef>
        </p:style>
      </p:cxnSp>
      <p:sp>
        <p:nvSpPr>
          <p:cNvPr id="117" name="文字方塊 116"/>
          <p:cNvSpPr txBox="1"/>
          <p:nvPr/>
        </p:nvSpPr>
        <p:spPr>
          <a:xfrm>
            <a:off x="9121166" y="4700875"/>
            <a:ext cx="1494878" cy="698589"/>
          </a:xfrm>
          <a:prstGeom prst="rect">
            <a:avLst/>
          </a:prstGeom>
          <a:noFill/>
        </p:spPr>
        <p:txBody>
          <a:bodyPr wrap="square" rtlCol="0">
            <a:spAutoFit/>
          </a:bodyPr>
          <a:lstStyle/>
          <a:p>
            <a:r>
              <a:rPr kumimoji="1" lang="en-US" altLang="zh-TW" sz="788" dirty="0">
                <a:latin typeface="CMU Serif Roman" charset="0"/>
                <a:ea typeface="CMU Serif Roman" charset="0"/>
                <a:cs typeface="CMU Serif Roman" charset="0"/>
              </a:rPr>
              <a:t>Further Analysis</a:t>
            </a:r>
          </a:p>
          <a:p>
            <a:pPr marL="128588" indent="-128588">
              <a:buFont typeface="Arial" charset="0"/>
              <a:buChar char="•"/>
            </a:pPr>
            <a:r>
              <a:rPr kumimoji="1" lang="en-US" altLang="zh-TW" sz="788" dirty="0">
                <a:latin typeface="CMU Serif Roman" charset="0"/>
                <a:ea typeface="CMU Serif Roman" charset="0"/>
                <a:cs typeface="CMU Serif Roman" charset="0"/>
              </a:rPr>
              <a:t>Whole-system Information Flow Tracking</a:t>
            </a:r>
          </a:p>
          <a:p>
            <a:pPr marL="128588" indent="-128588">
              <a:buFont typeface="Arial" charset="0"/>
              <a:buChar char="•"/>
            </a:pPr>
            <a:r>
              <a:rPr kumimoji="1" lang="en-US" altLang="zh-TW" sz="788" dirty="0">
                <a:latin typeface="CMU Serif Roman" charset="0"/>
                <a:ea typeface="CMU Serif Roman" charset="0"/>
                <a:cs typeface="CMU Serif Roman" charset="0"/>
              </a:rPr>
              <a:t>Data Provenance</a:t>
            </a:r>
          </a:p>
          <a:p>
            <a:pPr marL="128588" indent="-128588">
              <a:buFont typeface="Arial" charset="0"/>
              <a:buChar char="•"/>
            </a:pPr>
            <a:r>
              <a:rPr kumimoji="1" lang="en-US" altLang="zh-TW" sz="788" dirty="0">
                <a:latin typeface="CMU Serif Roman" charset="0"/>
                <a:ea typeface="CMU Serif Roman" charset="0"/>
                <a:cs typeface="CMU Serif Roman" charset="0"/>
              </a:rPr>
              <a:t>Data Leakage Detection</a:t>
            </a:r>
            <a:endParaRPr kumimoji="1" lang="zh-TW" altLang="en-US" sz="788" dirty="0">
              <a:latin typeface="CMU Serif Roman" charset="0"/>
              <a:ea typeface="CMU Serif Roman" charset="0"/>
              <a:cs typeface="CMU Serif Roman" charset="0"/>
            </a:endParaRPr>
          </a:p>
        </p:txBody>
      </p:sp>
      <p:sp>
        <p:nvSpPr>
          <p:cNvPr id="49" name="橢圓 48"/>
          <p:cNvSpPr/>
          <p:nvPr/>
        </p:nvSpPr>
        <p:spPr>
          <a:xfrm>
            <a:off x="3523185" y="4765136"/>
            <a:ext cx="1390041" cy="690434"/>
          </a:xfrm>
          <a:prstGeom prst="ellipse">
            <a:avLst/>
          </a:prstGeom>
          <a:solidFill>
            <a:schemeClr val="bg2"/>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kumimoji="1" lang="en-US" altLang="zh-TW" sz="900" dirty="0">
                <a:solidFill>
                  <a:schemeClr val="tx1"/>
                </a:solidFill>
                <a:latin typeface="CMU Serif Roman" charset="0"/>
                <a:ea typeface="CMU Serif Roman" charset="0"/>
                <a:cs typeface="CMU Serif Roman" charset="0"/>
              </a:rPr>
              <a:t>Source Code</a:t>
            </a:r>
          </a:p>
          <a:p>
            <a:pPr algn="ctr"/>
            <a:r>
              <a:rPr kumimoji="1" lang="en-US" altLang="zh-TW" sz="900" dirty="0">
                <a:solidFill>
                  <a:schemeClr val="tx1"/>
                </a:solidFill>
                <a:latin typeface="CMU Serif Roman" charset="0"/>
                <a:ea typeface="CMU Serif Roman" charset="0"/>
                <a:cs typeface="CMU Serif Roman" charset="0"/>
              </a:rPr>
              <a:t>of</a:t>
            </a:r>
          </a:p>
          <a:p>
            <a:pPr algn="ctr"/>
            <a:r>
              <a:rPr kumimoji="1" lang="en-US" altLang="zh-TW" sz="900" dirty="0">
                <a:solidFill>
                  <a:schemeClr val="tx1"/>
                </a:solidFill>
                <a:latin typeface="CMU Serif Roman" charset="0"/>
                <a:ea typeface="CMU Serif Roman" charset="0"/>
                <a:cs typeface="CMU Serif Roman" charset="0"/>
              </a:rPr>
              <a:t>Target Program</a:t>
            </a:r>
          </a:p>
        </p:txBody>
      </p:sp>
      <p:cxnSp>
        <p:nvCxnSpPr>
          <p:cNvPr id="9" name="直線箭頭接點 8"/>
          <p:cNvCxnSpPr>
            <a:stCxn id="49" idx="2"/>
            <a:endCxn id="2" idx="6"/>
          </p:cNvCxnSpPr>
          <p:nvPr/>
        </p:nvCxnSpPr>
        <p:spPr>
          <a:xfrm flipH="1">
            <a:off x="3157915" y="5110353"/>
            <a:ext cx="3652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投影片編號版面配置區 9"/>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22</a:t>
            </a:fld>
            <a:endParaRPr kumimoji="1" lang="zh-TW" altLang="en-US"/>
          </a:p>
        </p:txBody>
      </p:sp>
      <p:sp>
        <p:nvSpPr>
          <p:cNvPr id="12" name="TextBox 11">
            <a:extLst>
              <a:ext uri="{FF2B5EF4-FFF2-40B4-BE49-F238E27FC236}">
                <a16:creationId xmlns:a16="http://schemas.microsoft.com/office/drawing/2014/main" id="{F2F02111-FD6C-44CA-87E2-06E421E249C0}"/>
              </a:ext>
            </a:extLst>
          </p:cNvPr>
          <p:cNvSpPr txBox="1"/>
          <p:nvPr/>
        </p:nvSpPr>
        <p:spPr>
          <a:xfrm>
            <a:off x="4533647" y="5906040"/>
            <a:ext cx="2697186" cy="369332"/>
          </a:xfrm>
          <a:prstGeom prst="rect">
            <a:avLst/>
          </a:prstGeom>
          <a:noFill/>
        </p:spPr>
        <p:txBody>
          <a:bodyPr wrap="square" rtlCol="0">
            <a:spAutoFit/>
          </a:bodyPr>
          <a:lstStyle/>
          <a:p>
            <a:r>
              <a:rPr lang="en-US" dirty="0">
                <a:latin typeface="Comic Sans MS" panose="030F0902030302020204" pitchFamily="66" charset="0"/>
              </a:rPr>
              <a:t>List of Tag query API</a:t>
            </a:r>
            <a:endParaRPr lang="en-IN" dirty="0">
              <a:latin typeface="Comic Sans MS" panose="030F0902030302020204" pitchFamily="66" charset="0"/>
            </a:endParaRPr>
          </a:p>
        </p:txBody>
      </p:sp>
      <p:cxnSp>
        <p:nvCxnSpPr>
          <p:cNvPr id="14" name="Straight Arrow Connector 13">
            <a:extLst>
              <a:ext uri="{FF2B5EF4-FFF2-40B4-BE49-F238E27FC236}">
                <a16:creationId xmlns:a16="http://schemas.microsoft.com/office/drawing/2014/main" id="{4F07774A-2E74-4AD2-A9E6-400CCD1C918D}"/>
              </a:ext>
            </a:extLst>
          </p:cNvPr>
          <p:cNvCxnSpPr>
            <a:cxnSpLocks/>
          </p:cNvCxnSpPr>
          <p:nvPr/>
        </p:nvCxnSpPr>
        <p:spPr>
          <a:xfrm>
            <a:off x="7022496" y="6098695"/>
            <a:ext cx="82802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5" name="標題 1">
            <a:extLst>
              <a:ext uri="{FF2B5EF4-FFF2-40B4-BE49-F238E27FC236}">
                <a16:creationId xmlns:a16="http://schemas.microsoft.com/office/drawing/2014/main" id="{E217E4B9-CE25-4068-8054-8B2F2578BE72}"/>
              </a:ext>
            </a:extLst>
          </p:cNvPr>
          <p:cNvSpPr txBox="1">
            <a:spLocks/>
          </p:cNvSpPr>
          <p:nvPr/>
        </p:nvSpPr>
        <p:spPr>
          <a:xfrm>
            <a:off x="-14514" y="224312"/>
            <a:ext cx="12039600" cy="776194"/>
          </a:xfrm>
          <a:prstGeom prst="rect">
            <a:avLst/>
          </a:prstGeom>
        </p:spPr>
        <p:txBody>
          <a:bodyPr>
            <a:normAutofit/>
          </a:bodyPr>
          <a:lstStyle>
            <a:lvl1pPr>
              <a:defRPr>
                <a:latin typeface="+mj-lt"/>
                <a:ea typeface="+mj-ea"/>
                <a:cs typeface="+mj-cs"/>
              </a:defRPr>
            </a:lvl1pPr>
          </a:lstStyle>
          <a:p>
            <a:r>
              <a:rPr lang="en-US" altLang="zh-TW" sz="3600" b="1" dirty="0">
                <a:latin typeface="Comic Sans MS"/>
              </a:rPr>
              <a:t>Replay Phase (contd.)</a:t>
            </a:r>
            <a:endParaRPr lang="zh-TW" altLang="en-US" sz="3600" b="1" dirty="0">
              <a:latin typeface="Comic Sans MS"/>
            </a:endParaRPr>
          </a:p>
        </p:txBody>
      </p:sp>
      <p:sp>
        <p:nvSpPr>
          <p:cNvPr id="56" name="TextBox 55">
            <a:extLst>
              <a:ext uri="{FF2B5EF4-FFF2-40B4-BE49-F238E27FC236}">
                <a16:creationId xmlns:a16="http://schemas.microsoft.com/office/drawing/2014/main" id="{8E4DC542-209A-4CF9-897E-709634CCD387}"/>
              </a:ext>
            </a:extLst>
          </p:cNvPr>
          <p:cNvSpPr txBox="1"/>
          <p:nvPr/>
        </p:nvSpPr>
        <p:spPr>
          <a:xfrm>
            <a:off x="5426747" y="4868480"/>
            <a:ext cx="3556779" cy="307777"/>
          </a:xfrm>
          <a:prstGeom prst="rect">
            <a:avLst/>
          </a:prstGeom>
          <a:noFill/>
        </p:spPr>
        <p:txBody>
          <a:bodyPr wrap="square" rtlCol="0">
            <a:spAutoFit/>
          </a:bodyPr>
          <a:lstStyle/>
          <a:p>
            <a:r>
              <a:rPr lang="en-US" sz="1400" dirty="0">
                <a:solidFill>
                  <a:srgbClr val="000000"/>
                </a:solidFill>
                <a:latin typeface="NimbusRomNo9L-Regu"/>
              </a:rPr>
              <a:t>Fig. 6 : MIT Replay phase</a:t>
            </a:r>
            <a:endParaRPr lang="en-IN" sz="1400" dirty="0">
              <a:solidFill>
                <a:srgbClr val="000000"/>
              </a:solidFill>
              <a:latin typeface="NimbusRomNo9L-Regu"/>
            </a:endParaRPr>
          </a:p>
        </p:txBody>
      </p:sp>
      <p:pic>
        <p:nvPicPr>
          <p:cNvPr id="11" name="Picture 10">
            <a:extLst>
              <a:ext uri="{FF2B5EF4-FFF2-40B4-BE49-F238E27FC236}">
                <a16:creationId xmlns:a16="http://schemas.microsoft.com/office/drawing/2014/main" id="{9CBB7998-98E1-A342-A576-45904BCE24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89322" y="5699141"/>
            <a:ext cx="3924300" cy="685800"/>
          </a:xfrm>
          <a:prstGeom prst="rect">
            <a:avLst/>
          </a:prstGeom>
        </p:spPr>
      </p:pic>
      <p:sp>
        <p:nvSpPr>
          <p:cNvPr id="59" name="TextBox 58">
            <a:extLst>
              <a:ext uri="{FF2B5EF4-FFF2-40B4-BE49-F238E27FC236}">
                <a16:creationId xmlns:a16="http://schemas.microsoft.com/office/drawing/2014/main" id="{02B166C4-AE88-1146-B2F4-8CC5537809B8}"/>
              </a:ext>
            </a:extLst>
          </p:cNvPr>
          <p:cNvSpPr txBox="1"/>
          <p:nvPr/>
        </p:nvSpPr>
        <p:spPr>
          <a:xfrm>
            <a:off x="1852145" y="5558318"/>
            <a:ext cx="2894296" cy="307777"/>
          </a:xfrm>
          <a:prstGeom prst="rect">
            <a:avLst/>
          </a:prstGeom>
          <a:noFill/>
        </p:spPr>
        <p:txBody>
          <a:bodyPr wrap="square" rtlCol="0">
            <a:spAutoFit/>
          </a:bodyPr>
          <a:lstStyle/>
          <a:p>
            <a:r>
              <a:rPr lang="en-US" sz="1400" b="1" dirty="0">
                <a:solidFill>
                  <a:srgbClr val="000000"/>
                </a:solidFill>
                <a:latin typeface="Comic Sans MS" panose="030F0902030302020204" pitchFamily="66" charset="0"/>
              </a:rPr>
              <a:t>Fig.: MIT Replay Phase</a:t>
            </a:r>
            <a:endParaRPr lang="en-IN" sz="1400" b="1" dirty="0">
              <a:solidFill>
                <a:srgbClr val="000000"/>
              </a:solidFill>
              <a:latin typeface="Comic Sans MS" panose="030F0902030302020204" pitchFamily="66" charset="0"/>
            </a:endParaRPr>
          </a:p>
        </p:txBody>
      </p:sp>
    </p:spTree>
    <p:extLst>
      <p:ext uri="{BB962C8B-B14F-4D97-AF65-F5344CB8AC3E}">
        <p14:creationId xmlns:p14="http://schemas.microsoft.com/office/powerpoint/2010/main" val="1643324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0661" y="228600"/>
            <a:ext cx="10246339" cy="553998"/>
          </a:xfrm>
        </p:spPr>
        <p:txBody>
          <a:bodyPr/>
          <a:lstStyle/>
          <a:p>
            <a:r>
              <a:rPr kumimoji="1" lang="en-US" altLang="zh-TW" sz="3600" dirty="0"/>
              <a:t>Experiment Result</a:t>
            </a:r>
            <a:endParaRPr kumimoji="1" lang="zh-TW" altLang="en-US" sz="3600" dirty="0"/>
          </a:p>
        </p:txBody>
      </p:sp>
      <p:sp>
        <p:nvSpPr>
          <p:cNvPr id="3" name="內容版面配置區 2"/>
          <p:cNvSpPr>
            <a:spLocks noGrp="1"/>
          </p:cNvSpPr>
          <p:nvPr>
            <p:ph idx="1"/>
          </p:nvPr>
        </p:nvSpPr>
        <p:spPr>
          <a:xfrm>
            <a:off x="838200" y="1911529"/>
            <a:ext cx="7696200" cy="2215991"/>
          </a:xfrm>
        </p:spPr>
        <p:txBody>
          <a:bodyPr/>
          <a:lstStyle/>
          <a:p>
            <a:pPr marL="342900" indent="-342900">
              <a:buFont typeface="Wingdings" pitchFamily="2" charset="2"/>
              <a:buChar char="ü"/>
            </a:pPr>
            <a:r>
              <a:rPr kumimoji="1" lang="en-US" altLang="zh-TW" sz="1800" dirty="0">
                <a:solidFill>
                  <a:srgbClr val="00B0F0"/>
                </a:solidFill>
                <a:latin typeface="Comic Sans MS" panose="030F0902030302020204" pitchFamily="66" charset="0"/>
              </a:rPr>
              <a:t>Performance</a:t>
            </a:r>
          </a:p>
          <a:p>
            <a:pPr marL="800100" lvl="1" indent="-342900">
              <a:buFont typeface="Wingdings" pitchFamily="2" charset="2"/>
              <a:buChar char="ü"/>
            </a:pPr>
            <a:r>
              <a:rPr kumimoji="1" lang="en-US" altLang="zh-TW" dirty="0">
                <a:latin typeface="Comic Sans MS" panose="030F0902030302020204" pitchFamily="66" charset="0"/>
              </a:rPr>
              <a:t>Command-line utilities - </a:t>
            </a:r>
            <a:r>
              <a:rPr lang="en-US" sz="1800" b="0" i="0" dirty="0" err="1">
                <a:solidFill>
                  <a:srgbClr val="000000"/>
                </a:solidFill>
                <a:effectLst/>
                <a:latin typeface="NimbusMonL-Regu"/>
              </a:rPr>
              <a:t>wget</a:t>
            </a:r>
            <a:r>
              <a:rPr lang="en-US" sz="1800" b="0" i="0" dirty="0">
                <a:solidFill>
                  <a:srgbClr val="000000"/>
                </a:solidFill>
                <a:effectLst/>
                <a:latin typeface="NimbusRomNo9L-Regu"/>
              </a:rPr>
              <a:t>, </a:t>
            </a:r>
            <a:r>
              <a:rPr lang="en-US" sz="1800" b="0" i="0" dirty="0">
                <a:solidFill>
                  <a:srgbClr val="000000"/>
                </a:solidFill>
                <a:effectLst/>
                <a:latin typeface="NimbusMonL-Regu"/>
              </a:rPr>
              <a:t>tar</a:t>
            </a:r>
            <a:r>
              <a:rPr lang="en-US" sz="1800" b="0" i="0" dirty="0">
                <a:solidFill>
                  <a:srgbClr val="000000"/>
                </a:solidFill>
                <a:effectLst/>
                <a:latin typeface="NimbusRomNo9L-Regu"/>
              </a:rPr>
              <a:t>, </a:t>
            </a:r>
            <a:r>
              <a:rPr lang="en-US" sz="1800" b="0" i="0" dirty="0" err="1">
                <a:solidFill>
                  <a:srgbClr val="000000"/>
                </a:solidFill>
                <a:effectLst/>
                <a:latin typeface="NimbusMonL-Regu"/>
              </a:rPr>
              <a:t>gzip</a:t>
            </a:r>
            <a:r>
              <a:rPr lang="en-US" sz="1800" b="0" i="0" dirty="0">
                <a:solidFill>
                  <a:srgbClr val="000000"/>
                </a:solidFill>
                <a:effectLst/>
                <a:latin typeface="NimbusMonL-Regu"/>
              </a:rPr>
              <a:t> </a:t>
            </a:r>
            <a:r>
              <a:rPr lang="en-US" dirty="0">
                <a:solidFill>
                  <a:srgbClr val="000000"/>
                </a:solidFill>
                <a:latin typeface="NimbusRomNo9L-Regu"/>
              </a:rPr>
              <a:t>,</a:t>
            </a:r>
            <a:r>
              <a:rPr lang="en-US" sz="1800" b="0" i="0" dirty="0">
                <a:solidFill>
                  <a:srgbClr val="000000"/>
                </a:solidFill>
                <a:effectLst/>
                <a:latin typeface="NimbusRomNo9L-Regu"/>
              </a:rPr>
              <a:t> </a:t>
            </a:r>
            <a:r>
              <a:rPr lang="en-US" sz="1800" b="0" i="0" dirty="0">
                <a:solidFill>
                  <a:srgbClr val="000000"/>
                </a:solidFill>
                <a:effectLst/>
                <a:latin typeface="NimbusMonL-Regu"/>
              </a:rPr>
              <a:t>md5sum</a:t>
            </a:r>
            <a:r>
              <a:rPr lang="en-US" sz="1800" b="0" i="0" dirty="0">
                <a:solidFill>
                  <a:srgbClr val="000000"/>
                </a:solidFill>
                <a:effectLst/>
                <a:latin typeface="NimbusRomNo9L-Regu"/>
              </a:rPr>
              <a:t>, </a:t>
            </a:r>
            <a:r>
              <a:rPr lang="en-US" sz="1800" b="0" i="0" dirty="0">
                <a:solidFill>
                  <a:srgbClr val="000000"/>
                </a:solidFill>
                <a:effectLst/>
                <a:latin typeface="NimbusMonL-Regu"/>
              </a:rPr>
              <a:t>sha256sum </a:t>
            </a:r>
            <a:endParaRPr kumimoji="1" lang="en-US" altLang="zh-TW" dirty="0">
              <a:latin typeface="Comic Sans MS" panose="030F0902030302020204" pitchFamily="66" charset="0"/>
            </a:endParaRPr>
          </a:p>
          <a:p>
            <a:pPr marL="800100" lvl="1" indent="-342900">
              <a:buFont typeface="Wingdings" pitchFamily="2" charset="2"/>
              <a:buChar char="ü"/>
            </a:pPr>
            <a:r>
              <a:rPr kumimoji="1" lang="en-US" altLang="zh-TW" dirty="0">
                <a:latin typeface="Comic Sans MS" panose="030F0902030302020204" pitchFamily="66" charset="0"/>
              </a:rPr>
              <a:t>Server programs</a:t>
            </a:r>
          </a:p>
          <a:p>
            <a:pPr marL="342900" indent="-342900">
              <a:buFont typeface="Wingdings" pitchFamily="2" charset="2"/>
              <a:buChar char="ü"/>
            </a:pPr>
            <a:r>
              <a:rPr kumimoji="1" lang="en-US" altLang="zh-TW" sz="1800" dirty="0">
                <a:solidFill>
                  <a:srgbClr val="00B0F0"/>
                </a:solidFill>
                <a:latin typeface="Comic Sans MS" panose="030F0902030302020204" pitchFamily="66" charset="0"/>
              </a:rPr>
              <a:t>Effectiveness of Optimizations</a:t>
            </a:r>
          </a:p>
          <a:p>
            <a:pPr marL="800100" lvl="1" indent="-342900">
              <a:buFont typeface="Wingdings" pitchFamily="2" charset="2"/>
              <a:buChar char="ü"/>
            </a:pPr>
            <a:r>
              <a:rPr kumimoji="1" lang="en-US" altLang="zh-TW" dirty="0">
                <a:latin typeface="Comic Sans MS" panose="030F0902030302020204" pitchFamily="66" charset="0"/>
              </a:rPr>
              <a:t>Log compression</a:t>
            </a:r>
          </a:p>
          <a:p>
            <a:pPr marL="800100" lvl="1" indent="-342900">
              <a:buFont typeface="Wingdings" pitchFamily="2" charset="2"/>
              <a:buChar char="ü"/>
            </a:pPr>
            <a:r>
              <a:rPr kumimoji="1" lang="en-US" altLang="zh-TW" dirty="0">
                <a:latin typeface="Comic Sans MS" panose="030F0902030302020204" pitchFamily="66" charset="0"/>
              </a:rPr>
              <a:t>Effective data flow detection</a:t>
            </a:r>
          </a:p>
          <a:p>
            <a:pPr marL="800100" lvl="1" indent="-342900">
              <a:buFont typeface="Wingdings" pitchFamily="2" charset="2"/>
              <a:buChar char="ü"/>
            </a:pPr>
            <a:r>
              <a:rPr kumimoji="1" lang="en-US" altLang="zh-TW" dirty="0">
                <a:latin typeface="Comic Sans MS" panose="030F0902030302020204" pitchFamily="66" charset="0"/>
              </a:rPr>
              <a:t>Log level</a:t>
            </a:r>
          </a:p>
          <a:p>
            <a:pPr marL="342900" indent="-342900">
              <a:buFont typeface="Wingdings" pitchFamily="2" charset="2"/>
              <a:buChar char="ü"/>
            </a:pPr>
            <a:r>
              <a:rPr kumimoji="1" lang="en-US" altLang="zh-TW" sz="1800" dirty="0">
                <a:solidFill>
                  <a:srgbClr val="00B0F0"/>
                </a:solidFill>
                <a:latin typeface="Comic Sans MS" panose="030F0902030302020204" pitchFamily="66" charset="0"/>
              </a:rPr>
              <a:t>Effectiveness of Information Flow Tracking</a:t>
            </a:r>
            <a:endParaRPr kumimoji="1" lang="zh-TW" altLang="en-US" sz="1800" dirty="0">
              <a:solidFill>
                <a:srgbClr val="00B0F0"/>
              </a:solidFill>
              <a:latin typeface="Comic Sans MS" panose="030F0902030302020204" pitchFamily="66" charset="0"/>
            </a:endParaRPr>
          </a:p>
        </p:txBody>
      </p:sp>
      <p:sp>
        <p:nvSpPr>
          <p:cNvPr id="5" name="投影片編號版面配置區 4"/>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23</a:t>
            </a:fld>
            <a:endParaRPr kumimoji="1" lang="zh-TW" altLang="en-US"/>
          </a:p>
        </p:txBody>
      </p:sp>
    </p:spTree>
    <p:extLst>
      <p:ext uri="{BB962C8B-B14F-4D97-AF65-F5344CB8AC3E}">
        <p14:creationId xmlns:p14="http://schemas.microsoft.com/office/powerpoint/2010/main" val="1553884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0661" y="304800"/>
            <a:ext cx="10246339" cy="675534"/>
          </a:xfrm>
        </p:spPr>
        <p:txBody>
          <a:bodyPr>
            <a:normAutofit/>
          </a:bodyPr>
          <a:lstStyle/>
          <a:p>
            <a:r>
              <a:rPr kumimoji="1" lang="en-US" altLang="zh-TW" sz="3600" dirty="0"/>
              <a:t>Command-line Utilities </a:t>
            </a:r>
            <a:r>
              <a:rPr kumimoji="1" lang="mr-IN" altLang="zh-TW" sz="3600" dirty="0"/>
              <a:t>–</a:t>
            </a:r>
            <a:r>
              <a:rPr kumimoji="1" lang="en-US" altLang="zh-TW" sz="3600" dirty="0"/>
              <a:t> Overhead</a:t>
            </a:r>
            <a:endParaRPr kumimoji="1" lang="zh-TW" altLang="en-US" sz="3600" dirty="0"/>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8266" y="1143001"/>
            <a:ext cx="7493000" cy="4495800"/>
          </a:xfrm>
          <a:prstGeom prst="rect">
            <a:avLst/>
          </a:prstGeom>
        </p:spPr>
      </p:pic>
      <p:sp>
        <p:nvSpPr>
          <p:cNvPr id="5" name="投影片編號版面配置區 4"/>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24</a:t>
            </a:fld>
            <a:endParaRPr kumimoji="1" lang="zh-TW" altLang="en-US"/>
          </a:p>
        </p:txBody>
      </p:sp>
      <p:sp>
        <p:nvSpPr>
          <p:cNvPr id="6" name="TextBox 5">
            <a:extLst>
              <a:ext uri="{FF2B5EF4-FFF2-40B4-BE49-F238E27FC236}">
                <a16:creationId xmlns:a16="http://schemas.microsoft.com/office/drawing/2014/main" id="{259DD0F5-74CE-4FD7-BA86-A9EEFE725C94}"/>
              </a:ext>
            </a:extLst>
          </p:cNvPr>
          <p:cNvSpPr txBox="1"/>
          <p:nvPr/>
        </p:nvSpPr>
        <p:spPr>
          <a:xfrm>
            <a:off x="3657600" y="5722289"/>
            <a:ext cx="3733800" cy="307777"/>
          </a:xfrm>
          <a:prstGeom prst="rect">
            <a:avLst/>
          </a:prstGeom>
          <a:noFill/>
        </p:spPr>
        <p:txBody>
          <a:bodyPr wrap="square">
            <a:spAutoFit/>
          </a:bodyPr>
          <a:lstStyle/>
          <a:p>
            <a:r>
              <a:rPr lang="en-US" sz="1400" b="1" i="0" dirty="0">
                <a:solidFill>
                  <a:srgbClr val="000000"/>
                </a:solidFill>
                <a:effectLst/>
                <a:latin typeface="Comic Sans MS" panose="030F0902030302020204" pitchFamily="66" charset="0"/>
              </a:rPr>
              <a:t>Fig.: Slowdowns of Command-line Utilities</a:t>
            </a:r>
            <a:r>
              <a:rPr lang="en-US" sz="1400" b="1" dirty="0">
                <a:latin typeface="Comic Sans MS" panose="030F0902030302020204" pitchFamily="66" charset="0"/>
              </a:rPr>
              <a:t> </a:t>
            </a:r>
            <a:endParaRPr lang="en-IN" sz="1400" b="1" dirty="0">
              <a:latin typeface="Comic Sans MS" panose="030F0902030302020204" pitchFamily="66" charset="0"/>
            </a:endParaRPr>
          </a:p>
        </p:txBody>
      </p:sp>
    </p:spTree>
    <p:extLst>
      <p:ext uri="{BB962C8B-B14F-4D97-AF65-F5344CB8AC3E}">
        <p14:creationId xmlns:p14="http://schemas.microsoft.com/office/powerpoint/2010/main" val="1532363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0661" y="324226"/>
            <a:ext cx="10246339" cy="685800"/>
          </a:xfrm>
        </p:spPr>
        <p:txBody>
          <a:bodyPr>
            <a:normAutofit/>
          </a:bodyPr>
          <a:lstStyle/>
          <a:p>
            <a:r>
              <a:rPr kumimoji="1" lang="en-US" altLang="zh-TW" sz="3600" dirty="0"/>
              <a:t>Server Programs </a:t>
            </a:r>
            <a:r>
              <a:rPr kumimoji="1" lang="mr-IN" altLang="zh-TW" sz="3600" dirty="0"/>
              <a:t>–</a:t>
            </a:r>
            <a:r>
              <a:rPr kumimoji="1" lang="en-US" altLang="zh-TW" sz="3600" dirty="0"/>
              <a:t> Overhead</a:t>
            </a:r>
            <a:endParaRPr kumimoji="1" lang="zh-TW" altLang="en-US" sz="3600" dirty="0"/>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0" y="1295400"/>
            <a:ext cx="8015466" cy="4419600"/>
          </a:xfrm>
          <a:prstGeom prst="rect">
            <a:avLst/>
          </a:prstGeom>
        </p:spPr>
      </p:pic>
      <p:sp>
        <p:nvSpPr>
          <p:cNvPr id="5" name="投影片編號版面配置區 4"/>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25</a:t>
            </a:fld>
            <a:endParaRPr kumimoji="1" lang="zh-TW" altLang="en-US"/>
          </a:p>
        </p:txBody>
      </p:sp>
      <p:sp>
        <p:nvSpPr>
          <p:cNvPr id="6" name="TextBox 5">
            <a:extLst>
              <a:ext uri="{FF2B5EF4-FFF2-40B4-BE49-F238E27FC236}">
                <a16:creationId xmlns:a16="http://schemas.microsoft.com/office/drawing/2014/main" id="{E8653C4B-AB18-4118-8556-3EB4E98FDED6}"/>
              </a:ext>
            </a:extLst>
          </p:cNvPr>
          <p:cNvSpPr txBox="1"/>
          <p:nvPr/>
        </p:nvSpPr>
        <p:spPr>
          <a:xfrm>
            <a:off x="4343400" y="5883097"/>
            <a:ext cx="3169433" cy="307777"/>
          </a:xfrm>
          <a:prstGeom prst="rect">
            <a:avLst/>
          </a:prstGeom>
          <a:noFill/>
        </p:spPr>
        <p:txBody>
          <a:bodyPr wrap="square">
            <a:spAutoFit/>
          </a:bodyPr>
          <a:lstStyle/>
          <a:p>
            <a:r>
              <a:rPr lang="en-US" sz="1400" b="1" i="0" dirty="0">
                <a:solidFill>
                  <a:srgbClr val="000000"/>
                </a:solidFill>
                <a:effectLst/>
                <a:latin typeface="Comic Sans MS" panose="030F0902030302020204" pitchFamily="66" charset="0"/>
              </a:rPr>
              <a:t>Fig.: Slowdowns of Server Programs</a:t>
            </a:r>
            <a:r>
              <a:rPr lang="en-US" sz="1400" b="1" dirty="0">
                <a:latin typeface="Comic Sans MS" panose="030F0902030302020204" pitchFamily="66" charset="0"/>
              </a:rPr>
              <a:t> </a:t>
            </a:r>
            <a:endParaRPr lang="en-IN" sz="1400" b="1" dirty="0">
              <a:latin typeface="Comic Sans MS" panose="030F0902030302020204" pitchFamily="66" charset="0"/>
            </a:endParaRPr>
          </a:p>
        </p:txBody>
      </p:sp>
    </p:spTree>
    <p:extLst>
      <p:ext uri="{BB962C8B-B14F-4D97-AF65-F5344CB8AC3E}">
        <p14:creationId xmlns:p14="http://schemas.microsoft.com/office/powerpoint/2010/main" val="18456278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CFE60-10BA-45C6-93F2-E5A8956EB090}"/>
              </a:ext>
            </a:extLst>
          </p:cNvPr>
          <p:cNvSpPr>
            <a:spLocks noGrp="1"/>
          </p:cNvSpPr>
          <p:nvPr>
            <p:ph type="title"/>
          </p:nvPr>
        </p:nvSpPr>
        <p:spPr>
          <a:xfrm>
            <a:off x="228600" y="228600"/>
            <a:ext cx="10246339" cy="738664"/>
          </a:xfrm>
        </p:spPr>
        <p:txBody>
          <a:bodyPr/>
          <a:lstStyle/>
          <a:p>
            <a:r>
              <a:rPr lang="en-US" dirty="0"/>
              <a:t>LOG LEVEL</a:t>
            </a:r>
            <a:endParaRPr lang="en-IN" dirty="0"/>
          </a:p>
        </p:txBody>
      </p:sp>
      <p:pic>
        <p:nvPicPr>
          <p:cNvPr id="5" name="Picture 4">
            <a:extLst>
              <a:ext uri="{FF2B5EF4-FFF2-40B4-BE49-F238E27FC236}">
                <a16:creationId xmlns:a16="http://schemas.microsoft.com/office/drawing/2014/main" id="{E2B3AA3D-5B53-4E07-852C-895906728402}"/>
              </a:ext>
            </a:extLst>
          </p:cNvPr>
          <p:cNvPicPr>
            <a:picLocks noChangeAspect="1"/>
          </p:cNvPicPr>
          <p:nvPr/>
        </p:nvPicPr>
        <p:blipFill>
          <a:blip r:embed="rId3"/>
          <a:stretch>
            <a:fillRect/>
          </a:stretch>
        </p:blipFill>
        <p:spPr>
          <a:xfrm>
            <a:off x="652462" y="1500187"/>
            <a:ext cx="10887075" cy="3857625"/>
          </a:xfrm>
          <a:prstGeom prst="rect">
            <a:avLst/>
          </a:prstGeom>
        </p:spPr>
      </p:pic>
    </p:spTree>
    <p:extLst>
      <p:ext uri="{BB962C8B-B14F-4D97-AF65-F5344CB8AC3E}">
        <p14:creationId xmlns:p14="http://schemas.microsoft.com/office/powerpoint/2010/main" val="6099476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6200" y="318150"/>
            <a:ext cx="10058400" cy="678032"/>
          </a:xfrm>
        </p:spPr>
        <p:txBody>
          <a:bodyPr>
            <a:normAutofit/>
          </a:bodyPr>
          <a:lstStyle/>
          <a:p>
            <a:r>
              <a:rPr kumimoji="1" lang="en-US" altLang="zh-TW" sz="3600" dirty="0"/>
              <a:t>SPEC CPU BENCHMARKS</a:t>
            </a:r>
            <a:endParaRPr kumimoji="1" lang="zh-TW" altLang="en-US" sz="3600" dirty="0"/>
          </a:p>
        </p:txBody>
      </p:sp>
      <p:sp>
        <p:nvSpPr>
          <p:cNvPr id="5" name="投影片編號版面配置區 4"/>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27</a:t>
            </a:fld>
            <a:endParaRPr kumimoji="1" lang="zh-TW" altLang="en-US"/>
          </a:p>
        </p:txBody>
      </p:sp>
      <p:sp>
        <p:nvSpPr>
          <p:cNvPr id="6" name="TextBox 5">
            <a:extLst>
              <a:ext uri="{FF2B5EF4-FFF2-40B4-BE49-F238E27FC236}">
                <a16:creationId xmlns:a16="http://schemas.microsoft.com/office/drawing/2014/main" id="{FE61FF04-7CC1-4F32-9198-CA94F4203921}"/>
              </a:ext>
            </a:extLst>
          </p:cNvPr>
          <p:cNvSpPr txBox="1"/>
          <p:nvPr/>
        </p:nvSpPr>
        <p:spPr>
          <a:xfrm>
            <a:off x="4635000" y="5528641"/>
            <a:ext cx="4051800" cy="523220"/>
          </a:xfrm>
          <a:prstGeom prst="rect">
            <a:avLst/>
          </a:prstGeom>
          <a:noFill/>
        </p:spPr>
        <p:txBody>
          <a:bodyPr wrap="square">
            <a:spAutoFit/>
          </a:bodyPr>
          <a:lstStyle/>
          <a:p>
            <a:r>
              <a:rPr lang="en-US" sz="1400" b="1" i="0" dirty="0">
                <a:solidFill>
                  <a:srgbClr val="000000"/>
                </a:solidFill>
                <a:effectLst/>
                <a:latin typeface="Comic Sans MS" panose="030F0902030302020204" pitchFamily="66" charset="0"/>
              </a:rPr>
              <a:t>Fig.: </a:t>
            </a:r>
            <a:r>
              <a:rPr lang="en-US" sz="1400" b="1" dirty="0">
                <a:solidFill>
                  <a:srgbClr val="000000"/>
                </a:solidFill>
                <a:latin typeface="Comic Sans MS" panose="030F0902030302020204" pitchFamily="66" charset="0"/>
              </a:rPr>
              <a:t>Slowdowns of SPEC CPU Benchmarks </a:t>
            </a:r>
            <a:br>
              <a:rPr lang="en-US" sz="1400" dirty="0"/>
            </a:br>
            <a:endParaRPr lang="en-IN" sz="1400" b="1" dirty="0">
              <a:latin typeface="Comic Sans MS" panose="030F0902030302020204" pitchFamily="66" charset="0"/>
            </a:endParaRPr>
          </a:p>
        </p:txBody>
      </p:sp>
      <p:pic>
        <p:nvPicPr>
          <p:cNvPr id="7" name="Picture 6">
            <a:extLst>
              <a:ext uri="{FF2B5EF4-FFF2-40B4-BE49-F238E27FC236}">
                <a16:creationId xmlns:a16="http://schemas.microsoft.com/office/drawing/2014/main" id="{2E88C3C5-7FAA-4105-A655-8149ADED9260}"/>
              </a:ext>
            </a:extLst>
          </p:cNvPr>
          <p:cNvPicPr>
            <a:picLocks noChangeAspect="1"/>
          </p:cNvPicPr>
          <p:nvPr/>
        </p:nvPicPr>
        <p:blipFill>
          <a:blip r:embed="rId3"/>
          <a:stretch>
            <a:fillRect/>
          </a:stretch>
        </p:blipFill>
        <p:spPr>
          <a:xfrm>
            <a:off x="300037" y="1738312"/>
            <a:ext cx="11591925" cy="3381375"/>
          </a:xfrm>
          <a:prstGeom prst="rect">
            <a:avLst/>
          </a:prstGeom>
        </p:spPr>
      </p:pic>
    </p:spTree>
    <p:extLst>
      <p:ext uri="{BB962C8B-B14F-4D97-AF65-F5344CB8AC3E}">
        <p14:creationId xmlns:p14="http://schemas.microsoft.com/office/powerpoint/2010/main" val="682597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81000" y="116204"/>
            <a:ext cx="10896600" cy="1732279"/>
          </a:xfrm>
        </p:spPr>
        <p:txBody>
          <a:bodyPr>
            <a:normAutofit/>
          </a:bodyPr>
          <a:lstStyle/>
          <a:p>
            <a:r>
              <a:rPr kumimoji="1" lang="en-US" altLang="zh-TW" sz="4000" dirty="0"/>
              <a:t>Effectiveness of Information Flow Tracking</a:t>
            </a:r>
            <a:endParaRPr kumimoji="1" lang="zh-TW" altLang="en-US" sz="4000" dirty="0"/>
          </a:p>
        </p:txBody>
      </p:sp>
      <p:sp>
        <p:nvSpPr>
          <p:cNvPr id="3" name="內容版面配置區 2"/>
          <p:cNvSpPr>
            <a:spLocks noGrp="1"/>
          </p:cNvSpPr>
          <p:nvPr>
            <p:ph idx="1"/>
          </p:nvPr>
        </p:nvSpPr>
        <p:spPr>
          <a:xfrm>
            <a:off x="5029200" y="5717581"/>
            <a:ext cx="2590800" cy="527294"/>
          </a:xfrm>
        </p:spPr>
        <p:txBody>
          <a:bodyPr/>
          <a:lstStyle/>
          <a:p>
            <a:r>
              <a:rPr kumimoji="1" lang="en-US" altLang="zh-TW" dirty="0">
                <a:solidFill>
                  <a:schemeClr val="tx1"/>
                </a:solidFill>
                <a:latin typeface="Comic Sans MS" panose="030F0702030302020204" pitchFamily="66" charset="0"/>
              </a:rPr>
              <a:t>Fig : Case study: </a:t>
            </a:r>
            <a:r>
              <a:rPr kumimoji="1" lang="en-US" altLang="zh-TW" dirty="0" err="1">
                <a:solidFill>
                  <a:schemeClr val="tx1"/>
                </a:solidFill>
                <a:latin typeface="Comic Sans MS" panose="030F0702030302020204" pitchFamily="66" charset="0"/>
              </a:rPr>
              <a:t>Lighttpd</a:t>
            </a:r>
            <a:endParaRPr kumimoji="1" lang="zh-TW" altLang="en-US" dirty="0">
              <a:solidFill>
                <a:schemeClr val="tx1"/>
              </a:solidFill>
              <a:latin typeface="Comic Sans MS" panose="030F0702030302020204" pitchFamily="66" charset="0"/>
            </a:endParaRPr>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3800" y="2133600"/>
            <a:ext cx="4909840" cy="3562511"/>
          </a:xfrm>
          <a:prstGeom prst="rect">
            <a:avLst/>
          </a:prstGeom>
        </p:spPr>
      </p:pic>
    </p:spTree>
    <p:extLst>
      <p:ext uri="{BB962C8B-B14F-4D97-AF65-F5344CB8AC3E}">
        <p14:creationId xmlns:p14="http://schemas.microsoft.com/office/powerpoint/2010/main" val="13212153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B880E-EE67-4108-BB24-887ADF2C5619}"/>
              </a:ext>
            </a:extLst>
          </p:cNvPr>
          <p:cNvSpPr>
            <a:spLocks noGrp="1"/>
          </p:cNvSpPr>
          <p:nvPr>
            <p:ph type="title"/>
          </p:nvPr>
        </p:nvSpPr>
        <p:spPr>
          <a:xfrm>
            <a:off x="64500" y="304800"/>
            <a:ext cx="4888500" cy="493776"/>
          </a:xfrm>
        </p:spPr>
        <p:txBody>
          <a:bodyPr>
            <a:noAutofit/>
          </a:bodyPr>
          <a:lstStyle/>
          <a:p>
            <a:r>
              <a:rPr lang="en-US" sz="3600" dirty="0"/>
              <a:t>Conclusion</a:t>
            </a:r>
            <a:endParaRPr lang="en-IN" sz="3600" dirty="0"/>
          </a:p>
        </p:txBody>
      </p:sp>
      <p:sp>
        <p:nvSpPr>
          <p:cNvPr id="3" name="Content Placeholder 2">
            <a:extLst>
              <a:ext uri="{FF2B5EF4-FFF2-40B4-BE49-F238E27FC236}">
                <a16:creationId xmlns:a16="http://schemas.microsoft.com/office/drawing/2014/main" id="{A29B1AA5-1D9F-4D7E-8271-8FF5910F9EDD}"/>
              </a:ext>
            </a:extLst>
          </p:cNvPr>
          <p:cNvSpPr>
            <a:spLocks noGrp="1"/>
          </p:cNvSpPr>
          <p:nvPr>
            <p:ph idx="1"/>
          </p:nvPr>
        </p:nvSpPr>
        <p:spPr>
          <a:xfrm>
            <a:off x="1219200" y="1600200"/>
            <a:ext cx="10091928" cy="4050792"/>
          </a:xfrm>
        </p:spPr>
        <p:txBody>
          <a:bodyPr>
            <a:normAutofit/>
          </a:bodyPr>
          <a:lstStyle/>
          <a:p>
            <a:pPr marL="285750" indent="-285750">
              <a:buFont typeface="Wingdings" pitchFamily="2" charset="2"/>
              <a:buChar char="ü"/>
            </a:pPr>
            <a:r>
              <a:rPr lang="en-US" sz="1800" i="0" dirty="0">
                <a:solidFill>
                  <a:srgbClr val="000000"/>
                </a:solidFill>
                <a:effectLst/>
                <a:latin typeface="Comic Sans MS" panose="030F0902030302020204" pitchFamily="66" charset="0"/>
                <a:cs typeface="Calibri" panose="020F0502020204030204" pitchFamily="34" charset="0"/>
              </a:rPr>
              <a:t>The MIT prototype is built on top of LLVM</a:t>
            </a:r>
            <a:endParaRPr lang="en-US" sz="1800" dirty="0">
              <a:latin typeface="Comic Sans MS" panose="030F0902030302020204" pitchFamily="66" charset="0"/>
              <a:cs typeface="Calibri" panose="020F0502020204030204" pitchFamily="34" charset="0"/>
            </a:endParaRPr>
          </a:p>
          <a:p>
            <a:pPr marL="285750" indent="-285750">
              <a:buFont typeface="Wingdings" pitchFamily="2" charset="2"/>
              <a:buChar char="ü"/>
            </a:pPr>
            <a:endParaRPr lang="en-US" sz="1800" i="0" dirty="0">
              <a:solidFill>
                <a:srgbClr val="000000"/>
              </a:solidFill>
              <a:effectLst/>
              <a:latin typeface="Comic Sans MS" panose="030F0902030302020204" pitchFamily="66" charset="0"/>
              <a:cs typeface="Calibri" panose="020F0502020204030204" pitchFamily="34" charset="0"/>
            </a:endParaRPr>
          </a:p>
          <a:p>
            <a:pPr marL="285750" indent="-285750">
              <a:buFont typeface="Wingdings" pitchFamily="2" charset="2"/>
              <a:buChar char="ü"/>
            </a:pPr>
            <a:r>
              <a:rPr lang="en-US" sz="1800" i="0" dirty="0">
                <a:solidFill>
                  <a:srgbClr val="000000"/>
                </a:solidFill>
                <a:effectLst/>
                <a:latin typeface="Comic Sans MS" panose="030F0902030302020204" pitchFamily="66" charset="0"/>
                <a:cs typeface="Calibri" panose="020F0502020204030204" pitchFamily="34" charset="0"/>
              </a:rPr>
              <a:t>MIT derives the taint semantics TSIR from a target program at compile-time to facilitate IFA</a:t>
            </a:r>
          </a:p>
          <a:p>
            <a:pPr marL="285750" indent="-285750">
              <a:buFont typeface="Wingdings" pitchFamily="2" charset="2"/>
              <a:buChar char="ü"/>
            </a:pPr>
            <a:endParaRPr lang="en-US" sz="1800" dirty="0">
              <a:solidFill>
                <a:srgbClr val="000000"/>
              </a:solidFill>
              <a:latin typeface="Comic Sans MS" panose="030F0902030302020204" pitchFamily="66" charset="0"/>
              <a:cs typeface="Calibri" panose="020F0502020204030204" pitchFamily="34" charset="0"/>
            </a:endParaRPr>
          </a:p>
          <a:p>
            <a:pPr marL="285750" indent="-285750">
              <a:buFont typeface="Wingdings" pitchFamily="2" charset="2"/>
              <a:buChar char="ü"/>
            </a:pPr>
            <a:r>
              <a:rPr lang="en-US" sz="1800" i="0" dirty="0">
                <a:solidFill>
                  <a:srgbClr val="000000"/>
                </a:solidFill>
                <a:effectLst/>
                <a:latin typeface="Comic Sans MS" panose="030F0902030302020204" pitchFamily="66" charset="0"/>
                <a:cs typeface="Calibri" panose="020F0502020204030204" pitchFamily="34" charset="0"/>
              </a:rPr>
              <a:t>DIFT can be performed asynchronously by replaying the TSIR according to the runtime logs</a:t>
            </a:r>
          </a:p>
          <a:p>
            <a:pPr marL="285750" indent="-285750">
              <a:buFont typeface="Wingdings" pitchFamily="2" charset="2"/>
              <a:buChar char="ü"/>
            </a:pPr>
            <a:endParaRPr lang="en-US" altLang="zh-TW" sz="1800" dirty="0">
              <a:solidFill>
                <a:srgbClr val="000000"/>
              </a:solidFill>
              <a:latin typeface="Comic Sans MS" panose="030F0902030302020204" pitchFamily="66" charset="0"/>
              <a:cs typeface="Calibri" panose="020F0502020204030204" pitchFamily="34" charset="0"/>
            </a:endParaRPr>
          </a:p>
          <a:p>
            <a:pPr marL="285750" indent="-285750">
              <a:buFont typeface="Wingdings" pitchFamily="2" charset="2"/>
              <a:buChar char="ü"/>
            </a:pPr>
            <a:r>
              <a:rPr lang="en-US" altLang="zh-TW" sz="1800" dirty="0">
                <a:solidFill>
                  <a:srgbClr val="00B0F0"/>
                </a:solidFill>
                <a:latin typeface="Comic Sans MS" panose="030F0902030302020204" pitchFamily="66" charset="0"/>
                <a:cs typeface="Calibri" panose="020F0502020204030204" pitchFamily="34" charset="0"/>
              </a:rPr>
              <a:t>Decoupling information flow tracking from program execution</a:t>
            </a:r>
          </a:p>
          <a:p>
            <a:pPr marL="742950" lvl="1" indent="-285750">
              <a:buFont typeface="Wingdings" pitchFamily="2" charset="2"/>
              <a:buChar char="ü"/>
            </a:pPr>
            <a:r>
              <a:rPr lang="en-US" altLang="zh-TW" dirty="0">
                <a:latin typeface="Comic Sans MS" panose="030F0902030302020204" pitchFamily="66" charset="0"/>
                <a:cs typeface="Calibri" panose="020F0502020204030204" pitchFamily="34" charset="0"/>
              </a:rPr>
              <a:t>Extracting taint semantics</a:t>
            </a:r>
          </a:p>
          <a:p>
            <a:pPr marL="742950" lvl="1" indent="-285750">
              <a:buFont typeface="Wingdings" pitchFamily="2" charset="2"/>
              <a:buChar char="ü"/>
            </a:pPr>
            <a:r>
              <a:rPr lang="en-US" altLang="zh-TW" dirty="0">
                <a:latin typeface="Comic Sans MS" panose="030F0902030302020204" pitchFamily="66" charset="0"/>
                <a:cs typeface="Calibri" panose="020F0502020204030204" pitchFamily="34" charset="0"/>
              </a:rPr>
              <a:t>Recording execution trace and runtime values</a:t>
            </a:r>
          </a:p>
          <a:p>
            <a:pPr marL="742950" lvl="1" indent="-285750">
              <a:buFont typeface="Wingdings" pitchFamily="2" charset="2"/>
              <a:buChar char="ü"/>
            </a:pPr>
            <a:r>
              <a:rPr lang="en-US" altLang="zh-TW" dirty="0">
                <a:latin typeface="Comic Sans MS" panose="030F0902030302020204" pitchFamily="66" charset="0"/>
                <a:cs typeface="Calibri" panose="020F0502020204030204" pitchFamily="34" charset="0"/>
              </a:rPr>
              <a:t>Replaying taint semantics</a:t>
            </a:r>
          </a:p>
          <a:p>
            <a:pPr marL="742950" lvl="1" indent="-285750">
              <a:buFont typeface="Wingdings" pitchFamily="2" charset="2"/>
              <a:buChar char="ü"/>
            </a:pPr>
            <a:r>
              <a:rPr lang="en-US" altLang="zh-TW" dirty="0">
                <a:latin typeface="Comic Sans MS" panose="030F0902030302020204" pitchFamily="66" charset="0"/>
                <a:cs typeface="Calibri" panose="020F0502020204030204" pitchFamily="34" charset="0"/>
              </a:rPr>
              <a:t>Nearly language-independent and architecture-independent</a:t>
            </a:r>
          </a:p>
          <a:p>
            <a:pPr marL="0" indent="0">
              <a:buNone/>
            </a:pPr>
            <a:endParaRPr lang="en-IN" sz="1800" dirty="0">
              <a:latin typeface="Comic Sans MS" panose="030F0902030302020204" pitchFamily="66" charset="0"/>
            </a:endParaRPr>
          </a:p>
        </p:txBody>
      </p:sp>
      <p:sp>
        <p:nvSpPr>
          <p:cNvPr id="5" name="Slide Number Placeholder 4">
            <a:extLst>
              <a:ext uri="{FF2B5EF4-FFF2-40B4-BE49-F238E27FC236}">
                <a16:creationId xmlns:a16="http://schemas.microsoft.com/office/drawing/2014/main" id="{35A41D45-2A21-402A-B6A8-056E0763D1E4}"/>
              </a:ext>
            </a:extLst>
          </p:cNvPr>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29</a:t>
            </a:fld>
            <a:endParaRPr lang="en-US" dirty="0"/>
          </a:p>
        </p:txBody>
      </p:sp>
    </p:spTree>
    <p:extLst>
      <p:ext uri="{BB962C8B-B14F-4D97-AF65-F5344CB8AC3E}">
        <p14:creationId xmlns:p14="http://schemas.microsoft.com/office/powerpoint/2010/main" val="5857929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6B70D1A-7363-475C-B56C-DC96C0FE8745}"/>
              </a:ext>
            </a:extLst>
          </p:cNvPr>
          <p:cNvSpPr txBox="1">
            <a:spLocks/>
          </p:cNvSpPr>
          <p:nvPr/>
        </p:nvSpPr>
        <p:spPr>
          <a:xfrm>
            <a:off x="-76200" y="228600"/>
            <a:ext cx="4888500" cy="7752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800" b="1" kern="1200" cap="none"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sz="3600" dirty="0">
                <a:solidFill>
                  <a:schemeClr val="tx1"/>
                </a:solidFill>
                <a:latin typeface="Comic Sans MS"/>
              </a:rPr>
              <a:t>Future Scope</a:t>
            </a:r>
            <a:endParaRPr lang="en-IN" sz="3600" dirty="0">
              <a:solidFill>
                <a:schemeClr val="tx1"/>
              </a:solidFill>
              <a:latin typeface="Comic Sans MS"/>
            </a:endParaRPr>
          </a:p>
        </p:txBody>
      </p:sp>
      <p:sp>
        <p:nvSpPr>
          <p:cNvPr id="5" name="Slide Number Placeholder 4">
            <a:extLst>
              <a:ext uri="{FF2B5EF4-FFF2-40B4-BE49-F238E27FC236}">
                <a16:creationId xmlns:a16="http://schemas.microsoft.com/office/drawing/2014/main" id="{35A41D45-2A21-402A-B6A8-056E0763D1E4}"/>
              </a:ext>
            </a:extLst>
          </p:cNvPr>
          <p:cNvSpPr>
            <a:spLocks noGrp="1"/>
          </p:cNvSpPr>
          <p:nvPr>
            <p:ph type="sldNum" sz="quarter" idx="12"/>
          </p:nvPr>
        </p:nvSpPr>
        <p:spPr>
          <a:xfrm>
            <a:off x="11311128" y="6272784"/>
            <a:ext cx="640080" cy="365125"/>
          </a:xfrm>
          <a:prstGeom prst="rect">
            <a:avLst/>
          </a:prstGeom>
        </p:spPr>
        <p:txBody>
          <a:bodyPr vert="horz" lIns="91440" tIns="45720" rIns="91440" bIns="45720" rtlCol="0" anchor="ctr"/>
          <a:lstStyle>
            <a:defPPr>
              <a:defRPr lang="en-US"/>
            </a:defPPr>
            <a:lvl1pPr marL="0" algn="ctr" defTabSz="457200" rtl="0" eaLnBrk="1" latinLnBrk="0" hangingPunct="1">
              <a:defRPr sz="1400" b="1"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30</a:t>
            </a:fld>
            <a:endParaRPr lang="en-US" dirty="0"/>
          </a:p>
        </p:txBody>
      </p:sp>
      <p:sp>
        <p:nvSpPr>
          <p:cNvPr id="6" name="內容版面配置區 2">
            <a:extLst>
              <a:ext uri="{FF2B5EF4-FFF2-40B4-BE49-F238E27FC236}">
                <a16:creationId xmlns:a16="http://schemas.microsoft.com/office/drawing/2014/main" id="{250ABD59-7DCF-4315-B8C8-DEC636CCF406}"/>
              </a:ext>
            </a:extLst>
          </p:cNvPr>
          <p:cNvSpPr txBox="1">
            <a:spLocks/>
          </p:cNvSpPr>
          <p:nvPr/>
        </p:nvSpPr>
        <p:spPr>
          <a:xfrm>
            <a:off x="533400" y="1487088"/>
            <a:ext cx="11058859" cy="4586750"/>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a:buFont typeface="Wingdings" pitchFamily="2" charset="2"/>
              <a:buChar char="ü"/>
            </a:pPr>
            <a:r>
              <a:rPr kumimoji="1" lang="en-US" altLang="zh-TW" dirty="0">
                <a:solidFill>
                  <a:srgbClr val="00B0F0"/>
                </a:solidFill>
                <a:latin typeface="Comic Sans MS" panose="030F0902030302020204" pitchFamily="66" charset="0"/>
              </a:rPr>
              <a:t>Logging Overhead</a:t>
            </a:r>
          </a:p>
          <a:p>
            <a:pPr lvl="1">
              <a:buFont typeface="Wingdings" pitchFamily="2" charset="2"/>
              <a:buChar char="ü"/>
            </a:pPr>
            <a:r>
              <a:rPr kumimoji="1" lang="en-US" altLang="zh-TW" dirty="0">
                <a:latin typeface="Comic Sans MS" panose="030F0902030302020204" pitchFamily="66" charset="0"/>
              </a:rPr>
              <a:t>Single branch target</a:t>
            </a:r>
          </a:p>
          <a:p>
            <a:pPr lvl="1">
              <a:buFont typeface="Wingdings" pitchFamily="2" charset="2"/>
              <a:buChar char="ü"/>
            </a:pPr>
            <a:r>
              <a:rPr kumimoji="1" lang="en-US" altLang="zh-TW" dirty="0">
                <a:latin typeface="Comic Sans MS" panose="030F0902030302020204" pitchFamily="66" charset="0"/>
              </a:rPr>
              <a:t>Loop optimization</a:t>
            </a:r>
          </a:p>
          <a:p>
            <a:pPr>
              <a:buFont typeface="Wingdings" pitchFamily="2" charset="2"/>
              <a:buChar char="ü"/>
            </a:pPr>
            <a:r>
              <a:rPr kumimoji="1" lang="en-US" altLang="zh-TW" dirty="0">
                <a:solidFill>
                  <a:srgbClr val="00B0F0"/>
                </a:solidFill>
                <a:latin typeface="Comic Sans MS" panose="030F0902030302020204" pitchFamily="66" charset="0"/>
              </a:rPr>
              <a:t>Implicit Flow</a:t>
            </a:r>
          </a:p>
          <a:p>
            <a:pPr>
              <a:buFont typeface="Wingdings" pitchFamily="2" charset="2"/>
              <a:buChar char="ü"/>
            </a:pPr>
            <a:r>
              <a:rPr kumimoji="1" lang="en-US" altLang="zh-TW" dirty="0">
                <a:solidFill>
                  <a:srgbClr val="00B0F0"/>
                </a:solidFill>
                <a:latin typeface="Comic Sans MS" panose="030F0902030302020204" pitchFamily="66" charset="0"/>
              </a:rPr>
              <a:t>External Library</a:t>
            </a:r>
          </a:p>
          <a:p>
            <a:pPr lvl="1">
              <a:buFont typeface="Wingdings" pitchFamily="2" charset="2"/>
              <a:buChar char="ü"/>
            </a:pPr>
            <a:r>
              <a:rPr kumimoji="1" lang="en-US" altLang="zh-TW" dirty="0">
                <a:latin typeface="Comic Sans MS" panose="030F0902030302020204" pitchFamily="66" charset="0"/>
              </a:rPr>
              <a:t>Compile-time static analysis </a:t>
            </a:r>
            <a:r>
              <a:rPr kumimoji="1" lang="en-US" altLang="zh-TW" dirty="0">
                <a:latin typeface="Comic Sans MS" panose="030F0902030302020204" pitchFamily="66" charset="0"/>
                <a:sym typeface="Wingdings"/>
              </a:rPr>
              <a:t> Generate Library Handler</a:t>
            </a:r>
          </a:p>
          <a:p>
            <a:pPr>
              <a:buFont typeface="Wingdings" pitchFamily="2" charset="2"/>
              <a:buChar char="ü"/>
            </a:pPr>
            <a:r>
              <a:rPr kumimoji="1" lang="en-US" altLang="zh-TW" dirty="0">
                <a:solidFill>
                  <a:srgbClr val="00B0F0"/>
                </a:solidFill>
                <a:latin typeface="Comic Sans MS" panose="030F0902030302020204" pitchFamily="66" charset="0"/>
              </a:rPr>
              <a:t>Replay Performance</a:t>
            </a:r>
          </a:p>
          <a:p>
            <a:pPr lvl="1">
              <a:buFont typeface="Wingdings" pitchFamily="2" charset="2"/>
              <a:buChar char="ü"/>
            </a:pPr>
            <a:r>
              <a:rPr kumimoji="1" lang="en-US" altLang="zh-TW" dirty="0">
                <a:latin typeface="Comic Sans MS" panose="030F0902030302020204" pitchFamily="66" charset="0"/>
              </a:rPr>
              <a:t>Interpreter-based </a:t>
            </a:r>
            <a:r>
              <a:rPr kumimoji="1" lang="en-US" altLang="zh-TW" dirty="0">
                <a:latin typeface="Comic Sans MS" panose="030F0902030302020204" pitchFamily="66" charset="0"/>
                <a:sym typeface="Wingdings"/>
              </a:rPr>
              <a:t> Compiled language</a:t>
            </a:r>
          </a:p>
          <a:p>
            <a:pPr>
              <a:buFont typeface="Wingdings" pitchFamily="2" charset="2"/>
              <a:buChar char="ü"/>
            </a:pPr>
            <a:r>
              <a:rPr kumimoji="1" lang="en-US" altLang="zh-TW" dirty="0">
                <a:solidFill>
                  <a:srgbClr val="00B0F0"/>
                </a:solidFill>
                <a:latin typeface="Comic Sans MS" panose="030F0902030302020204" pitchFamily="66" charset="0"/>
              </a:rPr>
              <a:t>Vulnerability Detection</a:t>
            </a:r>
          </a:p>
          <a:p>
            <a:pPr lvl="1">
              <a:buFont typeface="Wingdings" pitchFamily="2" charset="2"/>
              <a:buChar char="ü"/>
            </a:pPr>
            <a:r>
              <a:rPr kumimoji="1" lang="en-US" altLang="zh-TW" dirty="0">
                <a:latin typeface="Comic Sans MS" panose="030F0902030302020204" pitchFamily="66" charset="0"/>
              </a:rPr>
              <a:t>e.g. stack overflow attack</a:t>
            </a:r>
            <a:endParaRPr kumimoji="1" lang="zh-TW" altLang="en-US" dirty="0">
              <a:latin typeface="Comic Sans MS" panose="030F0902030302020204" pitchFamily="66" charset="0"/>
            </a:endParaRPr>
          </a:p>
        </p:txBody>
      </p:sp>
    </p:spTree>
    <p:extLst>
      <p:ext uri="{BB962C8B-B14F-4D97-AF65-F5344CB8AC3E}">
        <p14:creationId xmlns:p14="http://schemas.microsoft.com/office/powerpoint/2010/main" val="34333751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4667" y="168609"/>
            <a:ext cx="5507933" cy="738664"/>
          </a:xfrm>
        </p:spPr>
        <p:txBody>
          <a:bodyPr/>
          <a:lstStyle/>
          <a:p>
            <a:r>
              <a:rPr kumimoji="1" lang="en-US" altLang="zh-TW" dirty="0"/>
              <a:t>References</a:t>
            </a:r>
            <a:endParaRPr kumimoji="1" lang="zh-TW" altLang="en-US" dirty="0"/>
          </a:p>
        </p:txBody>
      </p:sp>
      <p:sp>
        <p:nvSpPr>
          <p:cNvPr id="3" name="內容版面配置區 2"/>
          <p:cNvSpPr>
            <a:spLocks noGrp="1"/>
          </p:cNvSpPr>
          <p:nvPr>
            <p:ph idx="1"/>
          </p:nvPr>
        </p:nvSpPr>
        <p:spPr>
          <a:xfrm>
            <a:off x="165280" y="1143000"/>
            <a:ext cx="11874320" cy="5177059"/>
          </a:xfrm>
        </p:spPr>
        <p:txBody>
          <a:bodyPr>
            <a:noAutofit/>
          </a:bodyPr>
          <a:lstStyle/>
          <a:p>
            <a:pPr marL="0" indent="0" algn="just">
              <a:buNone/>
            </a:pPr>
            <a:r>
              <a:rPr kumimoji="1" lang="en-US" altLang="zh-TW" sz="1400" dirty="0">
                <a:solidFill>
                  <a:schemeClr val="tx1"/>
                </a:solidFill>
                <a:latin typeface="Comic Sans MS" panose="030F0902030302020204" pitchFamily="66" charset="0"/>
              </a:rPr>
              <a:t>[1] </a:t>
            </a:r>
            <a:r>
              <a:rPr kumimoji="1" lang="en-US" altLang="zh-TW" sz="1400" dirty="0" err="1">
                <a:solidFill>
                  <a:schemeClr val="tx1"/>
                </a:solidFill>
                <a:latin typeface="Comic Sans MS" panose="030F0902030302020204" pitchFamily="66" charset="0"/>
              </a:rPr>
              <a:t>Vasileios</a:t>
            </a:r>
            <a:r>
              <a:rPr kumimoji="1" lang="en-US" altLang="zh-TW" sz="1400" dirty="0">
                <a:solidFill>
                  <a:schemeClr val="tx1"/>
                </a:solidFill>
                <a:latin typeface="Comic Sans MS" panose="030F0902030302020204" pitchFamily="66" charset="0"/>
              </a:rPr>
              <a:t> P </a:t>
            </a:r>
            <a:r>
              <a:rPr kumimoji="1" lang="en-US" altLang="zh-TW" sz="1400" dirty="0" err="1">
                <a:solidFill>
                  <a:schemeClr val="tx1"/>
                </a:solidFill>
                <a:latin typeface="Comic Sans MS" panose="030F0902030302020204" pitchFamily="66" charset="0"/>
              </a:rPr>
              <a:t>Kemerlis</a:t>
            </a:r>
            <a:r>
              <a:rPr kumimoji="1" lang="en-US" altLang="zh-TW" sz="1400" dirty="0">
                <a:solidFill>
                  <a:schemeClr val="tx1"/>
                </a:solidFill>
                <a:latin typeface="Comic Sans MS" panose="030F0902030302020204" pitchFamily="66" charset="0"/>
              </a:rPr>
              <a:t> et al. “</a:t>
            </a:r>
            <a:r>
              <a:rPr kumimoji="1" lang="en-US" altLang="zh-TW" sz="1400" dirty="0" err="1">
                <a:solidFill>
                  <a:schemeClr val="tx1"/>
                </a:solidFill>
                <a:latin typeface="Comic Sans MS" panose="030F0902030302020204" pitchFamily="66" charset="0"/>
              </a:rPr>
              <a:t>libdft</a:t>
            </a:r>
            <a:r>
              <a:rPr kumimoji="1" lang="en-US" altLang="zh-TW" sz="1400" dirty="0">
                <a:solidFill>
                  <a:schemeClr val="tx1"/>
                </a:solidFill>
                <a:latin typeface="Comic Sans MS" panose="030F0902030302020204" pitchFamily="66" charset="0"/>
              </a:rPr>
              <a:t>: Practical dynamic data flow tracking for commodity systems”. In: </a:t>
            </a:r>
            <a:r>
              <a:rPr kumimoji="1" lang="en-US" altLang="zh-TW" sz="1400" dirty="0" err="1">
                <a:solidFill>
                  <a:schemeClr val="tx1"/>
                </a:solidFill>
                <a:latin typeface="Comic Sans MS" panose="030F0902030302020204" pitchFamily="66" charset="0"/>
              </a:rPr>
              <a:t>Acm</a:t>
            </a:r>
            <a:r>
              <a:rPr kumimoji="1" lang="en-US" altLang="zh-TW" sz="1400" dirty="0">
                <a:solidFill>
                  <a:schemeClr val="tx1"/>
                </a:solidFill>
                <a:latin typeface="Comic Sans MS" panose="030F0902030302020204" pitchFamily="66" charset="0"/>
              </a:rPr>
              <a:t> </a:t>
            </a:r>
            <a:r>
              <a:rPr kumimoji="1" lang="en-US" altLang="zh-TW" sz="1400" dirty="0" err="1">
                <a:solidFill>
                  <a:schemeClr val="tx1"/>
                </a:solidFill>
                <a:latin typeface="Comic Sans MS" panose="030F0902030302020204" pitchFamily="66" charset="0"/>
              </a:rPr>
              <a:t>Sigplan</a:t>
            </a:r>
            <a:r>
              <a:rPr kumimoji="1" lang="en-US" altLang="zh-TW" sz="1400" dirty="0">
                <a:solidFill>
                  <a:schemeClr val="tx1"/>
                </a:solidFill>
                <a:latin typeface="Comic Sans MS" panose="030F0902030302020204" pitchFamily="66" charset="0"/>
              </a:rPr>
              <a:t> Notices. Vol. 47. 7. ACM. 2012, pp. 121–132.</a:t>
            </a:r>
          </a:p>
          <a:p>
            <a:pPr marL="0" indent="0" algn="just">
              <a:buNone/>
            </a:pPr>
            <a:endParaRPr kumimoji="1" lang="en-US" altLang="zh-TW" sz="1400" dirty="0">
              <a:solidFill>
                <a:schemeClr val="tx1"/>
              </a:solidFill>
              <a:latin typeface="Comic Sans MS" panose="030F0902030302020204" pitchFamily="66" charset="0"/>
            </a:endParaRPr>
          </a:p>
          <a:p>
            <a:pPr marL="0" indent="0" algn="just">
              <a:buNone/>
            </a:pPr>
            <a:r>
              <a:rPr kumimoji="1" lang="en-US" altLang="zh-TW" sz="1400" dirty="0">
                <a:solidFill>
                  <a:schemeClr val="tx1"/>
                </a:solidFill>
                <a:latin typeface="Comic Sans MS" panose="030F0902030302020204" pitchFamily="66" charset="0"/>
              </a:rPr>
              <a:t>[2] David Yu Zhu et al. “</a:t>
            </a:r>
            <a:r>
              <a:rPr kumimoji="1" lang="en-US" altLang="zh-TW" sz="1400" dirty="0" err="1">
                <a:solidFill>
                  <a:schemeClr val="tx1"/>
                </a:solidFill>
                <a:latin typeface="Comic Sans MS" panose="030F0902030302020204" pitchFamily="66" charset="0"/>
              </a:rPr>
              <a:t>TaintEraser</a:t>
            </a:r>
            <a:r>
              <a:rPr kumimoji="1" lang="en-US" altLang="zh-TW" sz="1400" dirty="0">
                <a:solidFill>
                  <a:schemeClr val="tx1"/>
                </a:solidFill>
                <a:latin typeface="Comic Sans MS" panose="030F0902030302020204" pitchFamily="66" charset="0"/>
              </a:rPr>
              <a:t>: Protecting sensitive data leaks using application-level taint tracking”. In: ACM SIGOPS Operating Systems Review 45.1 (2011), pp. 142–154.</a:t>
            </a:r>
          </a:p>
          <a:p>
            <a:pPr marL="0" indent="0" algn="just">
              <a:buNone/>
            </a:pPr>
            <a:endParaRPr kumimoji="1" lang="en-US" altLang="zh-TW" sz="1400" dirty="0">
              <a:solidFill>
                <a:schemeClr val="tx1"/>
              </a:solidFill>
              <a:latin typeface="Comic Sans MS" panose="030F0902030302020204" pitchFamily="66" charset="0"/>
            </a:endParaRPr>
          </a:p>
          <a:p>
            <a:pPr marL="0" indent="0" algn="just">
              <a:buNone/>
            </a:pPr>
            <a:r>
              <a:rPr kumimoji="1" lang="en-US" altLang="zh-TW" sz="1400" dirty="0">
                <a:solidFill>
                  <a:schemeClr val="tx1"/>
                </a:solidFill>
                <a:latin typeface="Comic Sans MS" panose="030F0902030302020204" pitchFamily="66" charset="0"/>
              </a:rPr>
              <a:t>[3] Jonathan Bell and Gail Kaiser. “Phosphor: Illuminating dynamic data flow in commodity </a:t>
            </a:r>
            <a:r>
              <a:rPr kumimoji="1" lang="en-US" altLang="zh-TW" sz="1400" dirty="0" err="1">
                <a:solidFill>
                  <a:schemeClr val="tx1"/>
                </a:solidFill>
                <a:latin typeface="Comic Sans MS" panose="030F0902030302020204" pitchFamily="66" charset="0"/>
              </a:rPr>
              <a:t>jvms</a:t>
            </a:r>
            <a:r>
              <a:rPr kumimoji="1" lang="en-US" altLang="zh-TW" sz="1400" dirty="0">
                <a:solidFill>
                  <a:schemeClr val="tx1"/>
                </a:solidFill>
                <a:latin typeface="Comic Sans MS" panose="030F0902030302020204" pitchFamily="66" charset="0"/>
              </a:rPr>
              <a:t>”. In: ACM SIGPLAN Notices 49.10 (2014), pp. 83–101.</a:t>
            </a:r>
          </a:p>
          <a:p>
            <a:pPr marL="0" indent="0" algn="just">
              <a:buNone/>
            </a:pPr>
            <a:endParaRPr kumimoji="1" lang="en-US" altLang="zh-TW" sz="1400" dirty="0">
              <a:solidFill>
                <a:schemeClr val="tx1"/>
              </a:solidFill>
              <a:latin typeface="Comic Sans MS" panose="030F0902030302020204" pitchFamily="66" charset="0"/>
            </a:endParaRPr>
          </a:p>
          <a:p>
            <a:pPr marL="0" indent="0" algn="just">
              <a:buNone/>
            </a:pPr>
            <a:r>
              <a:rPr kumimoji="1" lang="en-US" altLang="zh-TW" sz="1400" dirty="0">
                <a:solidFill>
                  <a:schemeClr val="tx1"/>
                </a:solidFill>
                <a:latin typeface="Comic Sans MS" panose="030F0902030302020204" pitchFamily="66" charset="0"/>
              </a:rPr>
              <a:t>[4] Lap Chung Lam and </a:t>
            </a:r>
            <a:r>
              <a:rPr kumimoji="1" lang="en-US" altLang="zh-TW" sz="1400" dirty="0" err="1">
                <a:solidFill>
                  <a:schemeClr val="tx1"/>
                </a:solidFill>
                <a:latin typeface="Comic Sans MS" panose="030F0902030302020204" pitchFamily="66" charset="0"/>
              </a:rPr>
              <a:t>Tzi-cker</a:t>
            </a:r>
            <a:r>
              <a:rPr kumimoji="1" lang="en-US" altLang="zh-TW" sz="1400" dirty="0">
                <a:solidFill>
                  <a:schemeClr val="tx1"/>
                </a:solidFill>
                <a:latin typeface="Comic Sans MS" panose="030F0902030302020204" pitchFamily="66" charset="0"/>
              </a:rPr>
              <a:t> </a:t>
            </a:r>
            <a:r>
              <a:rPr kumimoji="1" lang="en-US" altLang="zh-TW" sz="1400" dirty="0" err="1">
                <a:solidFill>
                  <a:schemeClr val="tx1"/>
                </a:solidFill>
                <a:latin typeface="Comic Sans MS" panose="030F0902030302020204" pitchFamily="66" charset="0"/>
              </a:rPr>
              <a:t>Chiueh</a:t>
            </a:r>
            <a:r>
              <a:rPr kumimoji="1" lang="en-US" altLang="zh-TW" sz="1400" dirty="0">
                <a:solidFill>
                  <a:schemeClr val="tx1"/>
                </a:solidFill>
                <a:latin typeface="Comic Sans MS" panose="030F0902030302020204" pitchFamily="66" charset="0"/>
              </a:rPr>
              <a:t>. “A general dynamic information flow tracking framework for security applications”. In: Computer Security Applications Conference, 2006. ACSAC’06. 22nd Annual. IEEE. 2006, pp. 463–472.</a:t>
            </a:r>
          </a:p>
          <a:p>
            <a:pPr marL="0" indent="0" algn="just">
              <a:buNone/>
            </a:pPr>
            <a:endParaRPr kumimoji="1" lang="en-US" altLang="zh-TW" sz="1400" dirty="0">
              <a:solidFill>
                <a:schemeClr val="tx1"/>
              </a:solidFill>
              <a:latin typeface="Comic Sans MS" panose="030F0902030302020204" pitchFamily="66" charset="0"/>
            </a:endParaRPr>
          </a:p>
          <a:p>
            <a:pPr marL="0" indent="0" algn="just">
              <a:buNone/>
            </a:pPr>
            <a:r>
              <a:rPr kumimoji="1" lang="en-US" altLang="zh-TW" sz="1400" dirty="0">
                <a:solidFill>
                  <a:schemeClr val="tx1"/>
                </a:solidFill>
                <a:latin typeface="Comic Sans MS" panose="030F0902030302020204" pitchFamily="66" charset="0"/>
              </a:rPr>
              <a:t>[5] </a:t>
            </a:r>
            <a:r>
              <a:rPr kumimoji="1" lang="en-US" altLang="zh-TW" sz="1400" dirty="0" err="1">
                <a:solidFill>
                  <a:schemeClr val="tx1"/>
                </a:solidFill>
                <a:latin typeface="Comic Sans MS" panose="030F0902030302020204" pitchFamily="66" charset="0"/>
              </a:rPr>
              <a:t>Kangkook</a:t>
            </a:r>
            <a:r>
              <a:rPr kumimoji="1" lang="en-US" altLang="zh-TW" sz="1400" dirty="0">
                <a:solidFill>
                  <a:schemeClr val="tx1"/>
                </a:solidFill>
                <a:latin typeface="Comic Sans MS" panose="030F0902030302020204" pitchFamily="66" charset="0"/>
              </a:rPr>
              <a:t> </a:t>
            </a:r>
            <a:r>
              <a:rPr kumimoji="1" lang="en-US" altLang="zh-TW" sz="1400" dirty="0" err="1">
                <a:solidFill>
                  <a:schemeClr val="tx1"/>
                </a:solidFill>
                <a:latin typeface="Comic Sans MS" panose="030F0902030302020204" pitchFamily="66" charset="0"/>
              </a:rPr>
              <a:t>Jee</a:t>
            </a:r>
            <a:r>
              <a:rPr kumimoji="1" lang="en-US" altLang="zh-TW" sz="1400" dirty="0">
                <a:solidFill>
                  <a:schemeClr val="tx1"/>
                </a:solidFill>
                <a:latin typeface="Comic Sans MS" panose="030F0902030302020204" pitchFamily="66" charset="0"/>
              </a:rPr>
              <a:t> et al. “</a:t>
            </a:r>
            <a:r>
              <a:rPr kumimoji="1" lang="en-US" altLang="zh-TW" sz="1400" dirty="0" err="1">
                <a:solidFill>
                  <a:schemeClr val="tx1"/>
                </a:solidFill>
                <a:latin typeface="Comic Sans MS" panose="030F0902030302020204" pitchFamily="66" charset="0"/>
              </a:rPr>
              <a:t>ShadowReplica</a:t>
            </a:r>
            <a:r>
              <a:rPr kumimoji="1" lang="en-US" altLang="zh-TW" sz="1400" dirty="0">
                <a:solidFill>
                  <a:schemeClr val="tx1"/>
                </a:solidFill>
                <a:latin typeface="Comic Sans MS" panose="030F0902030302020204" pitchFamily="66" charset="0"/>
              </a:rPr>
              <a:t>: efficient parallelization of dynamic data flow tracking”. In: Proceedings of the 2013 ACM SIGSAC conference on Computer &amp; communications security. ACM. 2013, pp. 235–246.</a:t>
            </a:r>
          </a:p>
          <a:p>
            <a:pPr marL="0" indent="0" algn="just">
              <a:buNone/>
            </a:pPr>
            <a:endParaRPr kumimoji="1" lang="en-US" altLang="zh-TW" sz="1400" dirty="0">
              <a:solidFill>
                <a:schemeClr val="tx1"/>
              </a:solidFill>
              <a:latin typeface="Comic Sans MS" panose="030F0902030302020204" pitchFamily="66" charset="0"/>
            </a:endParaRPr>
          </a:p>
          <a:p>
            <a:pPr marL="0" indent="0" algn="just">
              <a:buNone/>
            </a:pPr>
            <a:r>
              <a:rPr kumimoji="1" lang="en-US" altLang="zh-TW" sz="1400" dirty="0">
                <a:solidFill>
                  <a:schemeClr val="tx1"/>
                </a:solidFill>
                <a:latin typeface="Comic Sans MS" panose="030F0902030302020204" pitchFamily="66" charset="0"/>
              </a:rPr>
              <a:t>[6] </a:t>
            </a:r>
            <a:r>
              <a:rPr kumimoji="1" lang="en-US" altLang="zh-TW" sz="1400" dirty="0" err="1">
                <a:solidFill>
                  <a:schemeClr val="tx1"/>
                </a:solidFill>
                <a:latin typeface="Comic Sans MS" panose="030F0902030302020204" pitchFamily="66" charset="0"/>
              </a:rPr>
              <a:t>Gaoyao</a:t>
            </a:r>
            <a:r>
              <a:rPr kumimoji="1" lang="en-US" altLang="zh-TW" sz="1400" dirty="0">
                <a:solidFill>
                  <a:schemeClr val="tx1"/>
                </a:solidFill>
                <a:latin typeface="Comic Sans MS" panose="030F0902030302020204" pitchFamily="66" charset="0"/>
              </a:rPr>
              <a:t> Xiao et al. “Program-object level data flow analysis with applications to data leakage and contamination forensics”. In: Proceedings of the Sixth ACM Conference on Data and Application Security and Privacy. ACM. 2016, pp. 277–284.</a:t>
            </a:r>
          </a:p>
          <a:p>
            <a:pPr marL="0" indent="0" algn="just">
              <a:buNone/>
            </a:pPr>
            <a:endParaRPr kumimoji="1" lang="en-US" altLang="zh-TW" sz="1400" dirty="0">
              <a:solidFill>
                <a:schemeClr val="tx1"/>
              </a:solidFill>
              <a:latin typeface="Comic Sans MS" panose="030F0902030302020204" pitchFamily="66" charset="0"/>
            </a:endParaRPr>
          </a:p>
          <a:p>
            <a:pPr marL="0" indent="0" algn="just">
              <a:buNone/>
            </a:pPr>
            <a:r>
              <a:rPr kumimoji="1" lang="en-US" altLang="zh-TW" sz="1400" dirty="0">
                <a:solidFill>
                  <a:schemeClr val="tx1"/>
                </a:solidFill>
                <a:latin typeface="Comic Sans MS" panose="030F0902030302020204" pitchFamily="66" charset="0"/>
              </a:rPr>
              <a:t>[7] Jiang Ming et al. “</a:t>
            </a:r>
            <a:r>
              <a:rPr kumimoji="1" lang="en-US" altLang="zh-TW" sz="1400" dirty="0" err="1">
                <a:solidFill>
                  <a:schemeClr val="tx1"/>
                </a:solidFill>
                <a:latin typeface="Comic Sans MS" panose="030F0902030302020204" pitchFamily="66" charset="0"/>
              </a:rPr>
              <a:t>StraightTaint</a:t>
            </a:r>
            <a:r>
              <a:rPr kumimoji="1" lang="en-US" altLang="zh-TW" sz="1400" dirty="0">
                <a:solidFill>
                  <a:schemeClr val="tx1"/>
                </a:solidFill>
                <a:latin typeface="Comic Sans MS" panose="030F0902030302020204" pitchFamily="66" charset="0"/>
              </a:rPr>
              <a:t>: Decoupled offline symbolic taint analysis”. In: Proceedings of the 31st IEEE/ACM International Conference on Automated Software Engineering. ACM. 2016, pp. 308–319.</a:t>
            </a:r>
          </a:p>
          <a:p>
            <a:pPr marL="0" indent="0" algn="just">
              <a:buNone/>
            </a:pPr>
            <a:endParaRPr kumimoji="1" lang="en-US" altLang="zh-TW" sz="1400" dirty="0">
              <a:solidFill>
                <a:schemeClr val="tx1"/>
              </a:solidFill>
              <a:latin typeface="Comic Sans MS" panose="030F0902030302020204" pitchFamily="66" charset="0"/>
            </a:endParaRPr>
          </a:p>
          <a:p>
            <a:pPr marL="0" indent="0" algn="just">
              <a:buNone/>
            </a:pPr>
            <a:r>
              <a:rPr kumimoji="1" lang="en-US" altLang="zh-TW" sz="1400" dirty="0">
                <a:solidFill>
                  <a:schemeClr val="tx1"/>
                </a:solidFill>
                <a:latin typeface="Comic Sans MS" panose="030F0902030302020204" pitchFamily="66" charset="0"/>
              </a:rPr>
              <a:t>[8] Jiang Ming et al. “</a:t>
            </a:r>
            <a:r>
              <a:rPr kumimoji="1" lang="en-US" altLang="zh-TW" sz="1400" dirty="0" err="1">
                <a:solidFill>
                  <a:schemeClr val="tx1"/>
                </a:solidFill>
                <a:latin typeface="Comic Sans MS" panose="030F0902030302020204" pitchFamily="66" charset="0"/>
              </a:rPr>
              <a:t>TaintPipe</a:t>
            </a:r>
            <a:r>
              <a:rPr kumimoji="1" lang="en-US" altLang="zh-TW" sz="1400" dirty="0">
                <a:solidFill>
                  <a:schemeClr val="tx1"/>
                </a:solidFill>
                <a:latin typeface="Comic Sans MS" panose="030F0902030302020204" pitchFamily="66" charset="0"/>
              </a:rPr>
              <a:t>: Pipelined Symbolic Taint Analysis.” In: USENIX Security Symposium. 2015, pp. 65–80.</a:t>
            </a:r>
          </a:p>
          <a:p>
            <a:pPr marL="0" indent="0" algn="just">
              <a:buNone/>
            </a:pPr>
            <a:endParaRPr kumimoji="1" lang="en-US" altLang="zh-TW" sz="1400" dirty="0">
              <a:solidFill>
                <a:schemeClr val="tx1"/>
              </a:solidFill>
              <a:latin typeface="Comic Sans MS" panose="030F0902030302020204" pitchFamily="66" charset="0"/>
            </a:endParaRPr>
          </a:p>
          <a:p>
            <a:pPr marL="0" indent="0" algn="just">
              <a:buNone/>
            </a:pPr>
            <a:r>
              <a:rPr kumimoji="1" lang="en-US" altLang="zh-TW" sz="1400" dirty="0">
                <a:solidFill>
                  <a:schemeClr val="tx1"/>
                </a:solidFill>
                <a:latin typeface="Comic Sans MS" panose="030F0902030302020204" pitchFamily="66" charset="0"/>
              </a:rPr>
              <a:t>[9] Ryan Whelan, Tim Leek, and David </a:t>
            </a:r>
            <a:r>
              <a:rPr kumimoji="1" lang="en-US" altLang="zh-TW" sz="1400" dirty="0" err="1">
                <a:solidFill>
                  <a:schemeClr val="tx1"/>
                </a:solidFill>
                <a:latin typeface="Comic Sans MS" panose="030F0902030302020204" pitchFamily="66" charset="0"/>
              </a:rPr>
              <a:t>Kaeli</a:t>
            </a:r>
            <a:r>
              <a:rPr kumimoji="1" lang="en-US" altLang="zh-TW" sz="1400" dirty="0">
                <a:solidFill>
                  <a:schemeClr val="tx1"/>
                </a:solidFill>
                <a:latin typeface="Comic Sans MS" panose="030F0902030302020204" pitchFamily="66" charset="0"/>
              </a:rPr>
              <a:t>. “Architecture-independent dynamic information flow tracking”. In: International Conference on Compiler Construction. Springer. 2013, pp. 144–163.</a:t>
            </a:r>
          </a:p>
        </p:txBody>
      </p:sp>
    </p:spTree>
    <p:extLst>
      <p:ext uri="{BB962C8B-B14F-4D97-AF65-F5344CB8AC3E}">
        <p14:creationId xmlns:p14="http://schemas.microsoft.com/office/powerpoint/2010/main" val="1527654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18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10862</TotalTime>
  <Words>4675</Words>
  <Application>Microsoft Office PowerPoint</Application>
  <PresentationFormat>Widescreen</PresentationFormat>
  <Paragraphs>569</Paragraphs>
  <Slides>31</Slides>
  <Notes>30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31</vt:i4>
      </vt:variant>
    </vt:vector>
  </HeadingPairs>
  <TitlesOfParts>
    <vt:vector size="45" baseType="lpstr">
      <vt:lpstr>Arial</vt:lpstr>
      <vt:lpstr>Calibri</vt:lpstr>
      <vt:lpstr>CMMI10</vt:lpstr>
      <vt:lpstr>CMR10</vt:lpstr>
      <vt:lpstr>CMU Serif Roman</vt:lpstr>
      <vt:lpstr>Comic Sans MS</vt:lpstr>
      <vt:lpstr>Consolas</vt:lpstr>
      <vt:lpstr>NimbusMonL-Regu</vt:lpstr>
      <vt:lpstr>NimbusRomNo9L-Medi</vt:lpstr>
      <vt:lpstr>NimbusRomNo9L-Regu</vt:lpstr>
      <vt:lpstr>NimbusRomNo9L-ReguItal</vt:lpstr>
      <vt:lpstr>Palatino Linotype</vt:lpstr>
      <vt:lpstr>Wingdings</vt:lpstr>
      <vt:lpstr>Office Theme</vt:lpstr>
      <vt:lpstr>PowerPoint Presentation</vt:lpstr>
      <vt:lpstr>Problem Definition</vt:lpstr>
      <vt:lpstr>Introduction</vt:lpstr>
      <vt:lpstr>Proposed System</vt:lpstr>
      <vt:lpstr>Proposed System</vt:lpstr>
      <vt:lpstr>PowerPoint Presentation</vt:lpstr>
      <vt:lpstr>PowerPoint Presentation</vt:lpstr>
      <vt:lpstr>PowerPoint Presentation</vt:lpstr>
      <vt:lpstr>PowerPoint Presentation</vt:lpstr>
      <vt:lpstr>PowerPoint Presentation</vt:lpstr>
      <vt:lpstr>PowerPoint Presentation</vt:lpstr>
      <vt:lpstr>C -&gt; LLVM IR -&gt; TSIR</vt:lpstr>
      <vt:lpstr>Extraction – Vector and Aggregate Operations</vt:lpstr>
      <vt:lpstr>PowerPoint Presentation</vt:lpstr>
      <vt:lpstr>Record-Replay based Information Flow Tracking</vt:lpstr>
      <vt:lpstr>Example : Conditional Instruction  (Compiled with -O2 Option) </vt:lpstr>
      <vt:lpstr>Example: De-vectorisation</vt:lpstr>
      <vt:lpstr>Extraction - Translator and TSIR Optimizations</vt:lpstr>
      <vt:lpstr>PowerPoint Presentation</vt:lpstr>
      <vt:lpstr>Record-Replay based Information Flow Tracking (cont.)</vt:lpstr>
      <vt:lpstr>PowerPoint Presentation</vt:lpstr>
      <vt:lpstr>PowerPoint Presentation</vt:lpstr>
      <vt:lpstr>Experiment Result</vt:lpstr>
      <vt:lpstr>Command-line Utilities – Overhead</vt:lpstr>
      <vt:lpstr>Server Programs – Overhead</vt:lpstr>
      <vt:lpstr>LOG LEVEL</vt:lpstr>
      <vt:lpstr>SPEC CPU BENCHMARKS</vt:lpstr>
      <vt:lpstr>Effectiveness of Information Flow Tracking</vt:lpstr>
      <vt:lpstr>Conclusion</vt:lpstr>
      <vt:lpstr>PowerPoint Presentation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Vulnerability Detection</dc:title>
  <dc:subject/>
  <dc:creator>San</dc:creator>
  <cp:keywords/>
  <dc:description/>
  <cp:lastModifiedBy>Sheema</cp:lastModifiedBy>
  <cp:revision>488</cp:revision>
  <cp:lastPrinted>2020-02-21T00:21:58Z</cp:lastPrinted>
  <dcterms:created xsi:type="dcterms:W3CDTF">2019-09-06T02:54:29Z</dcterms:created>
  <dcterms:modified xsi:type="dcterms:W3CDTF">2021-01-20T07:23:35Z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2019-09-06T10:00:00Z</vt:filetime>
  </property>
</Properties>
</file>